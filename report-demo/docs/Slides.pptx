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xin trình bày hệ thống AirSENSE Report Demo. Đây là bản demo hoàn chỉnh cho bài toán giám sát Electric-Nose theo thời gian thực. Mục tiêu của nhóm là chứng minh được chuỗi IoT end-to-end: từ thiết bị phát dữ liệu, backend xử lý và lưu trữ, đến giao diện web phục vụ theo dõi và điều khiển.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không chỉ là tạo một giao diện đẹp, mà là cần giám sát dữ liệu cảm biến liên tục và có thể điều khiển thiết bị. Trong phạm vi đề tài, nhóm tập trung vào các chức năng cốt lõi có thể demo trực tiếp: xem KPI, biểu đồ, lịch sử, xuất CSV và cấu hình kênh cảm biến. Cách làm này giúp hệ thống đủ gọn để trình bày, nhưng vẫn thể hiện được kiến trúc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tổng thể gồm năm khối chính: thiết bị ESP hoặc thiết bị Electric-Nose, MQTT broker, backend Node.js, cơ sở dữ liệu và frontend web. Backend đóng vai trò trung tâm: vừa subscribe MQTT để nhận dữ liệu, vừa cung cấp REST API cho frontend. MongoDB dùng cho telemetry, còn SQL dùng cho thông tin quản trị và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bắt đầu từ thiết bị publish lên các topic MQTT. MQTT Bridge trong backend subscribe, parse JSON và chuẩn hóa payload. Sau đó dữ liệu được ghi vào MongoDB hoặc SQL tùy loại dữ liệu. Frontend gọi các API /api/enose để lấy latest, status, history và cập nhật KPI, chart, bảng lịch sử.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không dùng một database duy nhất vì dữ liệu trong hệ thống có hai bản chất khác nhau. MongoDB phù hợp cho dữ liệu telemetry theo thời gian, có cấu trúc linh hoạt và ghi liên tục. SQL phù hợp cho dữ liệu quản trị như danh sách thiết bị, lịch sử điều khiển và cấu hình kênh vì cần ràng buộc, cập nhật và truy vấn rõ ràng. Đánh đổi là vận hành phức tạp hơn, nhưng kiến trúc hợp lý và dễ mở rộng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ZIP, dự án được chia khá rõ. Thư mục public chứa giao diện web. Thư mục src chứa backend, trong đó server.js là entrypoint, routes/enose.js là API nghiệp vụ, services/mqttBridge.js là phần nhận MQTT. Thư mục scripts dùng để khởi tạo schema, kiểm tra dữ liệu và xuất báo cáo. Cấu trúc này giúp dễ phân công và dễ bảo trì.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sử dụng Express để phục vụ web tĩnh và mount API /api/enose. File config.js đọc cấu hình từ .env như cổng HTTP, SQL, MongoDB và MQTT. File db.js tạo kết nối Knex cho SQL và Mongoose cho MongoDB. Điểm đáng chú ý là server vẫn khởi động web được, còn dữ liệu sẽ phụ thuộc vào kết nối DB và MQTT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MQTT Bridge là phần quan trọng nhất về kỹ thuật vì dữ liệu thiết bị thực tế có thể không đồng nhất. Bridge subscribe các topic status, sensor, Sensor và measurement/data. Payload được làm phẳng từ nhiều dạng như data, content, adc array, ADC0 đến ADC7 hoặc nhãn EtOH/VOC. Sau khi chuẩn hóa, bridge lưu dữ liệu vào MongoDB và cập nhật thiết bị trong SQL. Nhờ vậy API và dashboard không bị phụ thuộc quá chặt vào một định dạng firmware duy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API được tổ chức theo ba nhóm chính. Nhóm data API phục vụ đọc thiết bị, latest, status, history và measurement. Nhóm control API phục vụ start, stop, heating và air pump, đồng thời publish command ngược lại qua MQTT. Nhóm CRUD API quản lý các sensor channel trong SQL. Cách chia này giúp frontend gọi rõ ràng và backend kiểm soát logic tốt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được viết bằng HTML, CSS và JavaScript thuần, có dùng Bootstrap, Bootstrap Icons và Chart.js. Giao diện gồm các view Dashboard, Quản lý thiết bị, Biểu đồ, Lịch sử và Cài đặt. Dashboard hiển thị KPI, trạng thái thiết bị, file đo mới nhất, công tắc điều khiển và các kênh cảm biến. Ngoài hiển thị dữ liệu, nhóm cũng có xử lý banner lỗi và trạng thái rỗng để demo không bị khó hiểu khi chưa có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chính được chia theo đúng vai trò của hai loại database. SQL có bảng enose_devices để quản lý thiết bị, enose_control_history để ghi lịch sử lệnh và enose_sensor_channels để cấu hình kênh ADC. MongoDB có các collection sensor, device_status và measurement_data. Script init-pg-schema.js tạo bảng và seed thiết bị AirSENSE cùng tám kênh mặc định EtOH1 đến EtOH6, VOC1 và VOC2.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demo, nhóm nên đi theo hành trình vận hành thực tế. Đầu tiên mở dashboard và chọn thiết bị AirSENSE. Sau đó quan sát KPI, trạng thái Wi-Fi và kênh cảm biến. Tiếp theo bấm Start measurement, quan sát file đo và chart/history cập nhật, rồi bấm Stop measurement. Cuối cùng demo CRUD kênh cảm biến và tải CSV để chứng minh hệ thống có dữ liệu lịch sử.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vận hành, cần chuẩn bị Node.js, SQL, MongoDB và MQTT broker. Các bước chính là copy .env.example thành .env, chỉnh cấu hình, chạy npm install, init schema SQL và npm start. Khi kiểm tra nhanh, mở trang web ở cổng 3010 và kiểm tra /config.json. Nếu KPI trống thì cần kiểm tra MongoDB có dữ liệu sensor chưa hoặc thiết bị đã publish MQTT đúng topic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quan trọng nhất là hệ thống đã nối được pipeline IoT từ thiết bị đến web dashboard. Backend nhận MQTT, lưu dữ liệu vào MongoDB, quản lý metadata bằng SQL và cung cấp REST API. Frontend hiển thị realtime theo polling, có biểu đồ, lịch sử, CSV và điều khiển thiết bị. Ngoài ra dự án có thêm scripts init, check và export giúp việc vận hành, kiểm thử và nộp báo cáo thuận tiện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tự đánh giá hệ thống vẫn còn một số điểm cần nâng cấp nếu triển khai thực tế lâu dài. Thứ nhất là cần bổ sung xác thực người dùng và phân quyền. Thứ hai là lệnh điều khiển nên có ACK, retry và trạng thái xác nhận từ thiết bị. Thứ ba là có thể chuyển từ polling sang WebSocket hoặc server-sent events để realtime hơn. Tóm lại, nhóm đã hoàn thành mục tiêu đề tài và sẵn sàng tiếp nhận câu hỏi phản biện.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hust_media/ppt/media/image2.png">    </p:cNvPr>
          <p:cNvPicPr>
            <a:picLocks noChangeAspect="1"/>
          </p:cNvPicPr>
          <p:nvPr/>
        </p:nvPicPr>
        <p:blipFill>
          <a:blip r:embed="rId1"/>
          <a:stretch>
            <a:fillRect/>
          </a:stretch>
        </p:blipFill>
        <p:spPr>
          <a:xfrm>
            <a:off x="0" y="0"/>
            <a:ext cx="9144000" cy="6858000"/>
          </a:xfrm>
          <a:prstGeom prst="rect">
            <a:avLst/>
          </a:prstGeom>
        </p:spPr>
      </p:pic>
      <p:sp>
        <p:nvSpPr>
          <p:cNvPr id="3" name="Shape 0"/>
          <p:cNvSpPr/>
          <p:nvPr/>
        </p:nvSpPr>
        <p:spPr>
          <a:xfrm>
            <a:off x="658368" y="3886200"/>
            <a:ext cx="7818120" cy="1965960"/>
          </a:xfrm>
          <a:prstGeom prst="roundRect">
            <a:avLst>
              <a:gd name="adj" fmla="val 4651"/>
            </a:avLst>
          </a:prstGeom>
          <a:solidFill>
            <a:srgbClr val="000000">
              <a:alpha val="53000"/>
            </a:srgbClr>
          </a:solidFill>
          <a:ln w="12700">
            <a:solidFill>
              <a:srgbClr val="FFFFFF">
                <a:alpha val="0"/>
              </a:srgbClr>
            </a:solidFill>
            <a:prstDash val="solid"/>
          </a:ln>
        </p:spPr>
      </p:sp>
      <p:sp>
        <p:nvSpPr>
          <p:cNvPr id="4" name="Text 1"/>
          <p:cNvSpPr/>
          <p:nvPr/>
        </p:nvSpPr>
        <p:spPr>
          <a:xfrm>
            <a:off x="868680" y="4133088"/>
            <a:ext cx="7406640"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AirSENSE Report Demo</a:t>
            </a:r>
            <a:endParaRPr lang="en-US" sz="2600" dirty="0"/>
          </a:p>
        </p:txBody>
      </p:sp>
      <p:sp>
        <p:nvSpPr>
          <p:cNvPr id="5" name="Text 2"/>
          <p:cNvSpPr/>
          <p:nvPr/>
        </p:nvSpPr>
        <p:spPr>
          <a:xfrm>
            <a:off x="886968" y="4617720"/>
            <a:ext cx="7315200" cy="292608"/>
          </a:xfrm>
          <a:prstGeom prst="rect">
            <a:avLst/>
          </a:prstGeom>
          <a:noFill/>
          <a:ln/>
        </p:spPr>
        <p:txBody>
          <a:bodyPr wrap="square" lIns="0" tIns="0" rIns="0" bIns="0" rtlCol="0" anchor="ctr"/>
          <a:lstStyle/>
          <a:p>
            <a:pPr indent="0" marL="0">
              <a:buNone/>
            </a:pPr>
            <a:r>
              <a:rPr lang="en-US" sz="1350" dirty="0">
                <a:solidFill>
                  <a:srgbClr val="FDE68A"/>
                </a:solidFill>
                <a:latin typeface="Arial" pitchFamily="34" charset="0"/>
                <a:ea typeface="Arial" pitchFamily="34" charset="-122"/>
                <a:cs typeface="Arial" pitchFamily="34" charset="-120"/>
              </a:rPr>
              <a:t>Hệ thống giám sát Electric-Nose realtime</a:t>
            </a:r>
            <a:endParaRPr lang="en-US" sz="1350" dirty="0"/>
          </a:p>
        </p:txBody>
      </p:sp>
      <p:sp>
        <p:nvSpPr>
          <p:cNvPr id="6" name="Shape 3"/>
          <p:cNvSpPr/>
          <p:nvPr/>
        </p:nvSpPr>
        <p:spPr>
          <a:xfrm>
            <a:off x="868680" y="5047488"/>
            <a:ext cx="2011680" cy="301752"/>
          </a:xfrm>
          <a:prstGeom prst="roundRect">
            <a:avLst>
              <a:gd name="adj" fmla="val 24242"/>
            </a:avLst>
          </a:prstGeom>
          <a:solidFill>
            <a:srgbClr val="FFFFFF">
              <a:alpha val="90000"/>
            </a:srgbClr>
          </a:solidFill>
          <a:ln w="12700">
            <a:solidFill>
              <a:srgbClr val="FFFFFF">
                <a:alpha val="40000"/>
              </a:srgbClr>
            </a:solidFill>
            <a:prstDash val="solid"/>
          </a:ln>
        </p:spPr>
      </p:sp>
      <p:sp>
        <p:nvSpPr>
          <p:cNvPr id="7" name="Text 4"/>
          <p:cNvSpPr/>
          <p:nvPr/>
        </p:nvSpPr>
        <p:spPr>
          <a:xfrm>
            <a:off x="987552" y="5120640"/>
            <a:ext cx="1783080" cy="128016"/>
          </a:xfrm>
          <a:prstGeom prst="rect">
            <a:avLst/>
          </a:prstGeom>
          <a:noFill/>
          <a:ln/>
        </p:spPr>
        <p:txBody>
          <a:bodyPr wrap="square" lIns="0" tIns="0" rIns="0" bIns="0" rtlCol="0" anchor="ctr"/>
          <a:lstStyle/>
          <a:p>
            <a:pPr algn="ctr" indent="0" marL="0">
              <a:buNone/>
            </a:pPr>
            <a:r>
              <a:rPr lang="en-US" sz="850" b="1" dirty="0">
                <a:solidFill>
                  <a:srgbClr val="C8102E"/>
                </a:solidFill>
                <a:latin typeface="Arial" pitchFamily="34" charset="0"/>
                <a:ea typeface="Arial" pitchFamily="34" charset="-122"/>
                <a:cs typeface="Arial" pitchFamily="34" charset="-120"/>
              </a:rPr>
              <a:t>IoT end-to-end pipeline</a:t>
            </a:r>
            <a:endParaRPr lang="en-US" sz="850" dirty="0"/>
          </a:p>
        </p:txBody>
      </p:sp>
      <p:sp>
        <p:nvSpPr>
          <p:cNvPr id="8" name="Text 5"/>
          <p:cNvSpPr/>
          <p:nvPr/>
        </p:nvSpPr>
        <p:spPr>
          <a:xfrm>
            <a:off x="896112" y="5504688"/>
            <a:ext cx="7223760" cy="228600"/>
          </a:xfrm>
          <a:prstGeom prst="rect">
            <a:avLst/>
          </a:prstGeom>
          <a:noFill/>
          <a:ln/>
        </p:spPr>
        <p:txBody>
          <a:bodyPr wrap="square" lIns="0" tIns="0" rIns="0" bIns="0" rtlCol="0" anchor="ctr"/>
          <a:lstStyle/>
          <a:p>
            <a:pPr indent="0" marL="0">
              <a:buNone/>
            </a:pPr>
            <a:r>
              <a:rPr lang="en-US" sz="1020" dirty="0">
                <a:solidFill>
                  <a:srgbClr val="FFFFFF"/>
                </a:solidFill>
                <a:latin typeface="Arial" pitchFamily="34" charset="0"/>
                <a:ea typeface="Arial" pitchFamily="34" charset="-122"/>
                <a:cs typeface="Arial" pitchFamily="34" charset="-120"/>
              </a:rPr>
              <a:t>• Thiết bị gửi dữ liệu cảm biến qua MQTT</a:t>
            </a:r>
            <a:endParaRPr lang="en-US" sz="1020" dirty="0"/>
          </a:p>
        </p:txBody>
      </p:sp>
      <p:sp>
        <p:nvSpPr>
          <p:cNvPr id="9" name="Text 6"/>
          <p:cNvSpPr/>
          <p:nvPr/>
        </p:nvSpPr>
        <p:spPr>
          <a:xfrm>
            <a:off x="896112" y="5733288"/>
            <a:ext cx="7223760" cy="228600"/>
          </a:xfrm>
          <a:prstGeom prst="rect">
            <a:avLst/>
          </a:prstGeom>
          <a:noFill/>
          <a:ln/>
        </p:spPr>
        <p:txBody>
          <a:bodyPr wrap="square" lIns="0" tIns="0" rIns="0" bIns="0" rtlCol="0" anchor="ctr"/>
          <a:lstStyle/>
          <a:p>
            <a:pPr indent="0" marL="0">
              <a:buNone/>
            </a:pPr>
            <a:r>
              <a:rPr lang="en-US" sz="1020" dirty="0">
                <a:solidFill>
                  <a:srgbClr val="FFFFFF"/>
                </a:solidFill>
                <a:latin typeface="Arial" pitchFamily="34" charset="0"/>
                <a:ea typeface="Arial" pitchFamily="34" charset="-122"/>
                <a:cs typeface="Arial" pitchFamily="34" charset="-120"/>
              </a:rPr>
              <a:t>• Backend tiếp nhận, chuẩn hóa, lưu trữ</a:t>
            </a:r>
            <a:endParaRPr lang="en-US" sz="1020" dirty="0"/>
          </a:p>
        </p:txBody>
      </p:sp>
      <p:sp>
        <p:nvSpPr>
          <p:cNvPr id="10" name="Text 7"/>
          <p:cNvSpPr/>
          <p:nvPr/>
        </p:nvSpPr>
        <p:spPr>
          <a:xfrm>
            <a:off x="896112" y="5961888"/>
            <a:ext cx="7223760" cy="228600"/>
          </a:xfrm>
          <a:prstGeom prst="rect">
            <a:avLst/>
          </a:prstGeom>
          <a:noFill/>
          <a:ln/>
        </p:spPr>
        <p:txBody>
          <a:bodyPr wrap="square" lIns="0" tIns="0" rIns="0" bIns="0" rtlCol="0" anchor="ctr"/>
          <a:lstStyle/>
          <a:p>
            <a:pPr indent="0" marL="0">
              <a:buNone/>
            </a:pPr>
            <a:r>
              <a:rPr lang="en-US" sz="1020" dirty="0">
                <a:solidFill>
                  <a:srgbClr val="FFFFFF"/>
                </a:solidFill>
                <a:latin typeface="Arial" pitchFamily="34" charset="0"/>
                <a:ea typeface="Arial" pitchFamily="34" charset="-122"/>
                <a:cs typeface="Arial" pitchFamily="34" charset="-120"/>
              </a:rPr>
              <a:t>• Dashboard web hiển thị và điều khiển thời gian thực</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hust_media/ppt/media/image8.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Bài toán &amp; phạm vi triển khai</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Tập trung vào luồng dữ liệu thật, chức năng demo được và dễ mở rộng.</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02</a:t>
            </a:r>
            <a:endParaRPr lang="en-US" sz="850" dirty="0"/>
          </a:p>
        </p:txBody>
      </p:sp>
      <p:sp>
        <p:nvSpPr>
          <p:cNvPr id="7" name="Shape 3"/>
          <p:cNvSpPr/>
          <p:nvPr/>
        </p:nvSpPr>
        <p:spPr>
          <a:xfrm>
            <a:off x="640080" y="1353312"/>
            <a:ext cx="1207008" cy="292608"/>
          </a:xfrm>
          <a:prstGeom prst="roundRect">
            <a:avLst>
              <a:gd name="adj" fmla="val 25000"/>
            </a:avLst>
          </a:prstGeom>
          <a:solidFill>
            <a:srgbClr val="C8102E"/>
          </a:solidFill>
          <a:ln w="12700">
            <a:solidFill>
              <a:srgbClr val="C8102E"/>
            </a:solidFill>
            <a:prstDash val="solid"/>
          </a:ln>
        </p:spPr>
      </p:sp>
      <p:sp>
        <p:nvSpPr>
          <p:cNvPr id="8" name="Text 4"/>
          <p:cNvSpPr/>
          <p:nvPr/>
        </p:nvSpPr>
        <p:spPr>
          <a:xfrm>
            <a:off x="731520" y="1412748"/>
            <a:ext cx="1024128" cy="146304"/>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PHẠM VI</a:t>
            </a:r>
            <a:endParaRPr lang="en-US" sz="850" dirty="0"/>
          </a:p>
        </p:txBody>
      </p:sp>
      <p:sp>
        <p:nvSpPr>
          <p:cNvPr id="9" name="Shape 5"/>
          <p:cNvSpPr/>
          <p:nvPr/>
        </p:nvSpPr>
        <p:spPr>
          <a:xfrm>
            <a:off x="804672" y="1933956"/>
            <a:ext cx="91440" cy="91440"/>
          </a:xfrm>
          <a:prstGeom prst="ellipse">
            <a:avLst/>
          </a:prstGeom>
          <a:solidFill>
            <a:srgbClr val="C8102E"/>
          </a:solidFill>
          <a:ln w="12700">
            <a:solidFill>
              <a:srgbClr val="C8102E"/>
            </a:solidFill>
            <a:prstDash val="solid"/>
          </a:ln>
        </p:spPr>
      </p:sp>
      <p:sp>
        <p:nvSpPr>
          <p:cNvPr id="10" name="Text 6"/>
          <p:cNvSpPr/>
          <p:nvPr/>
        </p:nvSpPr>
        <p:spPr>
          <a:xfrm>
            <a:off x="1005840" y="1874520"/>
            <a:ext cx="7479792" cy="347472"/>
          </a:xfrm>
          <a:prstGeom prst="rect">
            <a:avLst/>
          </a:prstGeom>
          <a:noFill/>
          <a:ln/>
        </p:spPr>
        <p:txBody>
          <a:bodyPr wrap="square" lIns="127" tIns="127" rIns="127" bIns="127" rtlCol="0" anchor="ctr">
            <a:normAutofit/>
          </a:bodyPr>
          <a:lstStyle/>
          <a:p>
            <a:pPr indent="0" marL="0">
              <a:buNone/>
            </a:pPr>
            <a:r>
              <a:rPr lang="en-US" sz="1420" dirty="0">
                <a:solidFill>
                  <a:srgbClr val="1F2937"/>
                </a:solidFill>
                <a:latin typeface="Arial" pitchFamily="34" charset="0"/>
                <a:ea typeface="Arial" pitchFamily="34" charset="-122"/>
                <a:cs typeface="Arial" pitchFamily="34" charset="-120"/>
              </a:rPr>
              <a:t>Cần giám sát liên tục các chỉ số cảm biến của thiết bị Electric-Nose.</a:t>
            </a:r>
            <a:endParaRPr lang="en-US" sz="1420" dirty="0"/>
          </a:p>
        </p:txBody>
      </p:sp>
      <p:sp>
        <p:nvSpPr>
          <p:cNvPr id="11" name="Shape 7"/>
          <p:cNvSpPr/>
          <p:nvPr/>
        </p:nvSpPr>
        <p:spPr>
          <a:xfrm>
            <a:off x="804672" y="2436876"/>
            <a:ext cx="91440" cy="91440"/>
          </a:xfrm>
          <a:prstGeom prst="ellipse">
            <a:avLst/>
          </a:prstGeom>
          <a:solidFill>
            <a:srgbClr val="C8102E"/>
          </a:solidFill>
          <a:ln w="12700">
            <a:solidFill>
              <a:srgbClr val="C8102E"/>
            </a:solidFill>
            <a:prstDash val="solid"/>
          </a:ln>
        </p:spPr>
      </p:sp>
      <p:sp>
        <p:nvSpPr>
          <p:cNvPr id="12" name="Text 8"/>
          <p:cNvSpPr/>
          <p:nvPr/>
        </p:nvSpPr>
        <p:spPr>
          <a:xfrm>
            <a:off x="1005840" y="2377440"/>
            <a:ext cx="7479792" cy="347472"/>
          </a:xfrm>
          <a:prstGeom prst="rect">
            <a:avLst/>
          </a:prstGeom>
          <a:noFill/>
          <a:ln/>
        </p:spPr>
        <p:txBody>
          <a:bodyPr wrap="square" lIns="127" tIns="127" rIns="127" bIns="127" rtlCol="0" anchor="ctr">
            <a:normAutofit/>
          </a:bodyPr>
          <a:lstStyle/>
          <a:p>
            <a:pPr indent="0" marL="0">
              <a:buNone/>
            </a:pPr>
            <a:r>
              <a:rPr lang="en-US" sz="1420" dirty="0">
                <a:solidFill>
                  <a:srgbClr val="1F2937"/>
                </a:solidFill>
                <a:latin typeface="Arial" pitchFamily="34" charset="0"/>
                <a:ea typeface="Arial" pitchFamily="34" charset="-122"/>
                <a:cs typeface="Arial" pitchFamily="34" charset="-120"/>
              </a:rPr>
              <a:t>Cần có lịch sử đo để tra cứu, dựng biểu đồ và xuất CSV.</a:t>
            </a:r>
            <a:endParaRPr lang="en-US" sz="1420" dirty="0"/>
          </a:p>
        </p:txBody>
      </p:sp>
      <p:sp>
        <p:nvSpPr>
          <p:cNvPr id="13" name="Shape 9"/>
          <p:cNvSpPr/>
          <p:nvPr/>
        </p:nvSpPr>
        <p:spPr>
          <a:xfrm>
            <a:off x="804672" y="2939796"/>
            <a:ext cx="91440" cy="91440"/>
          </a:xfrm>
          <a:prstGeom prst="ellipse">
            <a:avLst/>
          </a:prstGeom>
          <a:solidFill>
            <a:srgbClr val="C8102E"/>
          </a:solidFill>
          <a:ln w="12700">
            <a:solidFill>
              <a:srgbClr val="C8102E"/>
            </a:solidFill>
            <a:prstDash val="solid"/>
          </a:ln>
        </p:spPr>
      </p:sp>
      <p:sp>
        <p:nvSpPr>
          <p:cNvPr id="14" name="Text 10"/>
          <p:cNvSpPr/>
          <p:nvPr/>
        </p:nvSpPr>
        <p:spPr>
          <a:xfrm>
            <a:off x="1005840" y="2880360"/>
            <a:ext cx="7479792" cy="347472"/>
          </a:xfrm>
          <a:prstGeom prst="rect">
            <a:avLst/>
          </a:prstGeom>
          <a:noFill/>
          <a:ln/>
        </p:spPr>
        <p:txBody>
          <a:bodyPr wrap="square" lIns="127" tIns="127" rIns="127" bIns="127" rtlCol="0" anchor="ctr">
            <a:normAutofit/>
          </a:bodyPr>
          <a:lstStyle/>
          <a:p>
            <a:pPr indent="0" marL="0">
              <a:buNone/>
            </a:pPr>
            <a:r>
              <a:rPr lang="en-US" sz="1420" dirty="0">
                <a:solidFill>
                  <a:srgbClr val="1F2937"/>
                </a:solidFill>
                <a:latin typeface="Arial" pitchFamily="34" charset="0"/>
                <a:ea typeface="Arial" pitchFamily="34" charset="-122"/>
                <a:cs typeface="Arial" pitchFamily="34" charset="-120"/>
              </a:rPr>
              <a:t>Cần điều khiển thiết bị từ web: start/stop, heating, air pump.</a:t>
            </a:r>
            <a:endParaRPr lang="en-US" sz="1420" dirty="0"/>
          </a:p>
        </p:txBody>
      </p:sp>
      <p:sp>
        <p:nvSpPr>
          <p:cNvPr id="15" name="Shape 11"/>
          <p:cNvSpPr/>
          <p:nvPr/>
        </p:nvSpPr>
        <p:spPr>
          <a:xfrm>
            <a:off x="804672" y="3442716"/>
            <a:ext cx="91440" cy="91440"/>
          </a:xfrm>
          <a:prstGeom prst="ellipse">
            <a:avLst/>
          </a:prstGeom>
          <a:solidFill>
            <a:srgbClr val="C8102E"/>
          </a:solidFill>
          <a:ln w="12700">
            <a:solidFill>
              <a:srgbClr val="C8102E"/>
            </a:solidFill>
            <a:prstDash val="solid"/>
          </a:ln>
        </p:spPr>
      </p:sp>
      <p:sp>
        <p:nvSpPr>
          <p:cNvPr id="16" name="Text 12"/>
          <p:cNvSpPr/>
          <p:nvPr/>
        </p:nvSpPr>
        <p:spPr>
          <a:xfrm>
            <a:off x="1005840" y="3383280"/>
            <a:ext cx="7479792" cy="347472"/>
          </a:xfrm>
          <a:prstGeom prst="rect">
            <a:avLst/>
          </a:prstGeom>
          <a:noFill/>
          <a:ln/>
        </p:spPr>
        <p:txBody>
          <a:bodyPr wrap="square" lIns="127" tIns="127" rIns="127" bIns="127" rtlCol="0" anchor="ctr">
            <a:normAutofit/>
          </a:bodyPr>
          <a:lstStyle/>
          <a:p>
            <a:pPr indent="0" marL="0">
              <a:buNone/>
            </a:pPr>
            <a:r>
              <a:rPr lang="en-US" sz="1420" dirty="0">
                <a:solidFill>
                  <a:srgbClr val="1F2937"/>
                </a:solidFill>
                <a:latin typeface="Arial" pitchFamily="34" charset="0"/>
                <a:ea typeface="Arial" pitchFamily="34" charset="-122"/>
                <a:cs typeface="Arial" pitchFamily="34" charset="-120"/>
              </a:rPr>
              <a:t>Phạm vi demo: Dashboard, biểu đồ, history, CRUD kênh cảm biến.</a:t>
            </a:r>
            <a:endParaRPr lang="en-US" sz="1420" dirty="0"/>
          </a:p>
        </p:txBody>
      </p:sp>
      <p:sp>
        <p:nvSpPr>
          <p:cNvPr id="17" name="Shape 13"/>
          <p:cNvSpPr/>
          <p:nvPr/>
        </p:nvSpPr>
        <p:spPr>
          <a:xfrm>
            <a:off x="731520" y="4828032"/>
            <a:ext cx="7635240" cy="777240"/>
          </a:xfrm>
          <a:prstGeom prst="roundRect">
            <a:avLst>
              <a:gd name="adj" fmla="val 9412"/>
            </a:avLst>
          </a:prstGeom>
          <a:solidFill>
            <a:srgbClr val="FFF7ED"/>
          </a:solidFill>
          <a:ln w="12700">
            <a:solidFill>
              <a:srgbClr val="FED7AA"/>
            </a:solidFill>
            <a:prstDash val="solid"/>
          </a:ln>
        </p:spPr>
      </p:sp>
      <p:sp>
        <p:nvSpPr>
          <p:cNvPr id="18" name="Shape 14"/>
          <p:cNvSpPr/>
          <p:nvPr/>
        </p:nvSpPr>
        <p:spPr>
          <a:xfrm>
            <a:off x="731520" y="4828032"/>
            <a:ext cx="64008" cy="777240"/>
          </a:xfrm>
          <a:prstGeom prst="rect">
            <a:avLst/>
          </a:prstGeom>
          <a:solidFill>
            <a:srgbClr val="EA580C"/>
          </a:solidFill>
          <a:ln w="12700">
            <a:solidFill>
              <a:srgbClr val="EA580C"/>
            </a:solidFill>
            <a:prstDash val="solid"/>
          </a:ln>
        </p:spPr>
      </p:sp>
      <p:sp>
        <p:nvSpPr>
          <p:cNvPr id="19" name="Text 15"/>
          <p:cNvSpPr/>
          <p:nvPr/>
        </p:nvSpPr>
        <p:spPr>
          <a:xfrm>
            <a:off x="896112" y="4937760"/>
            <a:ext cx="7315200" cy="228600"/>
          </a:xfrm>
          <a:prstGeom prst="rect">
            <a:avLst/>
          </a:prstGeom>
          <a:noFill/>
          <a:ln/>
        </p:spPr>
        <p:txBody>
          <a:bodyPr wrap="square" lIns="0" tIns="0" rIns="0" bIns="0" rtlCol="0" anchor="ctr">
            <a:normAutofit/>
          </a:bodyPr>
          <a:lstStyle/>
          <a:p>
            <a:pPr indent="0" marL="0">
              <a:buNone/>
            </a:pPr>
            <a:r>
              <a:rPr lang="en-US" sz="1150" b="1" dirty="0">
                <a:solidFill>
                  <a:srgbClr val="EA580C"/>
                </a:solidFill>
                <a:latin typeface="Arial" pitchFamily="34" charset="0"/>
                <a:ea typeface="Arial" pitchFamily="34" charset="-122"/>
                <a:cs typeface="Arial" pitchFamily="34" charset="-120"/>
              </a:rPr>
              <a:t>Thông điệp khi trình bày</a:t>
            </a:r>
            <a:endParaRPr lang="en-US" sz="1150" dirty="0"/>
          </a:p>
        </p:txBody>
      </p:sp>
      <p:sp>
        <p:nvSpPr>
          <p:cNvPr id="20" name="Text 16"/>
          <p:cNvSpPr/>
          <p:nvPr/>
        </p:nvSpPr>
        <p:spPr>
          <a:xfrm>
            <a:off x="896112" y="5239512"/>
            <a:ext cx="7315200" cy="274320"/>
          </a:xfrm>
          <a:prstGeom prst="rect">
            <a:avLst/>
          </a:prstGeom>
          <a:noFill/>
          <a:ln/>
        </p:spPr>
        <p:txBody>
          <a:bodyPr wrap="square" lIns="254" tIns="254" rIns="254" bIns="254" rtlCol="0" anchor="t">
            <a:normAutofit/>
          </a:bodyPr>
          <a:lstStyle/>
          <a:p>
            <a:pPr indent="0" marL="0">
              <a:buNone/>
            </a:pPr>
            <a:r>
              <a:rPr lang="en-US" sz="1030" dirty="0">
                <a:solidFill>
                  <a:srgbClr val="1F2937"/>
                </a:solidFill>
                <a:latin typeface="Arial" pitchFamily="34" charset="0"/>
                <a:ea typeface="Arial" pitchFamily="34" charset="-122"/>
                <a:cs typeface="Arial" pitchFamily="34" charset="-120"/>
              </a:rPr>
              <a:t>Trọng tâm: không chỉ hiển thị UI, mà phải nối được thiết bị → dữ liệu → API → dashboard.</a:t>
            </a:r>
            <a:endParaRPr lang="en-US" sz="1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hust_media/ppt/media/image11.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Kiến trúc tổng thể hệ thống</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Thiết bị, broker, backend, hai hệ CSDL và frontend được tách vai trò rõ ràng.</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03</a:t>
            </a:r>
            <a:endParaRPr lang="en-US" sz="850" dirty="0"/>
          </a:p>
        </p:txBody>
      </p:sp>
      <p:sp>
        <p:nvSpPr>
          <p:cNvPr id="7" name="Shape 3"/>
          <p:cNvSpPr/>
          <p:nvPr/>
        </p:nvSpPr>
        <p:spPr>
          <a:xfrm>
            <a:off x="438912" y="1965960"/>
            <a:ext cx="1298448" cy="914400"/>
          </a:xfrm>
          <a:prstGeom prst="roundRect">
            <a:avLst>
              <a:gd name="adj" fmla="val 8000"/>
            </a:avLst>
          </a:prstGeom>
          <a:solidFill>
            <a:srgbClr val="FFFFFF"/>
          </a:solidFill>
          <a:ln w="12700">
            <a:solidFill>
              <a:srgbClr val="E5E7EB"/>
            </a:solidFill>
            <a:prstDash val="solid"/>
          </a:ln>
        </p:spPr>
      </p:sp>
      <p:sp>
        <p:nvSpPr>
          <p:cNvPr id="8" name="Shape 4"/>
          <p:cNvSpPr/>
          <p:nvPr/>
        </p:nvSpPr>
        <p:spPr>
          <a:xfrm>
            <a:off x="438912" y="1965960"/>
            <a:ext cx="64008" cy="914400"/>
          </a:xfrm>
          <a:prstGeom prst="rect">
            <a:avLst/>
          </a:prstGeom>
          <a:solidFill>
            <a:srgbClr val="1D4ED8"/>
          </a:solidFill>
          <a:ln w="12700">
            <a:solidFill>
              <a:srgbClr val="1D4ED8"/>
            </a:solidFill>
            <a:prstDash val="solid"/>
          </a:ln>
        </p:spPr>
      </p:sp>
      <p:sp>
        <p:nvSpPr>
          <p:cNvPr id="9" name="Text 5"/>
          <p:cNvSpPr/>
          <p:nvPr/>
        </p:nvSpPr>
        <p:spPr>
          <a:xfrm>
            <a:off x="603504" y="2075688"/>
            <a:ext cx="978408" cy="228600"/>
          </a:xfrm>
          <a:prstGeom prst="rect">
            <a:avLst/>
          </a:prstGeom>
          <a:noFill/>
          <a:ln/>
        </p:spPr>
        <p:txBody>
          <a:bodyPr wrap="square" lIns="0" tIns="0" rIns="0" bIns="0" rtlCol="0" anchor="ctr">
            <a:normAutofit/>
          </a:bodyPr>
          <a:lstStyle/>
          <a:p>
            <a:pPr indent="0" marL="0">
              <a:buNone/>
            </a:pPr>
            <a:r>
              <a:rPr lang="en-US" sz="1050" b="1" dirty="0">
                <a:solidFill>
                  <a:srgbClr val="C8102E"/>
                </a:solidFill>
                <a:latin typeface="Arial" pitchFamily="34" charset="0"/>
                <a:ea typeface="Arial" pitchFamily="34" charset="-122"/>
                <a:cs typeface="Arial" pitchFamily="34" charset="-120"/>
              </a:rPr>
              <a:t>ESP / Device</a:t>
            </a:r>
            <a:endParaRPr lang="en-US" sz="1050" dirty="0"/>
          </a:p>
        </p:txBody>
      </p:sp>
      <p:sp>
        <p:nvSpPr>
          <p:cNvPr id="10" name="Text 6"/>
          <p:cNvSpPr/>
          <p:nvPr/>
        </p:nvSpPr>
        <p:spPr>
          <a:xfrm>
            <a:off x="603504" y="2377440"/>
            <a:ext cx="978408" cy="411480"/>
          </a:xfrm>
          <a:prstGeom prst="rect">
            <a:avLst/>
          </a:prstGeom>
          <a:noFill/>
          <a:ln/>
        </p:spPr>
        <p:txBody>
          <a:bodyPr wrap="square" lIns="254" tIns="254" rIns="254" bIns="254" rtlCol="0" anchor="t">
            <a:normAutofit/>
          </a:bodyPr>
          <a:lstStyle/>
          <a:p>
            <a:pPr indent="0" marL="0">
              <a:buNone/>
            </a:pPr>
            <a:r>
              <a:rPr lang="en-US" sz="820" dirty="0">
                <a:solidFill>
                  <a:srgbClr val="1F2937"/>
                </a:solidFill>
                <a:latin typeface="Arial" pitchFamily="34" charset="0"/>
                <a:ea typeface="Arial" pitchFamily="34" charset="-122"/>
                <a:cs typeface="Arial" pitchFamily="34" charset="-120"/>
              </a:rPr>
              <a:t>Publish telemetry</a:t>
            </a:r>
            <a:endParaRPr lang="en-US" sz="820" dirty="0"/>
          </a:p>
          <a:p>
            <a:pPr indent="0" marL="0">
              <a:buNone/>
            </a:pPr>
            <a:r>
              <a:rPr lang="en-US" sz="820" dirty="0">
                <a:solidFill>
                  <a:srgbClr val="1F2937"/>
                </a:solidFill>
                <a:latin typeface="Arial" pitchFamily="34" charset="0"/>
                <a:ea typeface="Arial" pitchFamily="34" charset="-122"/>
                <a:cs typeface="Arial" pitchFamily="34" charset="-120"/>
              </a:rPr>
              <a:t>&amp; nhận command</a:t>
            </a:r>
            <a:endParaRPr lang="en-US" sz="820" dirty="0"/>
          </a:p>
        </p:txBody>
      </p:sp>
      <p:sp>
        <p:nvSpPr>
          <p:cNvPr id="11" name="Shape 7"/>
          <p:cNvSpPr/>
          <p:nvPr/>
        </p:nvSpPr>
        <p:spPr>
          <a:xfrm>
            <a:off x="1773936" y="2404872"/>
            <a:ext cx="164592" cy="0"/>
          </a:xfrm>
          <a:prstGeom prst="line">
            <a:avLst/>
          </a:prstGeom>
          <a:noFill/>
          <a:ln w="27940">
            <a:solidFill>
              <a:srgbClr val="C8102E"/>
            </a:solidFill>
            <a:prstDash val="solid"/>
            <a:headEnd type="none"/>
            <a:tailEnd type="triangle"/>
          </a:ln>
        </p:spPr>
      </p:sp>
      <p:sp>
        <p:nvSpPr>
          <p:cNvPr id="12" name="Shape 8"/>
          <p:cNvSpPr/>
          <p:nvPr/>
        </p:nvSpPr>
        <p:spPr>
          <a:xfrm>
            <a:off x="1993392" y="1965960"/>
            <a:ext cx="1298448" cy="914400"/>
          </a:xfrm>
          <a:prstGeom prst="roundRect">
            <a:avLst>
              <a:gd name="adj" fmla="val 8000"/>
            </a:avLst>
          </a:prstGeom>
          <a:solidFill>
            <a:srgbClr val="FFFFFF"/>
          </a:solidFill>
          <a:ln w="12700">
            <a:solidFill>
              <a:srgbClr val="E5E7EB"/>
            </a:solidFill>
            <a:prstDash val="solid"/>
          </a:ln>
        </p:spPr>
      </p:sp>
      <p:sp>
        <p:nvSpPr>
          <p:cNvPr id="13" name="Shape 9"/>
          <p:cNvSpPr/>
          <p:nvPr/>
        </p:nvSpPr>
        <p:spPr>
          <a:xfrm>
            <a:off x="1993392" y="1965960"/>
            <a:ext cx="64008" cy="914400"/>
          </a:xfrm>
          <a:prstGeom prst="rect">
            <a:avLst/>
          </a:prstGeom>
          <a:solidFill>
            <a:srgbClr val="1D4ED8"/>
          </a:solidFill>
          <a:ln w="12700">
            <a:solidFill>
              <a:srgbClr val="1D4ED8"/>
            </a:solidFill>
            <a:prstDash val="solid"/>
          </a:ln>
        </p:spPr>
      </p:sp>
      <p:sp>
        <p:nvSpPr>
          <p:cNvPr id="14" name="Text 10"/>
          <p:cNvSpPr/>
          <p:nvPr/>
        </p:nvSpPr>
        <p:spPr>
          <a:xfrm>
            <a:off x="2157984" y="2075688"/>
            <a:ext cx="978408" cy="228600"/>
          </a:xfrm>
          <a:prstGeom prst="rect">
            <a:avLst/>
          </a:prstGeom>
          <a:noFill/>
          <a:ln/>
        </p:spPr>
        <p:txBody>
          <a:bodyPr wrap="square" lIns="0" tIns="0" rIns="0" bIns="0" rtlCol="0" anchor="ctr">
            <a:normAutofit/>
          </a:bodyPr>
          <a:lstStyle/>
          <a:p>
            <a:pPr indent="0" marL="0">
              <a:buNone/>
            </a:pPr>
            <a:r>
              <a:rPr lang="en-US" sz="1050" b="1" dirty="0">
                <a:solidFill>
                  <a:srgbClr val="C8102E"/>
                </a:solidFill>
                <a:latin typeface="Arial" pitchFamily="34" charset="0"/>
                <a:ea typeface="Arial" pitchFamily="34" charset="-122"/>
                <a:cs typeface="Arial" pitchFamily="34" charset="-120"/>
              </a:rPr>
              <a:t>MQTT Broker</a:t>
            </a:r>
            <a:endParaRPr lang="en-US" sz="1050" dirty="0"/>
          </a:p>
        </p:txBody>
      </p:sp>
      <p:sp>
        <p:nvSpPr>
          <p:cNvPr id="15" name="Text 11"/>
          <p:cNvSpPr/>
          <p:nvPr/>
        </p:nvSpPr>
        <p:spPr>
          <a:xfrm>
            <a:off x="2157984" y="2377440"/>
            <a:ext cx="978408" cy="411480"/>
          </a:xfrm>
          <a:prstGeom prst="rect">
            <a:avLst/>
          </a:prstGeom>
          <a:noFill/>
          <a:ln/>
        </p:spPr>
        <p:txBody>
          <a:bodyPr wrap="square" lIns="254" tIns="254" rIns="254" bIns="254" rtlCol="0" anchor="t">
            <a:normAutofit/>
          </a:bodyPr>
          <a:lstStyle/>
          <a:p>
            <a:pPr indent="0" marL="0">
              <a:buNone/>
            </a:pPr>
            <a:r>
              <a:rPr lang="en-US" sz="820" dirty="0">
                <a:solidFill>
                  <a:srgbClr val="1F2937"/>
                </a:solidFill>
                <a:latin typeface="Arial" pitchFamily="34" charset="0"/>
                <a:ea typeface="Arial" pitchFamily="34" charset="-122"/>
                <a:cs typeface="Arial" pitchFamily="34" charset="-120"/>
              </a:rPr>
              <a:t>Topic electric-nose</a:t>
            </a:r>
            <a:endParaRPr lang="en-US" sz="820" dirty="0"/>
          </a:p>
          <a:p>
            <a:pPr indent="0" marL="0">
              <a:buNone/>
            </a:pPr>
            <a:r>
              <a:rPr lang="en-US" sz="820" dirty="0">
                <a:solidFill>
                  <a:srgbClr val="1F2937"/>
                </a:solidFill>
                <a:latin typeface="Arial" pitchFamily="34" charset="0"/>
                <a:ea typeface="Arial" pitchFamily="34" charset="-122"/>
                <a:cs typeface="Arial" pitchFamily="34" charset="-120"/>
              </a:rPr>
              <a:t>/device/...</a:t>
            </a:r>
            <a:endParaRPr lang="en-US" sz="820" dirty="0"/>
          </a:p>
        </p:txBody>
      </p:sp>
      <p:sp>
        <p:nvSpPr>
          <p:cNvPr id="16" name="Shape 12"/>
          <p:cNvSpPr/>
          <p:nvPr/>
        </p:nvSpPr>
        <p:spPr>
          <a:xfrm>
            <a:off x="3328416" y="2404872"/>
            <a:ext cx="164592" cy="0"/>
          </a:xfrm>
          <a:prstGeom prst="line">
            <a:avLst/>
          </a:prstGeom>
          <a:noFill/>
          <a:ln w="27940">
            <a:solidFill>
              <a:srgbClr val="C8102E"/>
            </a:solidFill>
            <a:prstDash val="solid"/>
            <a:headEnd type="none"/>
            <a:tailEnd type="triangle"/>
          </a:ln>
        </p:spPr>
      </p:sp>
      <p:sp>
        <p:nvSpPr>
          <p:cNvPr id="17" name="Shape 13"/>
          <p:cNvSpPr/>
          <p:nvPr/>
        </p:nvSpPr>
        <p:spPr>
          <a:xfrm>
            <a:off x="3547872" y="1965960"/>
            <a:ext cx="1298448" cy="914400"/>
          </a:xfrm>
          <a:prstGeom prst="roundRect">
            <a:avLst>
              <a:gd name="adj" fmla="val 8000"/>
            </a:avLst>
          </a:prstGeom>
          <a:solidFill>
            <a:srgbClr val="FFF1F2"/>
          </a:solidFill>
          <a:ln w="12700">
            <a:solidFill>
              <a:srgbClr val="E5E7EB"/>
            </a:solidFill>
            <a:prstDash val="solid"/>
          </a:ln>
        </p:spPr>
      </p:sp>
      <p:sp>
        <p:nvSpPr>
          <p:cNvPr id="18" name="Shape 14"/>
          <p:cNvSpPr/>
          <p:nvPr/>
        </p:nvSpPr>
        <p:spPr>
          <a:xfrm>
            <a:off x="3547872" y="1965960"/>
            <a:ext cx="64008" cy="914400"/>
          </a:xfrm>
          <a:prstGeom prst="rect">
            <a:avLst/>
          </a:prstGeom>
          <a:solidFill>
            <a:srgbClr val="C8102E"/>
          </a:solidFill>
          <a:ln w="12700">
            <a:solidFill>
              <a:srgbClr val="C8102E"/>
            </a:solidFill>
            <a:prstDash val="solid"/>
          </a:ln>
        </p:spPr>
      </p:sp>
      <p:sp>
        <p:nvSpPr>
          <p:cNvPr id="19" name="Text 15"/>
          <p:cNvSpPr/>
          <p:nvPr/>
        </p:nvSpPr>
        <p:spPr>
          <a:xfrm>
            <a:off x="3712464" y="2075688"/>
            <a:ext cx="978408" cy="228600"/>
          </a:xfrm>
          <a:prstGeom prst="rect">
            <a:avLst/>
          </a:prstGeom>
          <a:noFill/>
          <a:ln/>
        </p:spPr>
        <p:txBody>
          <a:bodyPr wrap="square" lIns="0" tIns="0" rIns="0" bIns="0" rtlCol="0" anchor="ctr">
            <a:normAutofit/>
          </a:bodyPr>
          <a:lstStyle/>
          <a:p>
            <a:pPr indent="0" marL="0">
              <a:buNone/>
            </a:pPr>
            <a:r>
              <a:rPr lang="en-US" sz="1050" b="1" dirty="0">
                <a:solidFill>
                  <a:srgbClr val="C8102E"/>
                </a:solidFill>
                <a:latin typeface="Arial" pitchFamily="34" charset="0"/>
                <a:ea typeface="Arial" pitchFamily="34" charset="-122"/>
                <a:cs typeface="Arial" pitchFamily="34" charset="-120"/>
              </a:rPr>
              <a:t>Node.js Backend</a:t>
            </a:r>
            <a:endParaRPr lang="en-US" sz="1050" dirty="0"/>
          </a:p>
        </p:txBody>
      </p:sp>
      <p:sp>
        <p:nvSpPr>
          <p:cNvPr id="20" name="Text 16"/>
          <p:cNvSpPr/>
          <p:nvPr/>
        </p:nvSpPr>
        <p:spPr>
          <a:xfrm>
            <a:off x="3712464" y="2377440"/>
            <a:ext cx="978408" cy="411480"/>
          </a:xfrm>
          <a:prstGeom prst="rect">
            <a:avLst/>
          </a:prstGeom>
          <a:noFill/>
          <a:ln/>
        </p:spPr>
        <p:txBody>
          <a:bodyPr wrap="square" lIns="254" tIns="254" rIns="254" bIns="254" rtlCol="0" anchor="t">
            <a:normAutofit/>
          </a:bodyPr>
          <a:lstStyle/>
          <a:p>
            <a:pPr indent="0" marL="0">
              <a:buNone/>
            </a:pPr>
            <a:r>
              <a:rPr lang="en-US" sz="820" dirty="0">
                <a:solidFill>
                  <a:srgbClr val="1F2937"/>
                </a:solidFill>
                <a:latin typeface="Arial" pitchFamily="34" charset="0"/>
                <a:ea typeface="Arial" pitchFamily="34" charset="-122"/>
                <a:cs typeface="Arial" pitchFamily="34" charset="-120"/>
              </a:rPr>
              <a:t>MQTT Bridge</a:t>
            </a:r>
            <a:endParaRPr lang="en-US" sz="820" dirty="0"/>
          </a:p>
          <a:p>
            <a:pPr indent="0" marL="0">
              <a:buNone/>
            </a:pPr>
            <a:r>
              <a:rPr lang="en-US" sz="820" dirty="0">
                <a:solidFill>
                  <a:srgbClr val="1F2937"/>
                </a:solidFill>
                <a:latin typeface="Arial" pitchFamily="34" charset="0"/>
                <a:ea typeface="Arial" pitchFamily="34" charset="-122"/>
                <a:cs typeface="Arial" pitchFamily="34" charset="-120"/>
              </a:rPr>
              <a:t>+ REST API</a:t>
            </a:r>
            <a:endParaRPr lang="en-US" sz="820" dirty="0"/>
          </a:p>
        </p:txBody>
      </p:sp>
      <p:sp>
        <p:nvSpPr>
          <p:cNvPr id="21" name="Shape 17"/>
          <p:cNvSpPr/>
          <p:nvPr/>
        </p:nvSpPr>
        <p:spPr>
          <a:xfrm>
            <a:off x="4882896" y="2404872"/>
            <a:ext cx="164592" cy="0"/>
          </a:xfrm>
          <a:prstGeom prst="line">
            <a:avLst/>
          </a:prstGeom>
          <a:noFill/>
          <a:ln w="27940">
            <a:solidFill>
              <a:srgbClr val="C8102E"/>
            </a:solidFill>
            <a:prstDash val="solid"/>
            <a:headEnd type="none"/>
            <a:tailEnd type="triangle"/>
          </a:ln>
        </p:spPr>
      </p:sp>
      <p:sp>
        <p:nvSpPr>
          <p:cNvPr id="22" name="Shape 18"/>
          <p:cNvSpPr/>
          <p:nvPr/>
        </p:nvSpPr>
        <p:spPr>
          <a:xfrm>
            <a:off x="5102352" y="1965960"/>
            <a:ext cx="1298448" cy="914400"/>
          </a:xfrm>
          <a:prstGeom prst="roundRect">
            <a:avLst>
              <a:gd name="adj" fmla="val 8000"/>
            </a:avLst>
          </a:prstGeom>
          <a:solidFill>
            <a:srgbClr val="FFFFFF"/>
          </a:solidFill>
          <a:ln w="12700">
            <a:solidFill>
              <a:srgbClr val="E5E7EB"/>
            </a:solidFill>
            <a:prstDash val="solid"/>
          </a:ln>
        </p:spPr>
      </p:sp>
      <p:sp>
        <p:nvSpPr>
          <p:cNvPr id="23" name="Shape 19"/>
          <p:cNvSpPr/>
          <p:nvPr/>
        </p:nvSpPr>
        <p:spPr>
          <a:xfrm>
            <a:off x="5102352" y="1965960"/>
            <a:ext cx="64008" cy="914400"/>
          </a:xfrm>
          <a:prstGeom prst="rect">
            <a:avLst/>
          </a:prstGeom>
          <a:solidFill>
            <a:srgbClr val="0F766E"/>
          </a:solidFill>
          <a:ln w="12700">
            <a:solidFill>
              <a:srgbClr val="0F766E"/>
            </a:solidFill>
            <a:prstDash val="solid"/>
          </a:ln>
        </p:spPr>
      </p:sp>
      <p:sp>
        <p:nvSpPr>
          <p:cNvPr id="24" name="Text 20"/>
          <p:cNvSpPr/>
          <p:nvPr/>
        </p:nvSpPr>
        <p:spPr>
          <a:xfrm>
            <a:off x="5266944" y="2075688"/>
            <a:ext cx="978408" cy="228600"/>
          </a:xfrm>
          <a:prstGeom prst="rect">
            <a:avLst/>
          </a:prstGeom>
          <a:noFill/>
          <a:ln/>
        </p:spPr>
        <p:txBody>
          <a:bodyPr wrap="square" lIns="0" tIns="0" rIns="0" bIns="0" rtlCol="0" anchor="ctr">
            <a:normAutofit/>
          </a:bodyPr>
          <a:lstStyle/>
          <a:p>
            <a:pPr indent="0" marL="0">
              <a:buNone/>
            </a:pPr>
            <a:r>
              <a:rPr lang="en-US" sz="1050" b="1" dirty="0">
                <a:solidFill>
                  <a:srgbClr val="C8102E"/>
                </a:solidFill>
                <a:latin typeface="Arial" pitchFamily="34" charset="0"/>
                <a:ea typeface="Arial" pitchFamily="34" charset="-122"/>
                <a:cs typeface="Arial" pitchFamily="34" charset="-120"/>
              </a:rPr>
              <a:t>Database</a:t>
            </a:r>
            <a:endParaRPr lang="en-US" sz="1050" dirty="0"/>
          </a:p>
        </p:txBody>
      </p:sp>
      <p:sp>
        <p:nvSpPr>
          <p:cNvPr id="25" name="Text 21"/>
          <p:cNvSpPr/>
          <p:nvPr/>
        </p:nvSpPr>
        <p:spPr>
          <a:xfrm>
            <a:off x="5266944" y="2377440"/>
            <a:ext cx="978408" cy="411480"/>
          </a:xfrm>
          <a:prstGeom prst="rect">
            <a:avLst/>
          </a:prstGeom>
          <a:noFill/>
          <a:ln/>
        </p:spPr>
        <p:txBody>
          <a:bodyPr wrap="square" lIns="254" tIns="254" rIns="254" bIns="254" rtlCol="0" anchor="t">
            <a:normAutofit/>
          </a:bodyPr>
          <a:lstStyle/>
          <a:p>
            <a:pPr indent="0" marL="0">
              <a:buNone/>
            </a:pPr>
            <a:r>
              <a:rPr lang="en-US" sz="820" dirty="0">
                <a:solidFill>
                  <a:srgbClr val="1F2937"/>
                </a:solidFill>
                <a:latin typeface="Arial" pitchFamily="34" charset="0"/>
                <a:ea typeface="Arial" pitchFamily="34" charset="-122"/>
                <a:cs typeface="Arial" pitchFamily="34" charset="-120"/>
              </a:rPr>
              <a:t>MongoDB telemetry</a:t>
            </a:r>
            <a:endParaRPr lang="en-US" sz="820" dirty="0"/>
          </a:p>
          <a:p>
            <a:pPr indent="0" marL="0">
              <a:buNone/>
            </a:pPr>
            <a:r>
              <a:rPr lang="en-US" sz="820" dirty="0">
                <a:solidFill>
                  <a:srgbClr val="1F2937"/>
                </a:solidFill>
                <a:latin typeface="Arial" pitchFamily="34" charset="0"/>
                <a:ea typeface="Arial" pitchFamily="34" charset="-122"/>
                <a:cs typeface="Arial" pitchFamily="34" charset="-120"/>
              </a:rPr>
              <a:t>SQL metadata</a:t>
            </a:r>
            <a:endParaRPr lang="en-US" sz="820" dirty="0"/>
          </a:p>
        </p:txBody>
      </p:sp>
      <p:sp>
        <p:nvSpPr>
          <p:cNvPr id="26" name="Shape 22"/>
          <p:cNvSpPr/>
          <p:nvPr/>
        </p:nvSpPr>
        <p:spPr>
          <a:xfrm>
            <a:off x="6437376" y="2404872"/>
            <a:ext cx="164592" cy="0"/>
          </a:xfrm>
          <a:prstGeom prst="line">
            <a:avLst/>
          </a:prstGeom>
          <a:noFill/>
          <a:ln w="27940">
            <a:solidFill>
              <a:srgbClr val="C8102E"/>
            </a:solidFill>
            <a:prstDash val="solid"/>
            <a:headEnd type="none"/>
            <a:tailEnd type="triangle"/>
          </a:ln>
        </p:spPr>
      </p:sp>
      <p:sp>
        <p:nvSpPr>
          <p:cNvPr id="27" name="Shape 23"/>
          <p:cNvSpPr/>
          <p:nvPr/>
        </p:nvSpPr>
        <p:spPr>
          <a:xfrm>
            <a:off x="6656832" y="1965960"/>
            <a:ext cx="1298448" cy="914400"/>
          </a:xfrm>
          <a:prstGeom prst="roundRect">
            <a:avLst>
              <a:gd name="adj" fmla="val 8000"/>
            </a:avLst>
          </a:prstGeom>
          <a:solidFill>
            <a:srgbClr val="FFFFFF"/>
          </a:solidFill>
          <a:ln w="12700">
            <a:solidFill>
              <a:srgbClr val="E5E7EB"/>
            </a:solidFill>
            <a:prstDash val="solid"/>
          </a:ln>
        </p:spPr>
      </p:sp>
      <p:sp>
        <p:nvSpPr>
          <p:cNvPr id="28" name="Shape 24"/>
          <p:cNvSpPr/>
          <p:nvPr/>
        </p:nvSpPr>
        <p:spPr>
          <a:xfrm>
            <a:off x="6656832" y="1965960"/>
            <a:ext cx="64008" cy="914400"/>
          </a:xfrm>
          <a:prstGeom prst="rect">
            <a:avLst/>
          </a:prstGeom>
          <a:solidFill>
            <a:srgbClr val="1D4ED8"/>
          </a:solidFill>
          <a:ln w="12700">
            <a:solidFill>
              <a:srgbClr val="1D4ED8"/>
            </a:solidFill>
            <a:prstDash val="solid"/>
          </a:ln>
        </p:spPr>
      </p:sp>
      <p:sp>
        <p:nvSpPr>
          <p:cNvPr id="29" name="Text 25"/>
          <p:cNvSpPr/>
          <p:nvPr/>
        </p:nvSpPr>
        <p:spPr>
          <a:xfrm>
            <a:off x="6821424" y="2075688"/>
            <a:ext cx="978408" cy="228600"/>
          </a:xfrm>
          <a:prstGeom prst="rect">
            <a:avLst/>
          </a:prstGeom>
          <a:noFill/>
          <a:ln/>
        </p:spPr>
        <p:txBody>
          <a:bodyPr wrap="square" lIns="0" tIns="0" rIns="0" bIns="0" rtlCol="0" anchor="ctr">
            <a:normAutofit/>
          </a:bodyPr>
          <a:lstStyle/>
          <a:p>
            <a:pPr indent="0" marL="0">
              <a:buNone/>
            </a:pPr>
            <a:r>
              <a:rPr lang="en-US" sz="1050" b="1" dirty="0">
                <a:solidFill>
                  <a:srgbClr val="C8102E"/>
                </a:solidFill>
                <a:latin typeface="Arial" pitchFamily="34" charset="0"/>
                <a:ea typeface="Arial" pitchFamily="34" charset="-122"/>
                <a:cs typeface="Arial" pitchFamily="34" charset="-120"/>
              </a:rPr>
              <a:t>Frontend Web</a:t>
            </a:r>
            <a:endParaRPr lang="en-US" sz="1050" dirty="0"/>
          </a:p>
        </p:txBody>
      </p:sp>
      <p:sp>
        <p:nvSpPr>
          <p:cNvPr id="30" name="Text 26"/>
          <p:cNvSpPr/>
          <p:nvPr/>
        </p:nvSpPr>
        <p:spPr>
          <a:xfrm>
            <a:off x="6821424" y="2377440"/>
            <a:ext cx="978408" cy="411480"/>
          </a:xfrm>
          <a:prstGeom prst="rect">
            <a:avLst/>
          </a:prstGeom>
          <a:noFill/>
          <a:ln/>
        </p:spPr>
        <p:txBody>
          <a:bodyPr wrap="square" lIns="254" tIns="254" rIns="254" bIns="254" rtlCol="0" anchor="t">
            <a:normAutofit/>
          </a:bodyPr>
          <a:lstStyle/>
          <a:p>
            <a:pPr indent="0" marL="0">
              <a:buNone/>
            </a:pPr>
            <a:r>
              <a:rPr lang="en-US" sz="820" dirty="0">
                <a:solidFill>
                  <a:srgbClr val="1F2937"/>
                </a:solidFill>
                <a:latin typeface="Arial" pitchFamily="34" charset="0"/>
                <a:ea typeface="Arial" pitchFamily="34" charset="-122"/>
                <a:cs typeface="Arial" pitchFamily="34" charset="-120"/>
              </a:rPr>
              <a:t>KPI • Chart</a:t>
            </a:r>
            <a:endParaRPr lang="en-US" sz="820" dirty="0"/>
          </a:p>
          <a:p>
            <a:pPr indent="0" marL="0">
              <a:buNone/>
            </a:pPr>
            <a:r>
              <a:rPr lang="en-US" sz="820" dirty="0">
                <a:solidFill>
                  <a:srgbClr val="1F2937"/>
                </a:solidFill>
                <a:latin typeface="Arial" pitchFamily="34" charset="0"/>
                <a:ea typeface="Arial" pitchFamily="34" charset="-122"/>
                <a:cs typeface="Arial" pitchFamily="34" charset="-120"/>
              </a:rPr>
              <a:t>History • Control</a:t>
            </a:r>
            <a:endParaRPr lang="en-US" sz="820" dirty="0"/>
          </a:p>
        </p:txBody>
      </p:sp>
      <p:sp>
        <p:nvSpPr>
          <p:cNvPr id="31" name="Shape 27"/>
          <p:cNvSpPr/>
          <p:nvPr/>
        </p:nvSpPr>
        <p:spPr>
          <a:xfrm>
            <a:off x="914400" y="3657600"/>
            <a:ext cx="7315200" cy="1417320"/>
          </a:xfrm>
          <a:prstGeom prst="roundRect">
            <a:avLst>
              <a:gd name="adj" fmla="val 5161"/>
            </a:avLst>
          </a:prstGeom>
          <a:solidFill>
            <a:srgbClr val="F9FAFB"/>
          </a:solidFill>
          <a:ln w="12700">
            <a:solidFill>
              <a:srgbClr val="E5E7EB"/>
            </a:solidFill>
            <a:prstDash val="solid"/>
          </a:ln>
        </p:spPr>
      </p:sp>
      <p:sp>
        <p:nvSpPr>
          <p:cNvPr id="32" name="Shape 28"/>
          <p:cNvSpPr/>
          <p:nvPr/>
        </p:nvSpPr>
        <p:spPr>
          <a:xfrm>
            <a:off x="914400" y="3657600"/>
            <a:ext cx="64008" cy="1417320"/>
          </a:xfrm>
          <a:prstGeom prst="rect">
            <a:avLst/>
          </a:prstGeom>
          <a:solidFill>
            <a:srgbClr val="C8102E"/>
          </a:solidFill>
          <a:ln w="12700">
            <a:solidFill>
              <a:srgbClr val="C8102E"/>
            </a:solidFill>
            <a:prstDash val="solid"/>
          </a:ln>
        </p:spPr>
      </p:sp>
      <p:sp>
        <p:nvSpPr>
          <p:cNvPr id="33" name="Text 29"/>
          <p:cNvSpPr/>
          <p:nvPr/>
        </p:nvSpPr>
        <p:spPr>
          <a:xfrm>
            <a:off x="1078992" y="3767328"/>
            <a:ext cx="699516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Vai trò trung tâm của backend</a:t>
            </a:r>
            <a:endParaRPr lang="en-US" sz="1150" dirty="0"/>
          </a:p>
        </p:txBody>
      </p:sp>
      <p:sp>
        <p:nvSpPr>
          <p:cNvPr id="34" name="Text 30"/>
          <p:cNvSpPr/>
          <p:nvPr/>
        </p:nvSpPr>
        <p:spPr>
          <a:xfrm>
            <a:off x="1078992" y="4069080"/>
            <a:ext cx="6995160" cy="914400"/>
          </a:xfrm>
          <a:prstGeom prst="rect">
            <a:avLst/>
          </a:prstGeom>
          <a:noFill/>
          <a:ln/>
        </p:spPr>
        <p:txBody>
          <a:bodyPr wrap="square" lIns="254" tIns="254" rIns="254" bIns="254" rtlCol="0" anchor="t">
            <a:normAutofit/>
          </a:bodyPr>
          <a:lstStyle/>
          <a:p>
            <a:pPr indent="0" marL="0">
              <a:buNone/>
            </a:pPr>
            <a:r>
              <a:rPr lang="en-US" sz="1100" dirty="0">
                <a:solidFill>
                  <a:srgbClr val="1F2937"/>
                </a:solidFill>
                <a:latin typeface="Arial" pitchFamily="34" charset="0"/>
                <a:ea typeface="Arial" pitchFamily="34" charset="-122"/>
                <a:cs typeface="Arial" pitchFamily="34" charset="-120"/>
              </a:rPr>
              <a:t>• Subscribe MQTT và ghi dữ liệu</a:t>
            </a:r>
            <a:endParaRPr lang="en-US" sz="1100" dirty="0"/>
          </a:p>
          <a:p>
            <a:pPr indent="0" marL="0">
              <a:buNone/>
            </a:pPr>
            <a:r>
              <a:rPr lang="en-US" sz="1100" dirty="0">
                <a:solidFill>
                  <a:srgbClr val="1F2937"/>
                </a:solidFill>
                <a:latin typeface="Arial" pitchFamily="34" charset="0"/>
                <a:ea typeface="Arial" pitchFamily="34" charset="-122"/>
                <a:cs typeface="Arial" pitchFamily="34" charset="-120"/>
              </a:rPr>
              <a:t>• Cung cấp /config.json và /api/enose/* cho frontend</a:t>
            </a:r>
            <a:endParaRPr lang="en-US" sz="1100" dirty="0"/>
          </a:p>
          <a:p>
            <a:pPr indent="0" marL="0">
              <a:buNone/>
            </a:pPr>
            <a:r>
              <a:rPr lang="en-US" sz="1100" dirty="0">
                <a:solidFill>
                  <a:srgbClr val="1F2937"/>
                </a:solidFill>
                <a:latin typeface="Arial" pitchFamily="34" charset="0"/>
                <a:ea typeface="Arial" pitchFamily="34" charset="-122"/>
                <a:cs typeface="Arial" pitchFamily="34" charset="-120"/>
              </a:rPr>
              <a:t>• Điều khiển ngược thiết bị bằng cách publish command qua MQTT</a:t>
            </a:r>
            <a:endParaRPr lang="en-US" sz="1100" dirty="0"/>
          </a:p>
        </p:txBody>
      </p:sp>
      <p:sp>
        <p:nvSpPr>
          <p:cNvPr id="35" name="Shape 31"/>
          <p:cNvSpPr/>
          <p:nvPr/>
        </p:nvSpPr>
        <p:spPr>
          <a:xfrm>
            <a:off x="1051560" y="5376672"/>
            <a:ext cx="7040880" cy="384048"/>
          </a:xfrm>
          <a:prstGeom prst="roundRect">
            <a:avLst>
              <a:gd name="adj" fmla="val 14286"/>
            </a:avLst>
          </a:prstGeom>
          <a:solidFill>
            <a:srgbClr val="111827"/>
          </a:solidFill>
          <a:ln w="12700">
            <a:solidFill>
              <a:srgbClr val="111827"/>
            </a:solidFill>
            <a:prstDash val="solid"/>
          </a:ln>
        </p:spPr>
      </p:sp>
      <p:sp>
        <p:nvSpPr>
          <p:cNvPr id="36" name="Text 32"/>
          <p:cNvSpPr/>
          <p:nvPr/>
        </p:nvSpPr>
        <p:spPr>
          <a:xfrm>
            <a:off x="1161288" y="5468112"/>
            <a:ext cx="6821424" cy="219456"/>
          </a:xfrm>
          <a:prstGeom prst="rect">
            <a:avLst/>
          </a:prstGeom>
          <a:noFill/>
          <a:ln/>
        </p:spPr>
        <p:txBody>
          <a:bodyPr wrap="square" lIns="0" tIns="0" rIns="0" bIns="0" rtlCol="0" anchor="ctr">
            <a:normAutofit/>
          </a:bodyPr>
          <a:lstStyle/>
          <a:p>
            <a:pPr indent="0" marL="0">
              <a:buNone/>
            </a:pPr>
            <a:r>
              <a:rPr lang="en-US" sz="900" dirty="0">
                <a:solidFill>
                  <a:srgbClr val="FFFFFF"/>
                </a:solidFill>
                <a:latin typeface="Courier New" pitchFamily="34" charset="0"/>
                <a:ea typeface="Courier New" pitchFamily="34" charset="-122"/>
                <a:cs typeface="Courier New" pitchFamily="34" charset="-120"/>
              </a:rPr>
              <a:t>Backend = Express static + REST API + MQTT Bridge + DB layer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hust_media/ppt/media/image8.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Luồng dữ liệu realtime end-to-end</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Dữ liệu đi qua bridge, được chuẩn hóa rồi hiển thị theo chu kỳ polling.</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04</a:t>
            </a:r>
            <a:endParaRPr lang="en-US" sz="850" dirty="0"/>
          </a:p>
        </p:txBody>
      </p:sp>
      <p:sp>
        <p:nvSpPr>
          <p:cNvPr id="7" name="Shape 3"/>
          <p:cNvSpPr/>
          <p:nvPr/>
        </p:nvSpPr>
        <p:spPr>
          <a:xfrm>
            <a:off x="777240" y="1764792"/>
            <a:ext cx="310896" cy="310896"/>
          </a:xfrm>
          <a:prstGeom prst="ellipse">
            <a:avLst/>
          </a:prstGeom>
          <a:solidFill>
            <a:srgbClr val="C8102E"/>
          </a:solidFill>
          <a:ln w="12700">
            <a:solidFill>
              <a:srgbClr val="C8102E"/>
            </a:solidFill>
            <a:prstDash val="solid"/>
          </a:ln>
        </p:spPr>
      </p:sp>
      <p:sp>
        <p:nvSpPr>
          <p:cNvPr id="8" name="Text 4"/>
          <p:cNvSpPr/>
          <p:nvPr/>
        </p:nvSpPr>
        <p:spPr>
          <a:xfrm>
            <a:off x="777240" y="1833372"/>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9" name="Text 5"/>
          <p:cNvSpPr/>
          <p:nvPr/>
        </p:nvSpPr>
        <p:spPr>
          <a:xfrm>
            <a:off x="1216152" y="1783080"/>
            <a:ext cx="7242048" cy="310896"/>
          </a:xfrm>
          <a:prstGeom prst="rect">
            <a:avLst/>
          </a:prstGeom>
          <a:noFill/>
          <a:ln/>
        </p:spPr>
        <p:txBody>
          <a:bodyPr wrap="square" lIns="127" tIns="127" rIns="127" bIns="127" rtlCol="0" anchor="ctr">
            <a:normAutofit/>
          </a:bodyPr>
          <a:lstStyle/>
          <a:p>
            <a:pPr indent="0" marL="0">
              <a:buNone/>
            </a:pPr>
            <a:r>
              <a:rPr lang="en-US" sz="1220" dirty="0">
                <a:solidFill>
                  <a:srgbClr val="1F2937"/>
                </a:solidFill>
                <a:latin typeface="Arial" pitchFamily="34" charset="0"/>
                <a:ea typeface="Arial" pitchFamily="34" charset="-122"/>
                <a:cs typeface="Arial" pitchFamily="34" charset="-120"/>
              </a:rPr>
              <a:t>Device publish — electric-nose/device/&lt;code&gt;/sensor</a:t>
            </a:r>
            <a:endParaRPr lang="en-US" sz="1220" dirty="0"/>
          </a:p>
        </p:txBody>
      </p:sp>
      <p:sp>
        <p:nvSpPr>
          <p:cNvPr id="10" name="Shape 6"/>
          <p:cNvSpPr/>
          <p:nvPr/>
        </p:nvSpPr>
        <p:spPr>
          <a:xfrm>
            <a:off x="932688" y="2112264"/>
            <a:ext cx="0" cy="310896"/>
          </a:xfrm>
          <a:prstGeom prst="line">
            <a:avLst/>
          </a:prstGeom>
          <a:noFill/>
          <a:ln w="19050">
            <a:solidFill>
              <a:srgbClr val="C8102E"/>
            </a:solidFill>
            <a:prstDash val="solid"/>
            <a:headEnd type="none"/>
            <a:tailEnd type="triangle"/>
          </a:ln>
        </p:spPr>
      </p:sp>
      <p:sp>
        <p:nvSpPr>
          <p:cNvPr id="11" name="Shape 7"/>
          <p:cNvSpPr/>
          <p:nvPr/>
        </p:nvSpPr>
        <p:spPr>
          <a:xfrm>
            <a:off x="777240" y="2441448"/>
            <a:ext cx="310896" cy="310896"/>
          </a:xfrm>
          <a:prstGeom prst="ellipse">
            <a:avLst/>
          </a:prstGeom>
          <a:solidFill>
            <a:srgbClr val="C8102E"/>
          </a:solidFill>
          <a:ln w="12700">
            <a:solidFill>
              <a:srgbClr val="C8102E"/>
            </a:solidFill>
            <a:prstDash val="solid"/>
          </a:ln>
        </p:spPr>
      </p:sp>
      <p:sp>
        <p:nvSpPr>
          <p:cNvPr id="12" name="Text 8"/>
          <p:cNvSpPr/>
          <p:nvPr/>
        </p:nvSpPr>
        <p:spPr>
          <a:xfrm>
            <a:off x="777240" y="2510028"/>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3" name="Text 9"/>
          <p:cNvSpPr/>
          <p:nvPr/>
        </p:nvSpPr>
        <p:spPr>
          <a:xfrm>
            <a:off x="1216152" y="2459736"/>
            <a:ext cx="7242048" cy="310896"/>
          </a:xfrm>
          <a:prstGeom prst="rect">
            <a:avLst/>
          </a:prstGeom>
          <a:noFill/>
          <a:ln/>
        </p:spPr>
        <p:txBody>
          <a:bodyPr wrap="square" lIns="127" tIns="127" rIns="127" bIns="127" rtlCol="0" anchor="ctr">
            <a:normAutofit/>
          </a:bodyPr>
          <a:lstStyle/>
          <a:p>
            <a:pPr indent="0" marL="0">
              <a:buNone/>
            </a:pPr>
            <a:r>
              <a:rPr lang="en-US" sz="1220" dirty="0">
                <a:solidFill>
                  <a:srgbClr val="1F2937"/>
                </a:solidFill>
                <a:latin typeface="Arial" pitchFamily="34" charset="0"/>
                <a:ea typeface="Arial" pitchFamily="34" charset="-122"/>
                <a:cs typeface="Arial" pitchFamily="34" charset="-120"/>
              </a:rPr>
              <a:t>Bridge subscribe — parse JSON + normalize payload</a:t>
            </a:r>
            <a:endParaRPr lang="en-US" sz="1220" dirty="0"/>
          </a:p>
        </p:txBody>
      </p:sp>
      <p:sp>
        <p:nvSpPr>
          <p:cNvPr id="14" name="Shape 10"/>
          <p:cNvSpPr/>
          <p:nvPr/>
        </p:nvSpPr>
        <p:spPr>
          <a:xfrm>
            <a:off x="932688" y="2788920"/>
            <a:ext cx="0" cy="310896"/>
          </a:xfrm>
          <a:prstGeom prst="line">
            <a:avLst/>
          </a:prstGeom>
          <a:noFill/>
          <a:ln w="19050">
            <a:solidFill>
              <a:srgbClr val="C8102E"/>
            </a:solidFill>
            <a:prstDash val="solid"/>
            <a:headEnd type="none"/>
            <a:tailEnd type="triangle"/>
          </a:ln>
        </p:spPr>
      </p:sp>
      <p:sp>
        <p:nvSpPr>
          <p:cNvPr id="15" name="Shape 11"/>
          <p:cNvSpPr/>
          <p:nvPr/>
        </p:nvSpPr>
        <p:spPr>
          <a:xfrm>
            <a:off x="777240" y="3118104"/>
            <a:ext cx="310896" cy="310896"/>
          </a:xfrm>
          <a:prstGeom prst="ellipse">
            <a:avLst/>
          </a:prstGeom>
          <a:solidFill>
            <a:srgbClr val="C8102E"/>
          </a:solidFill>
          <a:ln w="12700">
            <a:solidFill>
              <a:srgbClr val="C8102E"/>
            </a:solidFill>
            <a:prstDash val="solid"/>
          </a:ln>
        </p:spPr>
      </p:sp>
      <p:sp>
        <p:nvSpPr>
          <p:cNvPr id="16" name="Text 12"/>
          <p:cNvSpPr/>
          <p:nvPr/>
        </p:nvSpPr>
        <p:spPr>
          <a:xfrm>
            <a:off x="777240" y="3186684"/>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7" name="Text 13"/>
          <p:cNvSpPr/>
          <p:nvPr/>
        </p:nvSpPr>
        <p:spPr>
          <a:xfrm>
            <a:off x="1216152" y="3136392"/>
            <a:ext cx="7242048" cy="310896"/>
          </a:xfrm>
          <a:prstGeom prst="rect">
            <a:avLst/>
          </a:prstGeom>
          <a:noFill/>
          <a:ln/>
        </p:spPr>
        <p:txBody>
          <a:bodyPr wrap="square" lIns="127" tIns="127" rIns="127" bIns="127" rtlCol="0" anchor="ctr">
            <a:normAutofit/>
          </a:bodyPr>
          <a:lstStyle/>
          <a:p>
            <a:pPr indent="0" marL="0">
              <a:buNone/>
            </a:pPr>
            <a:r>
              <a:rPr lang="en-US" sz="1220" dirty="0">
                <a:solidFill>
                  <a:srgbClr val="1F2937"/>
                </a:solidFill>
                <a:latin typeface="Arial" pitchFamily="34" charset="0"/>
                <a:ea typeface="Arial" pitchFamily="34" charset="-122"/>
                <a:cs typeface="Arial" pitchFamily="34" charset="-120"/>
              </a:rPr>
              <a:t>Store database — Mongo sensor/status + SQL metadata</a:t>
            </a:r>
            <a:endParaRPr lang="en-US" sz="1220" dirty="0"/>
          </a:p>
        </p:txBody>
      </p:sp>
      <p:sp>
        <p:nvSpPr>
          <p:cNvPr id="18" name="Shape 14"/>
          <p:cNvSpPr/>
          <p:nvPr/>
        </p:nvSpPr>
        <p:spPr>
          <a:xfrm>
            <a:off x="932688" y="3465576"/>
            <a:ext cx="0" cy="310896"/>
          </a:xfrm>
          <a:prstGeom prst="line">
            <a:avLst/>
          </a:prstGeom>
          <a:noFill/>
          <a:ln w="19050">
            <a:solidFill>
              <a:srgbClr val="C8102E"/>
            </a:solidFill>
            <a:prstDash val="solid"/>
            <a:headEnd type="none"/>
            <a:tailEnd type="triangle"/>
          </a:ln>
        </p:spPr>
      </p:sp>
      <p:sp>
        <p:nvSpPr>
          <p:cNvPr id="19" name="Shape 15"/>
          <p:cNvSpPr/>
          <p:nvPr/>
        </p:nvSpPr>
        <p:spPr>
          <a:xfrm>
            <a:off x="777240" y="3794760"/>
            <a:ext cx="310896" cy="310896"/>
          </a:xfrm>
          <a:prstGeom prst="ellipse">
            <a:avLst/>
          </a:prstGeom>
          <a:solidFill>
            <a:srgbClr val="C8102E"/>
          </a:solidFill>
          <a:ln w="12700">
            <a:solidFill>
              <a:srgbClr val="C8102E"/>
            </a:solidFill>
            <a:prstDash val="solid"/>
          </a:ln>
        </p:spPr>
      </p:sp>
      <p:sp>
        <p:nvSpPr>
          <p:cNvPr id="20" name="Text 16"/>
          <p:cNvSpPr/>
          <p:nvPr/>
        </p:nvSpPr>
        <p:spPr>
          <a:xfrm>
            <a:off x="777240" y="3863340"/>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1" name="Text 17"/>
          <p:cNvSpPr/>
          <p:nvPr/>
        </p:nvSpPr>
        <p:spPr>
          <a:xfrm>
            <a:off x="1216152" y="3813048"/>
            <a:ext cx="7242048" cy="310896"/>
          </a:xfrm>
          <a:prstGeom prst="rect">
            <a:avLst/>
          </a:prstGeom>
          <a:noFill/>
          <a:ln/>
        </p:spPr>
        <p:txBody>
          <a:bodyPr wrap="square" lIns="127" tIns="127" rIns="127" bIns="127" rtlCol="0" anchor="ctr">
            <a:normAutofit/>
          </a:bodyPr>
          <a:lstStyle/>
          <a:p>
            <a:pPr indent="0" marL="0">
              <a:buNone/>
            </a:pPr>
            <a:r>
              <a:rPr lang="en-US" sz="1220" dirty="0">
                <a:solidFill>
                  <a:srgbClr val="1F2937"/>
                </a:solidFill>
                <a:latin typeface="Arial" pitchFamily="34" charset="0"/>
                <a:ea typeface="Arial" pitchFamily="34" charset="-122"/>
                <a:cs typeface="Arial" pitchFamily="34" charset="-120"/>
              </a:rPr>
              <a:t>Frontend API — GET /api/enose/devices/:id/latest</a:t>
            </a:r>
            <a:endParaRPr lang="en-US" sz="1220" dirty="0"/>
          </a:p>
        </p:txBody>
      </p:sp>
      <p:sp>
        <p:nvSpPr>
          <p:cNvPr id="22" name="Shape 18"/>
          <p:cNvSpPr/>
          <p:nvPr/>
        </p:nvSpPr>
        <p:spPr>
          <a:xfrm>
            <a:off x="932688" y="4142232"/>
            <a:ext cx="0" cy="310896"/>
          </a:xfrm>
          <a:prstGeom prst="line">
            <a:avLst/>
          </a:prstGeom>
          <a:noFill/>
          <a:ln w="19050">
            <a:solidFill>
              <a:srgbClr val="C8102E"/>
            </a:solidFill>
            <a:prstDash val="solid"/>
            <a:headEnd type="none"/>
            <a:tailEnd type="triangle"/>
          </a:ln>
        </p:spPr>
      </p:sp>
      <p:sp>
        <p:nvSpPr>
          <p:cNvPr id="23" name="Shape 19"/>
          <p:cNvSpPr/>
          <p:nvPr/>
        </p:nvSpPr>
        <p:spPr>
          <a:xfrm>
            <a:off x="777240" y="4471416"/>
            <a:ext cx="310896" cy="310896"/>
          </a:xfrm>
          <a:prstGeom prst="ellipse">
            <a:avLst/>
          </a:prstGeom>
          <a:solidFill>
            <a:srgbClr val="C8102E"/>
          </a:solidFill>
          <a:ln w="12700">
            <a:solidFill>
              <a:srgbClr val="C8102E"/>
            </a:solidFill>
            <a:prstDash val="solid"/>
          </a:ln>
        </p:spPr>
      </p:sp>
      <p:sp>
        <p:nvSpPr>
          <p:cNvPr id="24" name="Text 20"/>
          <p:cNvSpPr/>
          <p:nvPr/>
        </p:nvSpPr>
        <p:spPr>
          <a:xfrm>
            <a:off x="777240" y="4539996"/>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25" name="Text 21"/>
          <p:cNvSpPr/>
          <p:nvPr/>
        </p:nvSpPr>
        <p:spPr>
          <a:xfrm>
            <a:off x="1216152" y="4489704"/>
            <a:ext cx="7242048" cy="310896"/>
          </a:xfrm>
          <a:prstGeom prst="rect">
            <a:avLst/>
          </a:prstGeom>
          <a:noFill/>
          <a:ln/>
        </p:spPr>
        <p:txBody>
          <a:bodyPr wrap="square" lIns="127" tIns="127" rIns="127" bIns="127" rtlCol="0" anchor="ctr">
            <a:normAutofit/>
          </a:bodyPr>
          <a:lstStyle/>
          <a:p>
            <a:pPr indent="0" marL="0">
              <a:buNone/>
            </a:pPr>
            <a:r>
              <a:rPr lang="en-US" sz="1220" dirty="0">
                <a:solidFill>
                  <a:srgbClr val="1F2937"/>
                </a:solidFill>
                <a:latin typeface="Arial" pitchFamily="34" charset="0"/>
                <a:ea typeface="Arial" pitchFamily="34" charset="-122"/>
                <a:cs typeface="Arial" pitchFamily="34" charset="-120"/>
              </a:rPr>
              <a:t>UI update — KPI, chart, history, CSV</a:t>
            </a:r>
            <a:endParaRPr lang="en-US" sz="1220" dirty="0"/>
          </a:p>
        </p:txBody>
      </p:sp>
      <p:sp>
        <p:nvSpPr>
          <p:cNvPr id="26" name="Shape 22"/>
          <p:cNvSpPr/>
          <p:nvPr/>
        </p:nvSpPr>
        <p:spPr>
          <a:xfrm>
            <a:off x="960120" y="5413248"/>
            <a:ext cx="7269480" cy="713232"/>
          </a:xfrm>
          <a:prstGeom prst="roundRect">
            <a:avLst>
              <a:gd name="adj" fmla="val 7692"/>
            </a:avLst>
          </a:prstGeom>
          <a:solidFill>
            <a:srgbClr val="111827"/>
          </a:solidFill>
          <a:ln w="12700">
            <a:solidFill>
              <a:srgbClr val="111827"/>
            </a:solidFill>
            <a:prstDash val="solid"/>
          </a:ln>
        </p:spPr>
      </p:sp>
      <p:sp>
        <p:nvSpPr>
          <p:cNvPr id="27" name="Text 23"/>
          <p:cNvSpPr/>
          <p:nvPr/>
        </p:nvSpPr>
        <p:spPr>
          <a:xfrm>
            <a:off x="1069848" y="5504688"/>
            <a:ext cx="7050024" cy="548640"/>
          </a:xfrm>
          <a:prstGeom prst="rect">
            <a:avLst/>
          </a:prstGeom>
          <a:noFill/>
          <a:ln/>
        </p:spPr>
        <p:txBody>
          <a:bodyPr wrap="square" lIns="0" tIns="0" rIns="0" bIns="0" rtlCol="0" anchor="ctr">
            <a:normAutofit/>
          </a:bodyPr>
          <a:lstStyle/>
          <a:p>
            <a:pPr indent="0" marL="0">
              <a:buNone/>
            </a:pPr>
            <a:r>
              <a:rPr lang="en-US" sz="840" dirty="0">
                <a:solidFill>
                  <a:srgbClr val="FFFFFF"/>
                </a:solidFill>
                <a:latin typeface="Courier New" pitchFamily="34" charset="0"/>
                <a:ea typeface="Courier New" pitchFamily="34" charset="-122"/>
                <a:cs typeface="Courier New" pitchFamily="34" charset="-120"/>
              </a:rPr>
              <a:t>GET /api/enose/devices/:id/history?limit=120</a:t>
            </a:r>
            <a:endParaRPr lang="en-US" sz="840" dirty="0"/>
          </a:p>
          <a:p>
            <a:pPr indent="0" marL="0">
              <a:buNone/>
            </a:pPr>
            <a:r>
              <a:rPr lang="en-US" sz="840" dirty="0">
                <a:solidFill>
                  <a:srgbClr val="FFFFFF"/>
                </a:solidFill>
                <a:latin typeface="Courier New" pitchFamily="34" charset="0"/>
                <a:ea typeface="Courier New" pitchFamily="34" charset="-122"/>
                <a:cs typeface="Courier New" pitchFamily="34" charset="-120"/>
              </a:rPr>
              <a:t>POST /api/enose/devices/:id/start | /stop | /heating | /air-pump</a:t>
            </a:r>
            <a:endParaRPr lang="en-US" sz="8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hust_media/ppt/media/image12.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Vì sao tách SQL và MongoDB?</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Mỗi loại dữ liệu có bản chất khác nhau nên cần cách lưu trữ phù hợp.</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05</a:t>
            </a:r>
            <a:endParaRPr lang="en-US" sz="850" dirty="0"/>
          </a:p>
        </p:txBody>
      </p:sp>
      <p:sp>
        <p:nvSpPr>
          <p:cNvPr id="7" name="Shape 3"/>
          <p:cNvSpPr/>
          <p:nvPr/>
        </p:nvSpPr>
        <p:spPr>
          <a:xfrm>
            <a:off x="713232" y="1783080"/>
            <a:ext cx="3703320" cy="3017520"/>
          </a:xfrm>
          <a:prstGeom prst="roundRect">
            <a:avLst>
              <a:gd name="adj" fmla="val 2424"/>
            </a:avLst>
          </a:prstGeom>
          <a:solidFill>
            <a:srgbClr val="F0FDFA"/>
          </a:solidFill>
          <a:ln w="12700">
            <a:solidFill>
              <a:srgbClr val="99F6E4"/>
            </a:solidFill>
            <a:prstDash val="solid"/>
          </a:ln>
        </p:spPr>
      </p:sp>
      <p:sp>
        <p:nvSpPr>
          <p:cNvPr id="8" name="Shape 4"/>
          <p:cNvSpPr/>
          <p:nvPr/>
        </p:nvSpPr>
        <p:spPr>
          <a:xfrm>
            <a:off x="713232" y="1783080"/>
            <a:ext cx="64008" cy="3017520"/>
          </a:xfrm>
          <a:prstGeom prst="rect">
            <a:avLst/>
          </a:prstGeom>
          <a:solidFill>
            <a:srgbClr val="0F766E"/>
          </a:solidFill>
          <a:ln w="12700">
            <a:solidFill>
              <a:srgbClr val="0F766E"/>
            </a:solidFill>
            <a:prstDash val="solid"/>
          </a:ln>
        </p:spPr>
      </p:sp>
      <p:sp>
        <p:nvSpPr>
          <p:cNvPr id="9" name="Text 5"/>
          <p:cNvSpPr/>
          <p:nvPr/>
        </p:nvSpPr>
        <p:spPr>
          <a:xfrm>
            <a:off x="877824" y="1892808"/>
            <a:ext cx="3383280"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MongoDB — telemetry/time-series</a:t>
            </a:r>
            <a:endParaRPr lang="en-US" sz="1150" dirty="0"/>
          </a:p>
        </p:txBody>
      </p:sp>
      <p:sp>
        <p:nvSpPr>
          <p:cNvPr id="10" name="Text 6"/>
          <p:cNvSpPr/>
          <p:nvPr/>
        </p:nvSpPr>
        <p:spPr>
          <a:xfrm>
            <a:off x="877824" y="2194560"/>
            <a:ext cx="3383280" cy="2514600"/>
          </a:xfrm>
          <a:prstGeom prst="rect">
            <a:avLst/>
          </a:prstGeom>
          <a:noFill/>
          <a:ln/>
        </p:spPr>
        <p:txBody>
          <a:bodyPr wrap="square" lIns="254" tIns="254" rIns="254" bIns="254" rtlCol="0" anchor="t">
            <a:normAutofit/>
          </a:bodyPr>
          <a:lstStyle/>
          <a:p>
            <a:pPr indent="0" marL="0">
              <a:buNone/>
            </a:pPr>
            <a:r>
              <a:rPr lang="en-US" sz="1120" dirty="0">
                <a:solidFill>
                  <a:srgbClr val="1F2937"/>
                </a:solidFill>
                <a:latin typeface="Arial" pitchFamily="34" charset="0"/>
                <a:ea typeface="Arial" pitchFamily="34" charset="-122"/>
                <a:cs typeface="Arial" pitchFamily="34" charset="-120"/>
              </a:rPr>
              <a:t>• Collection sensor: dữ liệu cảm biến theo thời gian</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 Collection device_status: trạng thái thiết bị</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 Collection measurement_data: phiên đo/file CSV</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 Ưu tiên ghi nhanh, linh hoạt payload</a:t>
            </a:r>
            <a:endParaRPr lang="en-US" sz="1120" dirty="0"/>
          </a:p>
        </p:txBody>
      </p:sp>
      <p:sp>
        <p:nvSpPr>
          <p:cNvPr id="11" name="Shape 7"/>
          <p:cNvSpPr/>
          <p:nvPr/>
        </p:nvSpPr>
        <p:spPr>
          <a:xfrm>
            <a:off x="4718304" y="1783080"/>
            <a:ext cx="3703320" cy="3017520"/>
          </a:xfrm>
          <a:prstGeom prst="roundRect">
            <a:avLst>
              <a:gd name="adj" fmla="val 2424"/>
            </a:avLst>
          </a:prstGeom>
          <a:solidFill>
            <a:srgbClr val="FFF1F2"/>
          </a:solidFill>
          <a:ln w="12700">
            <a:solidFill>
              <a:srgbClr val="FECDD3"/>
            </a:solidFill>
            <a:prstDash val="solid"/>
          </a:ln>
        </p:spPr>
      </p:sp>
      <p:sp>
        <p:nvSpPr>
          <p:cNvPr id="12" name="Shape 8"/>
          <p:cNvSpPr/>
          <p:nvPr/>
        </p:nvSpPr>
        <p:spPr>
          <a:xfrm>
            <a:off x="4718304" y="1783080"/>
            <a:ext cx="64008" cy="3017520"/>
          </a:xfrm>
          <a:prstGeom prst="rect">
            <a:avLst/>
          </a:prstGeom>
          <a:solidFill>
            <a:srgbClr val="C8102E"/>
          </a:solidFill>
          <a:ln w="12700">
            <a:solidFill>
              <a:srgbClr val="C8102E"/>
            </a:solidFill>
            <a:prstDash val="solid"/>
          </a:ln>
        </p:spPr>
      </p:sp>
      <p:sp>
        <p:nvSpPr>
          <p:cNvPr id="13" name="Text 9"/>
          <p:cNvSpPr/>
          <p:nvPr/>
        </p:nvSpPr>
        <p:spPr>
          <a:xfrm>
            <a:off x="4882896" y="1892808"/>
            <a:ext cx="338328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SQL — metadata/control/config</a:t>
            </a:r>
            <a:endParaRPr lang="en-US" sz="1150" dirty="0"/>
          </a:p>
        </p:txBody>
      </p:sp>
      <p:sp>
        <p:nvSpPr>
          <p:cNvPr id="14" name="Text 10"/>
          <p:cNvSpPr/>
          <p:nvPr/>
        </p:nvSpPr>
        <p:spPr>
          <a:xfrm>
            <a:off x="4882896" y="2194560"/>
            <a:ext cx="3383280" cy="2514600"/>
          </a:xfrm>
          <a:prstGeom prst="rect">
            <a:avLst/>
          </a:prstGeom>
          <a:noFill/>
          <a:ln/>
        </p:spPr>
        <p:txBody>
          <a:bodyPr wrap="square" lIns="254" tIns="254" rIns="254" bIns="254" rtlCol="0" anchor="t">
            <a:normAutofit/>
          </a:bodyPr>
          <a:lstStyle/>
          <a:p>
            <a:pPr indent="0" marL="0">
              <a:buNone/>
            </a:pPr>
            <a:r>
              <a:rPr lang="en-US" sz="1120" dirty="0">
                <a:solidFill>
                  <a:srgbClr val="1F2937"/>
                </a:solidFill>
                <a:latin typeface="Arial" pitchFamily="34" charset="0"/>
                <a:ea typeface="Arial" pitchFamily="34" charset="-122"/>
                <a:cs typeface="Arial" pitchFamily="34" charset="-120"/>
              </a:rPr>
              <a:t>• enose_devices: danh sách thiết bị</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 enose_control_history: audit lệnh điều khiển</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 enose_sensor_channels: CRUD kênh ADC</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 Ràng buộc rõ, dễ quản trị</a:t>
            </a:r>
            <a:endParaRPr lang="en-US" sz="1120" dirty="0"/>
          </a:p>
        </p:txBody>
      </p:sp>
      <p:sp>
        <p:nvSpPr>
          <p:cNvPr id="15" name="Shape 11"/>
          <p:cNvSpPr/>
          <p:nvPr/>
        </p:nvSpPr>
        <p:spPr>
          <a:xfrm>
            <a:off x="1188720" y="5166360"/>
            <a:ext cx="6720840" cy="713232"/>
          </a:xfrm>
          <a:prstGeom prst="roundRect">
            <a:avLst>
              <a:gd name="adj" fmla="val 10256"/>
            </a:avLst>
          </a:prstGeom>
          <a:solidFill>
            <a:srgbClr val="FFFBEB"/>
          </a:solidFill>
          <a:ln w="12700">
            <a:solidFill>
              <a:srgbClr val="FDE68A"/>
            </a:solidFill>
            <a:prstDash val="solid"/>
          </a:ln>
        </p:spPr>
      </p:sp>
      <p:sp>
        <p:nvSpPr>
          <p:cNvPr id="16" name="Shape 12"/>
          <p:cNvSpPr/>
          <p:nvPr/>
        </p:nvSpPr>
        <p:spPr>
          <a:xfrm>
            <a:off x="1188720" y="5166360"/>
            <a:ext cx="64008" cy="713232"/>
          </a:xfrm>
          <a:prstGeom prst="rect">
            <a:avLst/>
          </a:prstGeom>
          <a:solidFill>
            <a:srgbClr val="F2B705"/>
          </a:solidFill>
          <a:ln w="12700">
            <a:solidFill>
              <a:srgbClr val="F2B705"/>
            </a:solidFill>
            <a:prstDash val="solid"/>
          </a:ln>
        </p:spPr>
      </p:sp>
      <p:sp>
        <p:nvSpPr>
          <p:cNvPr id="17" name="Text 13"/>
          <p:cNvSpPr/>
          <p:nvPr/>
        </p:nvSpPr>
        <p:spPr>
          <a:xfrm>
            <a:off x="1353312" y="5276088"/>
            <a:ext cx="6400800" cy="228600"/>
          </a:xfrm>
          <a:prstGeom prst="rect">
            <a:avLst/>
          </a:prstGeom>
          <a:noFill/>
          <a:ln/>
        </p:spPr>
        <p:txBody>
          <a:bodyPr wrap="square" lIns="0" tIns="0" rIns="0" bIns="0" rtlCol="0" anchor="ctr">
            <a:normAutofit/>
          </a:bodyPr>
          <a:lstStyle/>
          <a:p>
            <a:pPr indent="0" marL="0">
              <a:buNone/>
            </a:pPr>
            <a:r>
              <a:rPr lang="en-US" sz="1150" b="1" dirty="0">
                <a:solidFill>
                  <a:srgbClr val="A16207"/>
                </a:solidFill>
                <a:latin typeface="Arial" pitchFamily="34" charset="0"/>
                <a:ea typeface="Arial" pitchFamily="34" charset="-122"/>
                <a:cs typeface="Arial" pitchFamily="34" charset="-120"/>
              </a:rPr>
              <a:t>Trade-off</a:t>
            </a:r>
            <a:endParaRPr lang="en-US" sz="1150" dirty="0"/>
          </a:p>
        </p:txBody>
      </p:sp>
      <p:sp>
        <p:nvSpPr>
          <p:cNvPr id="18" name="Text 14"/>
          <p:cNvSpPr/>
          <p:nvPr/>
        </p:nvSpPr>
        <p:spPr>
          <a:xfrm>
            <a:off x="1353312" y="5577840"/>
            <a:ext cx="6400800" cy="210312"/>
          </a:xfrm>
          <a:prstGeom prst="rect">
            <a:avLst/>
          </a:prstGeom>
          <a:noFill/>
          <a:ln/>
        </p:spPr>
        <p:txBody>
          <a:bodyPr wrap="square" lIns="254" tIns="254" rIns="254" bIns="254" rtlCol="0" anchor="t">
            <a:normAutofit/>
          </a:bodyPr>
          <a:lstStyle/>
          <a:p>
            <a:pPr indent="0" marL="0">
              <a:buNone/>
            </a:pPr>
            <a:r>
              <a:rPr lang="en-US" sz="1050" dirty="0">
                <a:solidFill>
                  <a:srgbClr val="1F2937"/>
                </a:solidFill>
                <a:latin typeface="Arial" pitchFamily="34" charset="0"/>
                <a:ea typeface="Arial" pitchFamily="34" charset="-122"/>
                <a:cs typeface="Arial" pitchFamily="34" charset="-120"/>
              </a:rPr>
              <a:t>Tăng độ phức tạp vận hành, nhưng tối ưu theo bản chất dữ liệu và sẵn sàng mở rộng.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hust_media/ppt/media/image8.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Cấu trúc dự án trong file ZIP</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Tổ chức theo frontend, backend, dịch vụ bridge và scripts vận hành.</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06</a:t>
            </a:r>
            <a:endParaRPr lang="en-US" sz="850" dirty="0"/>
          </a:p>
        </p:txBody>
      </p:sp>
      <p:sp>
        <p:nvSpPr>
          <p:cNvPr id="7" name="Shape 3"/>
          <p:cNvSpPr/>
          <p:nvPr/>
        </p:nvSpPr>
        <p:spPr>
          <a:xfrm>
            <a:off x="685800" y="1627632"/>
            <a:ext cx="3931920" cy="4526280"/>
          </a:xfrm>
          <a:prstGeom prst="roundRect">
            <a:avLst>
              <a:gd name="adj" fmla="val 1395"/>
            </a:avLst>
          </a:prstGeom>
          <a:solidFill>
            <a:srgbClr val="111827"/>
          </a:solidFill>
          <a:ln w="12700">
            <a:solidFill>
              <a:srgbClr val="111827"/>
            </a:solidFill>
            <a:prstDash val="solid"/>
          </a:ln>
        </p:spPr>
      </p:sp>
      <p:sp>
        <p:nvSpPr>
          <p:cNvPr id="8" name="Text 4"/>
          <p:cNvSpPr/>
          <p:nvPr/>
        </p:nvSpPr>
        <p:spPr>
          <a:xfrm>
            <a:off x="795528" y="1719072"/>
            <a:ext cx="3712464" cy="4361688"/>
          </a:xfrm>
          <a:prstGeom prst="rect">
            <a:avLst/>
          </a:prstGeom>
          <a:noFill/>
          <a:ln/>
        </p:spPr>
        <p:txBody>
          <a:bodyPr wrap="square" lIns="0" tIns="0" rIns="0" bIns="0" rtlCol="0" anchor="ctr">
            <a:normAutofit/>
          </a:bodyPr>
          <a:lstStyle/>
          <a:p>
            <a:pPr indent="0" marL="0">
              <a:buNone/>
            </a:pPr>
            <a:r>
              <a:rPr lang="en-US" sz="920" dirty="0">
                <a:solidFill>
                  <a:srgbClr val="FFFFFF"/>
                </a:solidFill>
                <a:latin typeface="Courier New" pitchFamily="34" charset="0"/>
                <a:ea typeface="Courier New" pitchFamily="34" charset="-122"/>
                <a:cs typeface="Courier New" pitchFamily="34" charset="-120"/>
              </a:rPr>
              <a:t>report-demo/</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public/</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index.html</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report.js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styles.css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src/</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server.js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config.js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db.js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routes/enose.js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services/mqttBridge.js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scripts/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init-pg-schema.js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check-*.js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 export-report-docx.js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README.md</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.env.example</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package.json</a:t>
            </a:r>
            <a:endParaRPr lang="en-US" sz="920" dirty="0"/>
          </a:p>
        </p:txBody>
      </p:sp>
      <p:sp>
        <p:nvSpPr>
          <p:cNvPr id="9" name="Shape 5"/>
          <p:cNvSpPr/>
          <p:nvPr/>
        </p:nvSpPr>
        <p:spPr>
          <a:xfrm>
            <a:off x="4919472" y="1783080"/>
            <a:ext cx="3566160" cy="932688"/>
          </a:xfrm>
          <a:prstGeom prst="roundRect">
            <a:avLst>
              <a:gd name="adj" fmla="val 7843"/>
            </a:avLst>
          </a:prstGeom>
          <a:solidFill>
            <a:srgbClr val="FFFFFF"/>
          </a:solidFill>
          <a:ln w="12700">
            <a:solidFill>
              <a:srgbClr val="E5E7EB"/>
            </a:solidFill>
            <a:prstDash val="solid"/>
          </a:ln>
        </p:spPr>
      </p:sp>
      <p:sp>
        <p:nvSpPr>
          <p:cNvPr id="10" name="Shape 6"/>
          <p:cNvSpPr/>
          <p:nvPr/>
        </p:nvSpPr>
        <p:spPr>
          <a:xfrm>
            <a:off x="4919472" y="1783080"/>
            <a:ext cx="64008" cy="932688"/>
          </a:xfrm>
          <a:prstGeom prst="rect">
            <a:avLst/>
          </a:prstGeom>
          <a:solidFill>
            <a:srgbClr val="1D4ED8"/>
          </a:solidFill>
          <a:ln w="12700">
            <a:solidFill>
              <a:srgbClr val="1D4ED8"/>
            </a:solidFill>
            <a:prstDash val="solid"/>
          </a:ln>
        </p:spPr>
      </p:sp>
      <p:sp>
        <p:nvSpPr>
          <p:cNvPr id="11" name="Text 7"/>
          <p:cNvSpPr/>
          <p:nvPr/>
        </p:nvSpPr>
        <p:spPr>
          <a:xfrm>
            <a:off x="5084064" y="1892808"/>
            <a:ext cx="3246120" cy="228600"/>
          </a:xfrm>
          <a:prstGeom prst="rect">
            <a:avLst/>
          </a:prstGeom>
          <a:noFill/>
          <a:ln/>
        </p:spPr>
        <p:txBody>
          <a:bodyPr wrap="square" lIns="0" tIns="0" rIns="0" bIns="0" rtlCol="0" anchor="ctr">
            <a:normAutofit/>
          </a:bodyPr>
          <a:lstStyle/>
          <a:p>
            <a:pPr indent="0" marL="0">
              <a:buNone/>
            </a:pPr>
            <a:r>
              <a:rPr lang="en-US" sz="1150" b="1" dirty="0">
                <a:solidFill>
                  <a:srgbClr val="1D4ED8"/>
                </a:solidFill>
                <a:latin typeface="Arial" pitchFamily="34" charset="0"/>
                <a:ea typeface="Arial" pitchFamily="34" charset="-122"/>
                <a:cs typeface="Arial" pitchFamily="34" charset="-120"/>
              </a:rPr>
              <a:t>public/</a:t>
            </a:r>
            <a:endParaRPr lang="en-US" sz="1150" dirty="0"/>
          </a:p>
        </p:txBody>
      </p:sp>
      <p:sp>
        <p:nvSpPr>
          <p:cNvPr id="12" name="Text 8"/>
          <p:cNvSpPr/>
          <p:nvPr/>
        </p:nvSpPr>
        <p:spPr>
          <a:xfrm>
            <a:off x="5084064" y="2194560"/>
            <a:ext cx="3246120" cy="429768"/>
          </a:xfrm>
          <a:prstGeom prst="rect">
            <a:avLst/>
          </a:prstGeom>
          <a:noFill/>
          <a:ln/>
        </p:spPr>
        <p:txBody>
          <a:bodyPr wrap="square" lIns="254" tIns="254" rIns="254" bIns="254" rtlCol="0" anchor="t">
            <a:normAutofit/>
          </a:bodyPr>
          <a:lstStyle/>
          <a:p>
            <a:pPr indent="0" marL="0">
              <a:buNone/>
            </a:pPr>
            <a:r>
              <a:rPr lang="en-US" sz="1060" dirty="0">
                <a:solidFill>
                  <a:srgbClr val="1F2937"/>
                </a:solidFill>
                <a:latin typeface="Arial" pitchFamily="34" charset="0"/>
                <a:ea typeface="Arial" pitchFamily="34" charset="-122"/>
                <a:cs typeface="Arial" pitchFamily="34" charset="-120"/>
              </a:rPr>
              <a:t>UI dashboard, charts, history, CRUD form</a:t>
            </a:r>
            <a:endParaRPr lang="en-US" sz="1060" dirty="0"/>
          </a:p>
        </p:txBody>
      </p:sp>
      <p:sp>
        <p:nvSpPr>
          <p:cNvPr id="13" name="Shape 9"/>
          <p:cNvSpPr/>
          <p:nvPr/>
        </p:nvSpPr>
        <p:spPr>
          <a:xfrm>
            <a:off x="4919472" y="2907792"/>
            <a:ext cx="3566160" cy="932688"/>
          </a:xfrm>
          <a:prstGeom prst="roundRect">
            <a:avLst>
              <a:gd name="adj" fmla="val 7843"/>
            </a:avLst>
          </a:prstGeom>
          <a:solidFill>
            <a:srgbClr val="FFFFFF"/>
          </a:solidFill>
          <a:ln w="12700">
            <a:solidFill>
              <a:srgbClr val="E5E7EB"/>
            </a:solidFill>
            <a:prstDash val="solid"/>
          </a:ln>
        </p:spPr>
      </p:sp>
      <p:sp>
        <p:nvSpPr>
          <p:cNvPr id="14" name="Shape 10"/>
          <p:cNvSpPr/>
          <p:nvPr/>
        </p:nvSpPr>
        <p:spPr>
          <a:xfrm>
            <a:off x="4919472" y="2907792"/>
            <a:ext cx="64008" cy="932688"/>
          </a:xfrm>
          <a:prstGeom prst="rect">
            <a:avLst/>
          </a:prstGeom>
          <a:solidFill>
            <a:srgbClr val="C8102E"/>
          </a:solidFill>
          <a:ln w="12700">
            <a:solidFill>
              <a:srgbClr val="C8102E"/>
            </a:solidFill>
            <a:prstDash val="solid"/>
          </a:ln>
        </p:spPr>
      </p:sp>
      <p:sp>
        <p:nvSpPr>
          <p:cNvPr id="15" name="Text 11"/>
          <p:cNvSpPr/>
          <p:nvPr/>
        </p:nvSpPr>
        <p:spPr>
          <a:xfrm>
            <a:off x="5084064" y="3017520"/>
            <a:ext cx="324612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src/</a:t>
            </a:r>
            <a:endParaRPr lang="en-US" sz="1150" dirty="0"/>
          </a:p>
        </p:txBody>
      </p:sp>
      <p:sp>
        <p:nvSpPr>
          <p:cNvPr id="16" name="Text 12"/>
          <p:cNvSpPr/>
          <p:nvPr/>
        </p:nvSpPr>
        <p:spPr>
          <a:xfrm>
            <a:off x="5084064" y="3319272"/>
            <a:ext cx="3246120" cy="429768"/>
          </a:xfrm>
          <a:prstGeom prst="rect">
            <a:avLst/>
          </a:prstGeom>
          <a:noFill/>
          <a:ln/>
        </p:spPr>
        <p:txBody>
          <a:bodyPr wrap="square" lIns="254" tIns="254" rIns="254" bIns="254" rtlCol="0" anchor="t">
            <a:normAutofit/>
          </a:bodyPr>
          <a:lstStyle/>
          <a:p>
            <a:pPr indent="0" marL="0">
              <a:buNone/>
            </a:pPr>
            <a:r>
              <a:rPr lang="en-US" sz="1060" dirty="0">
                <a:solidFill>
                  <a:srgbClr val="1F2937"/>
                </a:solidFill>
                <a:latin typeface="Arial" pitchFamily="34" charset="0"/>
                <a:ea typeface="Arial" pitchFamily="34" charset="-122"/>
                <a:cs typeface="Arial" pitchFamily="34" charset="-120"/>
              </a:rPr>
              <a:t>Express API, MQTT bridge, DB models</a:t>
            </a:r>
            <a:endParaRPr lang="en-US" sz="1060" dirty="0"/>
          </a:p>
        </p:txBody>
      </p:sp>
      <p:sp>
        <p:nvSpPr>
          <p:cNvPr id="17" name="Shape 13"/>
          <p:cNvSpPr/>
          <p:nvPr/>
        </p:nvSpPr>
        <p:spPr>
          <a:xfrm>
            <a:off x="4919472" y="4032504"/>
            <a:ext cx="3566160" cy="932688"/>
          </a:xfrm>
          <a:prstGeom prst="roundRect">
            <a:avLst>
              <a:gd name="adj" fmla="val 7843"/>
            </a:avLst>
          </a:prstGeom>
          <a:solidFill>
            <a:srgbClr val="FFFFFF"/>
          </a:solidFill>
          <a:ln w="12700">
            <a:solidFill>
              <a:srgbClr val="E5E7EB"/>
            </a:solidFill>
            <a:prstDash val="solid"/>
          </a:ln>
        </p:spPr>
      </p:sp>
      <p:sp>
        <p:nvSpPr>
          <p:cNvPr id="18" name="Shape 14"/>
          <p:cNvSpPr/>
          <p:nvPr/>
        </p:nvSpPr>
        <p:spPr>
          <a:xfrm>
            <a:off x="4919472" y="4032504"/>
            <a:ext cx="64008" cy="932688"/>
          </a:xfrm>
          <a:prstGeom prst="rect">
            <a:avLst/>
          </a:prstGeom>
          <a:solidFill>
            <a:srgbClr val="0F766E"/>
          </a:solidFill>
          <a:ln w="12700">
            <a:solidFill>
              <a:srgbClr val="0F766E"/>
            </a:solidFill>
            <a:prstDash val="solid"/>
          </a:ln>
        </p:spPr>
      </p:sp>
      <p:sp>
        <p:nvSpPr>
          <p:cNvPr id="19" name="Text 15"/>
          <p:cNvSpPr/>
          <p:nvPr/>
        </p:nvSpPr>
        <p:spPr>
          <a:xfrm>
            <a:off x="5084064" y="4142232"/>
            <a:ext cx="3246120"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scripts/</a:t>
            </a:r>
            <a:endParaRPr lang="en-US" sz="1150" dirty="0"/>
          </a:p>
        </p:txBody>
      </p:sp>
      <p:sp>
        <p:nvSpPr>
          <p:cNvPr id="20" name="Text 16"/>
          <p:cNvSpPr/>
          <p:nvPr/>
        </p:nvSpPr>
        <p:spPr>
          <a:xfrm>
            <a:off x="5084064" y="4443984"/>
            <a:ext cx="3246120" cy="429768"/>
          </a:xfrm>
          <a:prstGeom prst="rect">
            <a:avLst/>
          </a:prstGeom>
          <a:noFill/>
          <a:ln/>
        </p:spPr>
        <p:txBody>
          <a:bodyPr wrap="square" lIns="254" tIns="254" rIns="254" bIns="254" rtlCol="0" anchor="t">
            <a:normAutofit/>
          </a:bodyPr>
          <a:lstStyle/>
          <a:p>
            <a:pPr indent="0" marL="0">
              <a:buNone/>
            </a:pPr>
            <a:r>
              <a:rPr lang="en-US" sz="1060" dirty="0">
                <a:solidFill>
                  <a:srgbClr val="1F2937"/>
                </a:solidFill>
                <a:latin typeface="Arial" pitchFamily="34" charset="0"/>
                <a:ea typeface="Arial" pitchFamily="34" charset="-122"/>
                <a:cs typeface="Arial" pitchFamily="34" charset="-120"/>
              </a:rPr>
              <a:t>Init schema, kiểm tra dữ liệu, export báo cáo</a:t>
            </a:r>
            <a:endParaRPr lang="en-US" sz="1060" dirty="0"/>
          </a:p>
        </p:txBody>
      </p:sp>
      <p:sp>
        <p:nvSpPr>
          <p:cNvPr id="21" name="Shape 17"/>
          <p:cNvSpPr/>
          <p:nvPr/>
        </p:nvSpPr>
        <p:spPr>
          <a:xfrm>
            <a:off x="4919472" y="5157216"/>
            <a:ext cx="3566160" cy="777240"/>
          </a:xfrm>
          <a:prstGeom prst="roundRect">
            <a:avLst>
              <a:gd name="adj" fmla="val 9412"/>
            </a:avLst>
          </a:prstGeom>
          <a:solidFill>
            <a:srgbClr val="FFFFFF"/>
          </a:solidFill>
          <a:ln w="12700">
            <a:solidFill>
              <a:srgbClr val="E5E7EB"/>
            </a:solidFill>
            <a:prstDash val="solid"/>
          </a:ln>
        </p:spPr>
      </p:sp>
      <p:sp>
        <p:nvSpPr>
          <p:cNvPr id="22" name="Shape 18"/>
          <p:cNvSpPr/>
          <p:nvPr/>
        </p:nvSpPr>
        <p:spPr>
          <a:xfrm>
            <a:off x="4919472" y="5157216"/>
            <a:ext cx="64008" cy="777240"/>
          </a:xfrm>
          <a:prstGeom prst="rect">
            <a:avLst/>
          </a:prstGeom>
          <a:solidFill>
            <a:srgbClr val="EA580C"/>
          </a:solidFill>
          <a:ln w="12700">
            <a:solidFill>
              <a:srgbClr val="EA580C"/>
            </a:solidFill>
            <a:prstDash val="solid"/>
          </a:ln>
        </p:spPr>
      </p:sp>
      <p:sp>
        <p:nvSpPr>
          <p:cNvPr id="23" name="Text 19"/>
          <p:cNvSpPr/>
          <p:nvPr/>
        </p:nvSpPr>
        <p:spPr>
          <a:xfrm>
            <a:off x="5084064" y="5266944"/>
            <a:ext cx="3246120" cy="228600"/>
          </a:xfrm>
          <a:prstGeom prst="rect">
            <a:avLst/>
          </a:prstGeom>
          <a:noFill/>
          <a:ln/>
        </p:spPr>
        <p:txBody>
          <a:bodyPr wrap="square" lIns="0" tIns="0" rIns="0" bIns="0" rtlCol="0" anchor="ctr">
            <a:normAutofit/>
          </a:bodyPr>
          <a:lstStyle/>
          <a:p>
            <a:pPr indent="0" marL="0">
              <a:buNone/>
            </a:pPr>
            <a:r>
              <a:rPr lang="en-US" sz="1150" b="1" dirty="0">
                <a:solidFill>
                  <a:srgbClr val="EA580C"/>
                </a:solidFill>
                <a:latin typeface="Arial" pitchFamily="34" charset="0"/>
                <a:ea typeface="Arial" pitchFamily="34" charset="-122"/>
                <a:cs typeface="Arial" pitchFamily="34" charset="-120"/>
              </a:rPr>
              <a:t>README / .env / package</a:t>
            </a:r>
            <a:endParaRPr lang="en-US" sz="1150" dirty="0"/>
          </a:p>
        </p:txBody>
      </p:sp>
      <p:sp>
        <p:nvSpPr>
          <p:cNvPr id="24" name="Text 20"/>
          <p:cNvSpPr/>
          <p:nvPr/>
        </p:nvSpPr>
        <p:spPr>
          <a:xfrm>
            <a:off x="5084064" y="5568696"/>
            <a:ext cx="3246120" cy="274320"/>
          </a:xfrm>
          <a:prstGeom prst="rect">
            <a:avLst/>
          </a:prstGeom>
          <a:noFill/>
          <a:ln/>
        </p:spPr>
        <p:txBody>
          <a:bodyPr wrap="square" lIns="254" tIns="254" rIns="254" bIns="254" rtlCol="0" anchor="t">
            <a:normAutofit/>
          </a:bodyPr>
          <a:lstStyle/>
          <a:p>
            <a:pPr indent="0" marL="0">
              <a:buNone/>
            </a:pPr>
            <a:r>
              <a:rPr lang="en-US" sz="980" dirty="0">
                <a:solidFill>
                  <a:srgbClr val="1F2937"/>
                </a:solidFill>
                <a:latin typeface="Arial" pitchFamily="34" charset="0"/>
                <a:ea typeface="Arial" pitchFamily="34" charset="-122"/>
                <a:cs typeface="Arial" pitchFamily="34" charset="-120"/>
              </a:rPr>
              <a:t>Hướng dẫn chạy, biến môi trường, dependency</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hust_media/ppt/media/image11.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Backend chính: Express, config và database</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Server giữ vai trò entrypoint, gom cấu hình và khởi tạo kết nối dữ liệu.</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07</a:t>
            </a:r>
            <a:endParaRPr lang="en-US" sz="850" dirty="0"/>
          </a:p>
        </p:txBody>
      </p:sp>
      <p:sp>
        <p:nvSpPr>
          <p:cNvPr id="7" name="Shape 3"/>
          <p:cNvSpPr/>
          <p:nvPr/>
        </p:nvSpPr>
        <p:spPr>
          <a:xfrm>
            <a:off x="749808" y="1737360"/>
            <a:ext cx="2395728" cy="1920240"/>
          </a:xfrm>
          <a:prstGeom prst="roundRect">
            <a:avLst>
              <a:gd name="adj" fmla="val 3810"/>
            </a:avLst>
          </a:prstGeom>
          <a:solidFill>
            <a:srgbClr val="FFF1F2"/>
          </a:solidFill>
          <a:ln w="12700">
            <a:solidFill>
              <a:srgbClr val="E5E7EB"/>
            </a:solidFill>
            <a:prstDash val="solid"/>
          </a:ln>
        </p:spPr>
      </p:sp>
      <p:sp>
        <p:nvSpPr>
          <p:cNvPr id="8" name="Shape 4"/>
          <p:cNvSpPr/>
          <p:nvPr/>
        </p:nvSpPr>
        <p:spPr>
          <a:xfrm>
            <a:off x="749808" y="1737360"/>
            <a:ext cx="64008" cy="1920240"/>
          </a:xfrm>
          <a:prstGeom prst="rect">
            <a:avLst/>
          </a:prstGeom>
          <a:solidFill>
            <a:srgbClr val="C8102E"/>
          </a:solidFill>
          <a:ln w="12700">
            <a:solidFill>
              <a:srgbClr val="C8102E"/>
            </a:solidFill>
            <a:prstDash val="solid"/>
          </a:ln>
        </p:spPr>
      </p:sp>
      <p:sp>
        <p:nvSpPr>
          <p:cNvPr id="9" name="Text 5"/>
          <p:cNvSpPr/>
          <p:nvPr/>
        </p:nvSpPr>
        <p:spPr>
          <a:xfrm>
            <a:off x="914400" y="1847088"/>
            <a:ext cx="2075688"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server.js</a:t>
            </a:r>
            <a:endParaRPr lang="en-US" sz="1150" dirty="0"/>
          </a:p>
        </p:txBody>
      </p:sp>
      <p:sp>
        <p:nvSpPr>
          <p:cNvPr id="10" name="Text 6"/>
          <p:cNvSpPr/>
          <p:nvPr/>
        </p:nvSpPr>
        <p:spPr>
          <a:xfrm>
            <a:off x="914400" y="2148840"/>
            <a:ext cx="2075688" cy="1417320"/>
          </a:xfrm>
          <a:prstGeom prst="rect">
            <a:avLst/>
          </a:prstGeom>
          <a:noFill/>
          <a:ln/>
        </p:spPr>
        <p:txBody>
          <a:bodyPr wrap="square" lIns="254" tIns="254" rIns="254" bIns="254" rtlCol="0" anchor="t">
            <a:normAutofit/>
          </a:bodyPr>
          <a:lstStyle/>
          <a:p>
            <a:pPr indent="0" marL="0">
              <a:buNone/>
            </a:pPr>
            <a:r>
              <a:rPr lang="en-US" sz="1120" dirty="0">
                <a:solidFill>
                  <a:srgbClr val="1F2937"/>
                </a:solidFill>
                <a:latin typeface="Arial" pitchFamily="34" charset="0"/>
                <a:ea typeface="Arial" pitchFamily="34" charset="-122"/>
                <a:cs typeface="Arial" pitchFamily="34" charset="-120"/>
              </a:rPr>
              <a:t>Khởi tạo Express</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Static public/</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Mount /api/enose</a:t>
            </a:r>
            <a:endParaRPr lang="en-US" sz="1120" dirty="0"/>
          </a:p>
        </p:txBody>
      </p:sp>
      <p:sp>
        <p:nvSpPr>
          <p:cNvPr id="11" name="Shape 7"/>
          <p:cNvSpPr/>
          <p:nvPr/>
        </p:nvSpPr>
        <p:spPr>
          <a:xfrm>
            <a:off x="3538728" y="1737360"/>
            <a:ext cx="2395728" cy="1920240"/>
          </a:xfrm>
          <a:prstGeom prst="roundRect">
            <a:avLst>
              <a:gd name="adj" fmla="val 3810"/>
            </a:avLst>
          </a:prstGeom>
          <a:solidFill>
            <a:srgbClr val="FFFBEB"/>
          </a:solidFill>
          <a:ln w="12700">
            <a:solidFill>
              <a:srgbClr val="E5E7EB"/>
            </a:solidFill>
            <a:prstDash val="solid"/>
          </a:ln>
        </p:spPr>
      </p:sp>
      <p:sp>
        <p:nvSpPr>
          <p:cNvPr id="12" name="Shape 8"/>
          <p:cNvSpPr/>
          <p:nvPr/>
        </p:nvSpPr>
        <p:spPr>
          <a:xfrm>
            <a:off x="3538728" y="1737360"/>
            <a:ext cx="64008" cy="1920240"/>
          </a:xfrm>
          <a:prstGeom prst="rect">
            <a:avLst/>
          </a:prstGeom>
          <a:solidFill>
            <a:srgbClr val="F2B705"/>
          </a:solidFill>
          <a:ln w="12700">
            <a:solidFill>
              <a:srgbClr val="F2B705"/>
            </a:solidFill>
            <a:prstDash val="solid"/>
          </a:ln>
        </p:spPr>
      </p:sp>
      <p:sp>
        <p:nvSpPr>
          <p:cNvPr id="13" name="Text 9"/>
          <p:cNvSpPr/>
          <p:nvPr/>
        </p:nvSpPr>
        <p:spPr>
          <a:xfrm>
            <a:off x="3703320" y="1847088"/>
            <a:ext cx="2075688" cy="228600"/>
          </a:xfrm>
          <a:prstGeom prst="rect">
            <a:avLst/>
          </a:prstGeom>
          <a:noFill/>
          <a:ln/>
        </p:spPr>
        <p:txBody>
          <a:bodyPr wrap="square" lIns="0" tIns="0" rIns="0" bIns="0" rtlCol="0" anchor="ctr">
            <a:normAutofit/>
          </a:bodyPr>
          <a:lstStyle/>
          <a:p>
            <a:pPr indent="0" marL="0">
              <a:buNone/>
            </a:pPr>
            <a:r>
              <a:rPr lang="en-US" sz="1150" b="1" dirty="0">
                <a:solidFill>
                  <a:srgbClr val="A16207"/>
                </a:solidFill>
                <a:latin typeface="Arial" pitchFamily="34" charset="0"/>
                <a:ea typeface="Arial" pitchFamily="34" charset="-122"/>
                <a:cs typeface="Arial" pitchFamily="34" charset="-120"/>
              </a:rPr>
              <a:t>config.js</a:t>
            </a:r>
            <a:endParaRPr lang="en-US" sz="1150" dirty="0"/>
          </a:p>
        </p:txBody>
      </p:sp>
      <p:sp>
        <p:nvSpPr>
          <p:cNvPr id="14" name="Text 10"/>
          <p:cNvSpPr/>
          <p:nvPr/>
        </p:nvSpPr>
        <p:spPr>
          <a:xfrm>
            <a:off x="3703320" y="2148840"/>
            <a:ext cx="2075688" cy="1417320"/>
          </a:xfrm>
          <a:prstGeom prst="rect">
            <a:avLst/>
          </a:prstGeom>
          <a:noFill/>
          <a:ln/>
        </p:spPr>
        <p:txBody>
          <a:bodyPr wrap="square" lIns="254" tIns="254" rIns="254" bIns="254" rtlCol="0" anchor="t">
            <a:normAutofit/>
          </a:bodyPr>
          <a:lstStyle/>
          <a:p>
            <a:pPr indent="0" marL="0">
              <a:buNone/>
            </a:pPr>
            <a:r>
              <a:rPr lang="en-US" sz="1120" dirty="0">
                <a:solidFill>
                  <a:srgbClr val="1F2937"/>
                </a:solidFill>
                <a:latin typeface="Arial" pitchFamily="34" charset="0"/>
                <a:ea typeface="Arial" pitchFamily="34" charset="-122"/>
                <a:cs typeface="Arial" pitchFamily="34" charset="-120"/>
              </a:rPr>
              <a:t>Đọc .env</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PORT, SQL, Mongo</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MQTT broker</a:t>
            </a:r>
            <a:endParaRPr lang="en-US" sz="1120" dirty="0"/>
          </a:p>
        </p:txBody>
      </p:sp>
      <p:sp>
        <p:nvSpPr>
          <p:cNvPr id="15" name="Shape 11"/>
          <p:cNvSpPr/>
          <p:nvPr/>
        </p:nvSpPr>
        <p:spPr>
          <a:xfrm>
            <a:off x="6327648" y="1737360"/>
            <a:ext cx="2395728" cy="1920240"/>
          </a:xfrm>
          <a:prstGeom prst="roundRect">
            <a:avLst>
              <a:gd name="adj" fmla="val 3810"/>
            </a:avLst>
          </a:prstGeom>
          <a:solidFill>
            <a:srgbClr val="F0FDFA"/>
          </a:solidFill>
          <a:ln w="12700">
            <a:solidFill>
              <a:srgbClr val="E5E7EB"/>
            </a:solidFill>
            <a:prstDash val="solid"/>
          </a:ln>
        </p:spPr>
      </p:sp>
      <p:sp>
        <p:nvSpPr>
          <p:cNvPr id="16" name="Shape 12"/>
          <p:cNvSpPr/>
          <p:nvPr/>
        </p:nvSpPr>
        <p:spPr>
          <a:xfrm>
            <a:off x="6327648" y="1737360"/>
            <a:ext cx="64008" cy="1920240"/>
          </a:xfrm>
          <a:prstGeom prst="rect">
            <a:avLst/>
          </a:prstGeom>
          <a:solidFill>
            <a:srgbClr val="0F766E"/>
          </a:solidFill>
          <a:ln w="12700">
            <a:solidFill>
              <a:srgbClr val="0F766E"/>
            </a:solidFill>
            <a:prstDash val="solid"/>
          </a:ln>
        </p:spPr>
      </p:sp>
      <p:sp>
        <p:nvSpPr>
          <p:cNvPr id="17" name="Text 13"/>
          <p:cNvSpPr/>
          <p:nvPr/>
        </p:nvSpPr>
        <p:spPr>
          <a:xfrm>
            <a:off x="6492240" y="1847088"/>
            <a:ext cx="2075688"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db.js</a:t>
            </a:r>
            <a:endParaRPr lang="en-US" sz="1150" dirty="0"/>
          </a:p>
        </p:txBody>
      </p:sp>
      <p:sp>
        <p:nvSpPr>
          <p:cNvPr id="18" name="Text 14"/>
          <p:cNvSpPr/>
          <p:nvPr/>
        </p:nvSpPr>
        <p:spPr>
          <a:xfrm>
            <a:off x="6492240" y="2148840"/>
            <a:ext cx="2075688" cy="1417320"/>
          </a:xfrm>
          <a:prstGeom prst="rect">
            <a:avLst/>
          </a:prstGeom>
          <a:noFill/>
          <a:ln/>
        </p:spPr>
        <p:txBody>
          <a:bodyPr wrap="square" lIns="254" tIns="254" rIns="254" bIns="254" rtlCol="0" anchor="t">
            <a:normAutofit/>
          </a:bodyPr>
          <a:lstStyle/>
          <a:p>
            <a:pPr indent="0" marL="0">
              <a:buNone/>
            </a:pPr>
            <a:r>
              <a:rPr lang="en-US" sz="1120" dirty="0">
                <a:solidFill>
                  <a:srgbClr val="1F2937"/>
                </a:solidFill>
                <a:latin typeface="Arial" pitchFamily="34" charset="0"/>
                <a:ea typeface="Arial" pitchFamily="34" charset="-122"/>
                <a:cs typeface="Arial" pitchFamily="34" charset="-120"/>
              </a:rPr>
              <a:t>Knex SQL</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Mongoose models</a:t>
            </a:r>
            <a:endParaRPr lang="en-US" sz="1120" dirty="0"/>
          </a:p>
          <a:p>
            <a:pPr indent="0" marL="0">
              <a:buNone/>
            </a:pPr>
            <a:r>
              <a:rPr lang="en-US" sz="1120" dirty="0">
                <a:solidFill>
                  <a:srgbClr val="1F2937"/>
                </a:solidFill>
                <a:latin typeface="Arial" pitchFamily="34" charset="0"/>
                <a:ea typeface="Arial" pitchFamily="34" charset="-122"/>
                <a:cs typeface="Arial" pitchFamily="34" charset="-120"/>
              </a:rPr>
              <a:t>Mongo auth fallback</a:t>
            </a:r>
            <a:endParaRPr lang="en-US" sz="1120" dirty="0"/>
          </a:p>
        </p:txBody>
      </p:sp>
      <p:sp>
        <p:nvSpPr>
          <p:cNvPr id="19" name="Shape 15"/>
          <p:cNvSpPr/>
          <p:nvPr/>
        </p:nvSpPr>
        <p:spPr>
          <a:xfrm>
            <a:off x="3182112" y="2624328"/>
            <a:ext cx="310896" cy="0"/>
          </a:xfrm>
          <a:prstGeom prst="line">
            <a:avLst/>
          </a:prstGeom>
          <a:noFill/>
          <a:ln w="25400">
            <a:solidFill>
              <a:srgbClr val="C8102E"/>
            </a:solidFill>
            <a:prstDash val="solid"/>
            <a:headEnd type="none"/>
            <a:tailEnd type="triangle"/>
          </a:ln>
        </p:spPr>
      </p:sp>
      <p:sp>
        <p:nvSpPr>
          <p:cNvPr id="20" name="Shape 16"/>
          <p:cNvSpPr/>
          <p:nvPr/>
        </p:nvSpPr>
        <p:spPr>
          <a:xfrm>
            <a:off x="5971032" y="2624328"/>
            <a:ext cx="310896" cy="0"/>
          </a:xfrm>
          <a:prstGeom prst="line">
            <a:avLst/>
          </a:prstGeom>
          <a:noFill/>
          <a:ln w="25400">
            <a:solidFill>
              <a:srgbClr val="C8102E"/>
            </a:solidFill>
            <a:prstDash val="solid"/>
            <a:headEnd type="none"/>
            <a:tailEnd type="triangle"/>
          </a:ln>
        </p:spPr>
      </p:sp>
      <p:sp>
        <p:nvSpPr>
          <p:cNvPr id="21" name="Shape 17"/>
          <p:cNvSpPr/>
          <p:nvPr/>
        </p:nvSpPr>
        <p:spPr>
          <a:xfrm>
            <a:off x="960120" y="4251960"/>
            <a:ext cx="7269480" cy="1024128"/>
          </a:xfrm>
          <a:prstGeom prst="roundRect">
            <a:avLst>
              <a:gd name="adj" fmla="val 5357"/>
            </a:avLst>
          </a:prstGeom>
          <a:solidFill>
            <a:srgbClr val="111827"/>
          </a:solidFill>
          <a:ln w="12700">
            <a:solidFill>
              <a:srgbClr val="111827"/>
            </a:solidFill>
            <a:prstDash val="solid"/>
          </a:ln>
        </p:spPr>
      </p:sp>
      <p:sp>
        <p:nvSpPr>
          <p:cNvPr id="22" name="Text 18"/>
          <p:cNvSpPr/>
          <p:nvPr/>
        </p:nvSpPr>
        <p:spPr>
          <a:xfrm>
            <a:off x="1069848" y="4343400"/>
            <a:ext cx="7050024" cy="859536"/>
          </a:xfrm>
          <a:prstGeom prst="rect">
            <a:avLst/>
          </a:prstGeom>
          <a:noFill/>
          <a:ln/>
        </p:spPr>
        <p:txBody>
          <a:bodyPr wrap="square" lIns="0" tIns="0" rIns="0" bIns="0" rtlCol="0" anchor="ctr">
            <a:normAutofit/>
          </a:bodyPr>
          <a:lstStyle/>
          <a:p>
            <a:pPr indent="0" marL="0">
              <a:buNone/>
            </a:pPr>
            <a:r>
              <a:rPr lang="en-US" sz="870" dirty="0">
                <a:solidFill>
                  <a:srgbClr val="FFFFFF"/>
                </a:solidFill>
                <a:latin typeface="Courier New" pitchFamily="34" charset="0"/>
                <a:ea typeface="Courier New" pitchFamily="34" charset="-122"/>
                <a:cs typeface="Courier New" pitchFamily="34" charset="-120"/>
              </a:rPr>
              <a:t>app.use('/api/enose', createEnoseRouter(db, mqttClient))</a:t>
            </a:r>
            <a:endParaRPr lang="en-US" sz="870" dirty="0"/>
          </a:p>
          <a:p>
            <a:pPr indent="0" marL="0">
              <a:buNone/>
            </a:pPr>
            <a:r>
              <a:rPr lang="en-US" sz="870" dirty="0">
                <a:solidFill>
                  <a:srgbClr val="FFFFFF"/>
                </a:solidFill>
                <a:latin typeface="Courier New" pitchFamily="34" charset="0"/>
                <a:ea typeface="Courier New" pitchFamily="34" charset="-122"/>
                <a:cs typeface="Courier New" pitchFamily="34" charset="-120"/>
              </a:rPr>
              <a:t>app.get('/config.json', ...)</a:t>
            </a:r>
            <a:endParaRPr lang="en-US" sz="870" dirty="0"/>
          </a:p>
          <a:p>
            <a:pPr indent="0" marL="0">
              <a:buNone/>
            </a:pPr>
            <a:r>
              <a:rPr lang="en-US" sz="870" dirty="0">
                <a:solidFill>
                  <a:srgbClr val="FFFFFF"/>
                </a:solidFill>
                <a:latin typeface="Courier New" pitchFamily="34" charset="0"/>
                <a:ea typeface="Courier New" pitchFamily="34" charset="-122"/>
                <a:cs typeface="Courier New" pitchFamily="34" charset="-120"/>
              </a:rPr>
              <a:t>db.connectMongo().finally(() =&gt; app.listen(PORT))</a:t>
            </a:r>
            <a:endParaRPr lang="en-US" sz="870" dirty="0"/>
          </a:p>
        </p:txBody>
      </p:sp>
      <p:sp>
        <p:nvSpPr>
          <p:cNvPr id="23" name="Shape 19"/>
          <p:cNvSpPr/>
          <p:nvPr/>
        </p:nvSpPr>
        <p:spPr>
          <a:xfrm>
            <a:off x="1097280" y="5596128"/>
            <a:ext cx="6995160" cy="548640"/>
          </a:xfrm>
          <a:prstGeom prst="roundRect">
            <a:avLst>
              <a:gd name="adj" fmla="val 13333"/>
            </a:avLst>
          </a:prstGeom>
          <a:solidFill>
            <a:srgbClr val="F9FAFB"/>
          </a:solidFill>
          <a:ln w="12700">
            <a:solidFill>
              <a:srgbClr val="E5E7EB"/>
            </a:solidFill>
            <a:prstDash val="solid"/>
          </a:ln>
        </p:spPr>
      </p:sp>
      <p:sp>
        <p:nvSpPr>
          <p:cNvPr id="24" name="Shape 20"/>
          <p:cNvSpPr/>
          <p:nvPr/>
        </p:nvSpPr>
        <p:spPr>
          <a:xfrm>
            <a:off x="1097280" y="5596128"/>
            <a:ext cx="64008" cy="548640"/>
          </a:xfrm>
          <a:prstGeom prst="rect">
            <a:avLst/>
          </a:prstGeom>
          <a:solidFill>
            <a:srgbClr val="C8102E"/>
          </a:solidFill>
          <a:ln w="12700">
            <a:solidFill>
              <a:srgbClr val="C8102E"/>
            </a:solidFill>
            <a:prstDash val="solid"/>
          </a:ln>
        </p:spPr>
      </p:sp>
      <p:sp>
        <p:nvSpPr>
          <p:cNvPr id="25" name="Text 21"/>
          <p:cNvSpPr/>
          <p:nvPr/>
        </p:nvSpPr>
        <p:spPr>
          <a:xfrm>
            <a:off x="1261872" y="5705856"/>
            <a:ext cx="667512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Ý nghĩa</a:t>
            </a:r>
            <a:endParaRPr lang="en-US" sz="1150" dirty="0"/>
          </a:p>
        </p:txBody>
      </p:sp>
      <p:sp>
        <p:nvSpPr>
          <p:cNvPr id="26" name="Text 22"/>
          <p:cNvSpPr/>
          <p:nvPr/>
        </p:nvSpPr>
        <p:spPr>
          <a:xfrm>
            <a:off x="1261872" y="6007608"/>
            <a:ext cx="6675120" cy="45720"/>
          </a:xfrm>
          <a:prstGeom prst="rect">
            <a:avLst/>
          </a:prstGeom>
          <a:noFill/>
          <a:ln/>
        </p:spPr>
        <p:txBody>
          <a:bodyPr wrap="square" lIns="254" tIns="254" rIns="254" bIns="254" rtlCol="0" anchor="t">
            <a:normAutofit/>
          </a:bodyPr>
          <a:lstStyle/>
          <a:p>
            <a:pPr indent="0" marL="0">
              <a:buNone/>
            </a:pPr>
            <a:r>
              <a:rPr lang="en-US" sz="980" dirty="0">
                <a:solidFill>
                  <a:srgbClr val="1F2937"/>
                </a:solidFill>
                <a:latin typeface="Arial" pitchFamily="34" charset="0"/>
                <a:ea typeface="Arial" pitchFamily="34" charset="-122"/>
                <a:cs typeface="Arial" pitchFamily="34" charset="-120"/>
              </a:rPr>
              <a:t>Backend là lớp trung gian giúp frontend không cần biết trực tiếp MQTT, SQL hay MongoDB.</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hust_media/ppt/media/image8.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MQTT Bridge — trọng tâm kỹ thuật</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Bridge xử lý dữ liệu không đồng nhất từ thiết bị để dashboard đọc ổn định.</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08</a:t>
            </a:r>
            <a:endParaRPr lang="en-US" sz="850" dirty="0"/>
          </a:p>
        </p:txBody>
      </p:sp>
      <p:sp>
        <p:nvSpPr>
          <p:cNvPr id="7" name="Shape 3"/>
          <p:cNvSpPr/>
          <p:nvPr/>
        </p:nvSpPr>
        <p:spPr>
          <a:xfrm>
            <a:off x="640080" y="1645920"/>
            <a:ext cx="2761488" cy="1737360"/>
          </a:xfrm>
          <a:prstGeom prst="roundRect">
            <a:avLst>
              <a:gd name="adj" fmla="val 4211"/>
            </a:avLst>
          </a:prstGeom>
          <a:solidFill>
            <a:srgbClr val="FFF1F2"/>
          </a:solidFill>
          <a:ln w="12700">
            <a:solidFill>
              <a:srgbClr val="E5E7EB"/>
            </a:solidFill>
            <a:prstDash val="solid"/>
          </a:ln>
        </p:spPr>
      </p:sp>
      <p:sp>
        <p:nvSpPr>
          <p:cNvPr id="8" name="Shape 4"/>
          <p:cNvSpPr/>
          <p:nvPr/>
        </p:nvSpPr>
        <p:spPr>
          <a:xfrm>
            <a:off x="640080" y="1645920"/>
            <a:ext cx="64008" cy="1737360"/>
          </a:xfrm>
          <a:prstGeom prst="rect">
            <a:avLst/>
          </a:prstGeom>
          <a:solidFill>
            <a:srgbClr val="C8102E"/>
          </a:solidFill>
          <a:ln w="12700">
            <a:solidFill>
              <a:srgbClr val="C8102E"/>
            </a:solidFill>
            <a:prstDash val="solid"/>
          </a:ln>
        </p:spPr>
      </p:sp>
      <p:sp>
        <p:nvSpPr>
          <p:cNvPr id="9" name="Text 5"/>
          <p:cNvSpPr/>
          <p:nvPr/>
        </p:nvSpPr>
        <p:spPr>
          <a:xfrm>
            <a:off x="804672" y="1755648"/>
            <a:ext cx="2441448"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Subscribe topics</a:t>
            </a:r>
            <a:endParaRPr lang="en-US" sz="1150" dirty="0"/>
          </a:p>
        </p:txBody>
      </p:sp>
      <p:sp>
        <p:nvSpPr>
          <p:cNvPr id="10" name="Text 6"/>
          <p:cNvSpPr/>
          <p:nvPr/>
        </p:nvSpPr>
        <p:spPr>
          <a:xfrm>
            <a:off x="804672" y="2057400"/>
            <a:ext cx="2441448" cy="1234440"/>
          </a:xfrm>
          <a:prstGeom prst="rect">
            <a:avLst/>
          </a:prstGeom>
          <a:noFill/>
          <a:ln/>
        </p:spPr>
        <p:txBody>
          <a:bodyPr wrap="square" lIns="254" tIns="254" rIns="254" bIns="254" rtlCol="0" anchor="t">
            <a:normAutofit/>
          </a:bodyPr>
          <a:lstStyle/>
          <a:p>
            <a:pPr indent="0" marL="0">
              <a:buNone/>
            </a:pPr>
            <a:r>
              <a:rPr lang="en-US" sz="1060" dirty="0">
                <a:solidFill>
                  <a:srgbClr val="1F2937"/>
                </a:solidFill>
                <a:latin typeface="Arial" pitchFamily="34" charset="0"/>
                <a:ea typeface="Arial" pitchFamily="34" charset="-122"/>
                <a:cs typeface="Arial" pitchFamily="34" charset="-120"/>
              </a:rPr>
              <a:t>• /status</a:t>
            </a:r>
            <a:endParaRPr lang="en-US" sz="1060" dirty="0"/>
          </a:p>
          <a:p>
            <a:pPr indent="0" marL="0">
              <a:buNone/>
            </a:pPr>
            <a:r>
              <a:rPr lang="en-US" sz="1060" dirty="0">
                <a:solidFill>
                  <a:srgbClr val="1F2937"/>
                </a:solidFill>
                <a:latin typeface="Arial" pitchFamily="34" charset="0"/>
                <a:ea typeface="Arial" pitchFamily="34" charset="-122"/>
                <a:cs typeface="Arial" pitchFamily="34" charset="-120"/>
              </a:rPr>
              <a:t>• /sensor và /Sensor</a:t>
            </a:r>
            <a:endParaRPr lang="en-US" sz="1060" dirty="0"/>
          </a:p>
          <a:p>
            <a:pPr indent="0" marL="0">
              <a:buNone/>
            </a:pPr>
            <a:r>
              <a:rPr lang="en-US" sz="1060" dirty="0">
                <a:solidFill>
                  <a:srgbClr val="1F2937"/>
                </a:solidFill>
                <a:latin typeface="Arial" pitchFamily="34" charset="0"/>
                <a:ea typeface="Arial" pitchFamily="34" charset="-122"/>
                <a:cs typeface="Arial" pitchFamily="34" charset="-120"/>
              </a:rPr>
              <a:t>• /measurement/data</a:t>
            </a:r>
            <a:endParaRPr lang="en-US" sz="1060" dirty="0"/>
          </a:p>
          <a:p>
            <a:pPr indent="0" marL="0">
              <a:buNone/>
            </a:pPr>
            <a:r>
              <a:rPr lang="en-US" sz="1060" dirty="0">
                <a:solidFill>
                  <a:srgbClr val="1F2937"/>
                </a:solidFill>
                <a:latin typeface="Arial" pitchFamily="34" charset="0"/>
                <a:ea typeface="Arial" pitchFamily="34" charset="-122"/>
                <a:cs typeface="Arial" pitchFamily="34" charset="-120"/>
              </a:rPr>
              <a:t>• reconnectPeriod: 2000ms</a:t>
            </a:r>
            <a:endParaRPr lang="en-US" sz="1060" dirty="0"/>
          </a:p>
        </p:txBody>
      </p:sp>
      <p:sp>
        <p:nvSpPr>
          <p:cNvPr id="11" name="Shape 7"/>
          <p:cNvSpPr/>
          <p:nvPr/>
        </p:nvSpPr>
        <p:spPr>
          <a:xfrm>
            <a:off x="3639312" y="1645920"/>
            <a:ext cx="2331720" cy="1737360"/>
          </a:xfrm>
          <a:prstGeom prst="roundRect">
            <a:avLst>
              <a:gd name="adj" fmla="val 4211"/>
            </a:avLst>
          </a:prstGeom>
          <a:solidFill>
            <a:srgbClr val="FFFBEB"/>
          </a:solidFill>
          <a:ln w="12700">
            <a:solidFill>
              <a:srgbClr val="E5E7EB"/>
            </a:solidFill>
            <a:prstDash val="solid"/>
          </a:ln>
        </p:spPr>
      </p:sp>
      <p:sp>
        <p:nvSpPr>
          <p:cNvPr id="12" name="Shape 8"/>
          <p:cNvSpPr/>
          <p:nvPr/>
        </p:nvSpPr>
        <p:spPr>
          <a:xfrm>
            <a:off x="3639312" y="1645920"/>
            <a:ext cx="64008" cy="1737360"/>
          </a:xfrm>
          <a:prstGeom prst="rect">
            <a:avLst/>
          </a:prstGeom>
          <a:solidFill>
            <a:srgbClr val="F2B705"/>
          </a:solidFill>
          <a:ln w="12700">
            <a:solidFill>
              <a:srgbClr val="F2B705"/>
            </a:solidFill>
            <a:prstDash val="solid"/>
          </a:ln>
        </p:spPr>
      </p:sp>
      <p:sp>
        <p:nvSpPr>
          <p:cNvPr id="13" name="Text 9"/>
          <p:cNvSpPr/>
          <p:nvPr/>
        </p:nvSpPr>
        <p:spPr>
          <a:xfrm>
            <a:off x="3803904" y="1755648"/>
            <a:ext cx="2011680" cy="228600"/>
          </a:xfrm>
          <a:prstGeom prst="rect">
            <a:avLst/>
          </a:prstGeom>
          <a:noFill/>
          <a:ln/>
        </p:spPr>
        <p:txBody>
          <a:bodyPr wrap="square" lIns="0" tIns="0" rIns="0" bIns="0" rtlCol="0" anchor="ctr">
            <a:normAutofit/>
          </a:bodyPr>
          <a:lstStyle/>
          <a:p>
            <a:pPr indent="0" marL="0">
              <a:buNone/>
            </a:pPr>
            <a:r>
              <a:rPr lang="en-US" sz="1150" b="1" dirty="0">
                <a:solidFill>
                  <a:srgbClr val="A16207"/>
                </a:solidFill>
                <a:latin typeface="Arial" pitchFamily="34" charset="0"/>
                <a:ea typeface="Arial" pitchFamily="34" charset="-122"/>
                <a:cs typeface="Arial" pitchFamily="34" charset="-120"/>
              </a:rPr>
              <a:t>Normalize payload</a:t>
            </a:r>
            <a:endParaRPr lang="en-US" sz="1150" dirty="0"/>
          </a:p>
        </p:txBody>
      </p:sp>
      <p:sp>
        <p:nvSpPr>
          <p:cNvPr id="14" name="Text 10"/>
          <p:cNvSpPr/>
          <p:nvPr/>
        </p:nvSpPr>
        <p:spPr>
          <a:xfrm>
            <a:off x="3803904" y="2057400"/>
            <a:ext cx="2011680" cy="1234440"/>
          </a:xfrm>
          <a:prstGeom prst="rect">
            <a:avLst/>
          </a:prstGeom>
          <a:noFill/>
          <a:ln/>
        </p:spPr>
        <p:txBody>
          <a:bodyPr wrap="square" lIns="254" tIns="254" rIns="254" bIns="254" rtlCol="0" anchor="t">
            <a:normAutofit/>
          </a:bodyPr>
          <a:lstStyle/>
          <a:p>
            <a:pPr indent="0" marL="0">
              <a:buNone/>
            </a:pPr>
            <a:r>
              <a:rPr lang="en-US" sz="1020" dirty="0">
                <a:solidFill>
                  <a:srgbClr val="1F2937"/>
                </a:solidFill>
                <a:latin typeface="Arial" pitchFamily="34" charset="0"/>
                <a:ea typeface="Arial" pitchFamily="34" charset="-122"/>
                <a:cs typeface="Arial" pitchFamily="34" charset="-120"/>
              </a:rPr>
              <a:t>Gộp data/content, đọc adc[], values[], ADC0...ADC31, EtOH/VOC</a:t>
            </a:r>
            <a:endParaRPr lang="en-US" sz="1020" dirty="0"/>
          </a:p>
        </p:txBody>
      </p:sp>
      <p:sp>
        <p:nvSpPr>
          <p:cNvPr id="15" name="Shape 11"/>
          <p:cNvSpPr/>
          <p:nvPr/>
        </p:nvSpPr>
        <p:spPr>
          <a:xfrm>
            <a:off x="6199632" y="1645920"/>
            <a:ext cx="2331720" cy="1737360"/>
          </a:xfrm>
          <a:prstGeom prst="roundRect">
            <a:avLst>
              <a:gd name="adj" fmla="val 4211"/>
            </a:avLst>
          </a:prstGeom>
          <a:solidFill>
            <a:srgbClr val="F0FDFA"/>
          </a:solidFill>
          <a:ln w="12700">
            <a:solidFill>
              <a:srgbClr val="E5E7EB"/>
            </a:solidFill>
            <a:prstDash val="solid"/>
          </a:ln>
        </p:spPr>
      </p:sp>
      <p:sp>
        <p:nvSpPr>
          <p:cNvPr id="16" name="Shape 12"/>
          <p:cNvSpPr/>
          <p:nvPr/>
        </p:nvSpPr>
        <p:spPr>
          <a:xfrm>
            <a:off x="6199632" y="1645920"/>
            <a:ext cx="64008" cy="1737360"/>
          </a:xfrm>
          <a:prstGeom prst="rect">
            <a:avLst/>
          </a:prstGeom>
          <a:solidFill>
            <a:srgbClr val="0F766E"/>
          </a:solidFill>
          <a:ln w="12700">
            <a:solidFill>
              <a:srgbClr val="0F766E"/>
            </a:solidFill>
            <a:prstDash val="solid"/>
          </a:ln>
        </p:spPr>
      </p:sp>
      <p:sp>
        <p:nvSpPr>
          <p:cNvPr id="17" name="Text 13"/>
          <p:cNvSpPr/>
          <p:nvPr/>
        </p:nvSpPr>
        <p:spPr>
          <a:xfrm>
            <a:off x="6364224" y="1755648"/>
            <a:ext cx="2011680"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Store &amp; update</a:t>
            </a:r>
            <a:endParaRPr lang="en-US" sz="1150" dirty="0"/>
          </a:p>
        </p:txBody>
      </p:sp>
      <p:sp>
        <p:nvSpPr>
          <p:cNvPr id="18" name="Text 14"/>
          <p:cNvSpPr/>
          <p:nvPr/>
        </p:nvSpPr>
        <p:spPr>
          <a:xfrm>
            <a:off x="6364224" y="2057400"/>
            <a:ext cx="2011680" cy="1234440"/>
          </a:xfrm>
          <a:prstGeom prst="rect">
            <a:avLst/>
          </a:prstGeom>
          <a:noFill/>
          <a:ln/>
        </p:spPr>
        <p:txBody>
          <a:bodyPr wrap="square" lIns="254" tIns="254" rIns="254" bIns="254" rtlCol="0" anchor="t">
            <a:normAutofit/>
          </a:bodyPr>
          <a:lstStyle/>
          <a:p>
            <a:pPr indent="0" marL="0">
              <a:buNone/>
            </a:pPr>
            <a:r>
              <a:rPr lang="en-US" sz="1040" dirty="0">
                <a:solidFill>
                  <a:srgbClr val="1F2937"/>
                </a:solidFill>
                <a:latin typeface="Arial" pitchFamily="34" charset="0"/>
                <a:ea typeface="Arial" pitchFamily="34" charset="-122"/>
                <a:cs typeface="Arial" pitchFamily="34" charset="-120"/>
              </a:rPr>
              <a:t>Ghi Mongo sensor/status; upsert device row trong SQL</a:t>
            </a:r>
            <a:endParaRPr lang="en-US" sz="1040" dirty="0"/>
          </a:p>
        </p:txBody>
      </p:sp>
      <p:sp>
        <p:nvSpPr>
          <p:cNvPr id="19" name="Shape 15"/>
          <p:cNvSpPr/>
          <p:nvPr/>
        </p:nvSpPr>
        <p:spPr>
          <a:xfrm>
            <a:off x="3401568" y="2496312"/>
            <a:ext cx="219456" cy="0"/>
          </a:xfrm>
          <a:prstGeom prst="line">
            <a:avLst/>
          </a:prstGeom>
          <a:noFill/>
          <a:ln w="25400">
            <a:solidFill>
              <a:srgbClr val="C8102E"/>
            </a:solidFill>
            <a:prstDash val="solid"/>
            <a:headEnd type="none"/>
            <a:tailEnd type="triangle"/>
          </a:ln>
        </p:spPr>
      </p:sp>
      <p:sp>
        <p:nvSpPr>
          <p:cNvPr id="20" name="Shape 16"/>
          <p:cNvSpPr/>
          <p:nvPr/>
        </p:nvSpPr>
        <p:spPr>
          <a:xfrm>
            <a:off x="5971032" y="2496312"/>
            <a:ext cx="201168" cy="0"/>
          </a:xfrm>
          <a:prstGeom prst="line">
            <a:avLst/>
          </a:prstGeom>
          <a:noFill/>
          <a:ln w="25400">
            <a:solidFill>
              <a:srgbClr val="C8102E"/>
            </a:solidFill>
            <a:prstDash val="solid"/>
            <a:headEnd type="none"/>
            <a:tailEnd type="triangle"/>
          </a:ln>
        </p:spPr>
      </p:sp>
      <p:sp>
        <p:nvSpPr>
          <p:cNvPr id="21" name="Shape 17"/>
          <p:cNvSpPr/>
          <p:nvPr/>
        </p:nvSpPr>
        <p:spPr>
          <a:xfrm>
            <a:off x="841248" y="3977640"/>
            <a:ext cx="7543800" cy="841248"/>
          </a:xfrm>
          <a:prstGeom prst="roundRect">
            <a:avLst>
              <a:gd name="adj" fmla="val 6522"/>
            </a:avLst>
          </a:prstGeom>
          <a:solidFill>
            <a:srgbClr val="111827"/>
          </a:solidFill>
          <a:ln w="12700">
            <a:solidFill>
              <a:srgbClr val="111827"/>
            </a:solidFill>
            <a:prstDash val="solid"/>
          </a:ln>
        </p:spPr>
      </p:sp>
      <p:sp>
        <p:nvSpPr>
          <p:cNvPr id="22" name="Text 18"/>
          <p:cNvSpPr/>
          <p:nvPr/>
        </p:nvSpPr>
        <p:spPr>
          <a:xfrm>
            <a:off x="950976" y="4069080"/>
            <a:ext cx="7324344" cy="676656"/>
          </a:xfrm>
          <a:prstGeom prst="rect">
            <a:avLst/>
          </a:prstGeom>
          <a:noFill/>
          <a:ln/>
        </p:spPr>
        <p:txBody>
          <a:bodyPr wrap="square" lIns="0" tIns="0" rIns="0" bIns="0" rtlCol="0" anchor="ctr">
            <a:normAutofit/>
          </a:bodyPr>
          <a:lstStyle/>
          <a:p>
            <a:pPr indent="0" marL="0">
              <a:buNone/>
            </a:pPr>
            <a:r>
              <a:rPr lang="en-US" sz="850" dirty="0">
                <a:solidFill>
                  <a:srgbClr val="FFFFFF"/>
                </a:solidFill>
                <a:latin typeface="Courier New" pitchFamily="34" charset="0"/>
                <a:ea typeface="Courier New" pitchFamily="34" charset="-122"/>
                <a:cs typeface="Courier New" pitchFamily="34" charset="-120"/>
              </a:rPr>
              <a:t>content = { Temperature, Humidity, ADC0..ADC31, EtOH1..EtOH6, VOC1, VOC2, adc[] }</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time = thời điểm server nhận MQTT để sort history ổn định</a:t>
            </a:r>
            <a:endParaRPr lang="en-US" sz="850" dirty="0"/>
          </a:p>
        </p:txBody>
      </p:sp>
      <p:sp>
        <p:nvSpPr>
          <p:cNvPr id="23" name="Shape 19"/>
          <p:cNvSpPr/>
          <p:nvPr/>
        </p:nvSpPr>
        <p:spPr>
          <a:xfrm>
            <a:off x="960120" y="5271516"/>
            <a:ext cx="91440" cy="91440"/>
          </a:xfrm>
          <a:prstGeom prst="ellipse">
            <a:avLst/>
          </a:prstGeom>
          <a:solidFill>
            <a:srgbClr val="0F766E"/>
          </a:solidFill>
          <a:ln w="12700">
            <a:solidFill>
              <a:srgbClr val="0F766E"/>
            </a:solidFill>
            <a:prstDash val="solid"/>
          </a:ln>
        </p:spPr>
      </p:sp>
      <p:sp>
        <p:nvSpPr>
          <p:cNvPr id="24" name="Text 20"/>
          <p:cNvSpPr/>
          <p:nvPr/>
        </p:nvSpPr>
        <p:spPr>
          <a:xfrm>
            <a:off x="1161288" y="5212080"/>
            <a:ext cx="7114032" cy="457200"/>
          </a:xfrm>
          <a:prstGeom prst="rect">
            <a:avLst/>
          </a:prstGeom>
          <a:noFill/>
          <a:ln/>
        </p:spPr>
        <p:txBody>
          <a:bodyPr wrap="square" lIns="127" tIns="127" rIns="127" bIns="127" rtlCol="0" anchor="ctr">
            <a:normAutofit/>
          </a:bodyPr>
          <a:lstStyle/>
          <a:p>
            <a:pPr indent="0" marL="0">
              <a:buNone/>
            </a:pPr>
            <a:r>
              <a:rPr lang="en-US" sz="1220" dirty="0">
                <a:solidFill>
                  <a:srgbClr val="1F2937"/>
                </a:solidFill>
                <a:latin typeface="Arial" pitchFamily="34" charset="0"/>
                <a:ea typeface="Arial" pitchFamily="34" charset="-122"/>
                <a:cs typeface="Arial" pitchFamily="34" charset="-120"/>
              </a:rPr>
              <a:t>Điểm mạnh: chịu được nhiều định dạng firmware khác nhau, dashboard vẫn đọc cùng một schema chuẩn.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hust_media/ppt/media/image12.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REST API nghiệp vụ</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API được tách thành nhóm dữ liệu, điều khiển và cấu hình kênh.</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09</a:t>
            </a:r>
            <a:endParaRPr lang="en-US" sz="850" dirty="0"/>
          </a:p>
        </p:txBody>
      </p:sp>
      <p:sp>
        <p:nvSpPr>
          <p:cNvPr id="7" name="Shape 3"/>
          <p:cNvSpPr/>
          <p:nvPr/>
        </p:nvSpPr>
        <p:spPr>
          <a:xfrm>
            <a:off x="658368" y="1627632"/>
            <a:ext cx="2487168" cy="2971800"/>
          </a:xfrm>
          <a:prstGeom prst="roundRect">
            <a:avLst>
              <a:gd name="adj" fmla="val 2941"/>
            </a:avLst>
          </a:prstGeom>
          <a:solidFill>
            <a:srgbClr val="EFF6FF"/>
          </a:solidFill>
          <a:ln w="12700">
            <a:solidFill>
              <a:srgbClr val="E5E7EB"/>
            </a:solidFill>
            <a:prstDash val="solid"/>
          </a:ln>
        </p:spPr>
      </p:sp>
      <p:sp>
        <p:nvSpPr>
          <p:cNvPr id="8" name="Shape 4"/>
          <p:cNvSpPr/>
          <p:nvPr/>
        </p:nvSpPr>
        <p:spPr>
          <a:xfrm>
            <a:off x="658368" y="1627632"/>
            <a:ext cx="64008" cy="2971800"/>
          </a:xfrm>
          <a:prstGeom prst="rect">
            <a:avLst/>
          </a:prstGeom>
          <a:solidFill>
            <a:srgbClr val="1D4ED8"/>
          </a:solidFill>
          <a:ln w="12700">
            <a:solidFill>
              <a:srgbClr val="1D4ED8"/>
            </a:solidFill>
            <a:prstDash val="solid"/>
          </a:ln>
        </p:spPr>
      </p:sp>
      <p:sp>
        <p:nvSpPr>
          <p:cNvPr id="9" name="Text 5"/>
          <p:cNvSpPr/>
          <p:nvPr/>
        </p:nvSpPr>
        <p:spPr>
          <a:xfrm>
            <a:off x="822960" y="1737360"/>
            <a:ext cx="2167128" cy="228600"/>
          </a:xfrm>
          <a:prstGeom prst="rect">
            <a:avLst/>
          </a:prstGeom>
          <a:noFill/>
          <a:ln/>
        </p:spPr>
        <p:txBody>
          <a:bodyPr wrap="square" lIns="0" tIns="0" rIns="0" bIns="0" rtlCol="0" anchor="ctr">
            <a:normAutofit/>
          </a:bodyPr>
          <a:lstStyle/>
          <a:p>
            <a:pPr indent="0" marL="0">
              <a:buNone/>
            </a:pPr>
            <a:r>
              <a:rPr lang="en-US" sz="1150" b="1" dirty="0">
                <a:solidFill>
                  <a:srgbClr val="1D4ED8"/>
                </a:solidFill>
                <a:latin typeface="Arial" pitchFamily="34" charset="0"/>
                <a:ea typeface="Arial" pitchFamily="34" charset="-122"/>
                <a:cs typeface="Arial" pitchFamily="34" charset="-120"/>
              </a:rPr>
              <a:t>Data API</a:t>
            </a:r>
            <a:endParaRPr lang="en-US" sz="1150" dirty="0"/>
          </a:p>
        </p:txBody>
      </p:sp>
      <p:sp>
        <p:nvSpPr>
          <p:cNvPr id="10" name="Text 6"/>
          <p:cNvSpPr/>
          <p:nvPr/>
        </p:nvSpPr>
        <p:spPr>
          <a:xfrm>
            <a:off x="822960" y="2039112"/>
            <a:ext cx="2167128" cy="2468880"/>
          </a:xfrm>
          <a:prstGeom prst="rect">
            <a:avLst/>
          </a:prstGeom>
          <a:noFill/>
          <a:ln/>
        </p:spPr>
        <p:txBody>
          <a:bodyPr wrap="square" lIns="254" tIns="254" rIns="254" bIns="254" rtlCol="0" anchor="t">
            <a:normAutofit/>
          </a:bodyPr>
          <a:lstStyle/>
          <a:p>
            <a:pPr indent="0" marL="0">
              <a:buNone/>
            </a:pPr>
            <a:r>
              <a:rPr lang="en-US" sz="950" dirty="0">
                <a:solidFill>
                  <a:srgbClr val="1F2937"/>
                </a:solidFill>
                <a:latin typeface="Arial" pitchFamily="34" charset="0"/>
                <a:ea typeface="Arial" pitchFamily="34" charset="-122"/>
                <a:cs typeface="Arial" pitchFamily="34" charset="-120"/>
              </a:rPr>
              <a:t>GET /devices</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GET /devices/:id/latest</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GET /devices/:id/status</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GET /devices/:id/history</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GET /devices/:id/measurements</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GET /measurement-csv</a:t>
            </a:r>
            <a:endParaRPr lang="en-US" sz="950" dirty="0"/>
          </a:p>
        </p:txBody>
      </p:sp>
      <p:sp>
        <p:nvSpPr>
          <p:cNvPr id="11" name="Shape 7"/>
          <p:cNvSpPr/>
          <p:nvPr/>
        </p:nvSpPr>
        <p:spPr>
          <a:xfrm>
            <a:off x="3346704" y="1627632"/>
            <a:ext cx="2487168" cy="2971800"/>
          </a:xfrm>
          <a:prstGeom prst="roundRect">
            <a:avLst>
              <a:gd name="adj" fmla="val 2941"/>
            </a:avLst>
          </a:prstGeom>
          <a:solidFill>
            <a:srgbClr val="FFF1F2"/>
          </a:solidFill>
          <a:ln w="12700">
            <a:solidFill>
              <a:srgbClr val="E5E7EB"/>
            </a:solidFill>
            <a:prstDash val="solid"/>
          </a:ln>
        </p:spPr>
      </p:sp>
      <p:sp>
        <p:nvSpPr>
          <p:cNvPr id="12" name="Shape 8"/>
          <p:cNvSpPr/>
          <p:nvPr/>
        </p:nvSpPr>
        <p:spPr>
          <a:xfrm>
            <a:off x="3346704" y="1627632"/>
            <a:ext cx="64008" cy="2971800"/>
          </a:xfrm>
          <a:prstGeom prst="rect">
            <a:avLst/>
          </a:prstGeom>
          <a:solidFill>
            <a:srgbClr val="C8102E"/>
          </a:solidFill>
          <a:ln w="12700">
            <a:solidFill>
              <a:srgbClr val="C8102E"/>
            </a:solidFill>
            <a:prstDash val="solid"/>
          </a:ln>
        </p:spPr>
      </p:sp>
      <p:sp>
        <p:nvSpPr>
          <p:cNvPr id="13" name="Text 9"/>
          <p:cNvSpPr/>
          <p:nvPr/>
        </p:nvSpPr>
        <p:spPr>
          <a:xfrm>
            <a:off x="3511296" y="1737360"/>
            <a:ext cx="2167128"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Control API</a:t>
            </a:r>
            <a:endParaRPr lang="en-US" sz="1150" dirty="0"/>
          </a:p>
        </p:txBody>
      </p:sp>
      <p:sp>
        <p:nvSpPr>
          <p:cNvPr id="14" name="Text 10"/>
          <p:cNvSpPr/>
          <p:nvPr/>
        </p:nvSpPr>
        <p:spPr>
          <a:xfrm>
            <a:off x="3511296" y="2039112"/>
            <a:ext cx="2167128" cy="2468880"/>
          </a:xfrm>
          <a:prstGeom prst="rect">
            <a:avLst/>
          </a:prstGeom>
          <a:noFill/>
          <a:ln/>
        </p:spPr>
        <p:txBody>
          <a:bodyPr wrap="square" lIns="254" tIns="254" rIns="254" bIns="254" rtlCol="0" anchor="t">
            <a:normAutofit/>
          </a:bodyPr>
          <a:lstStyle/>
          <a:p>
            <a:pPr indent="0" marL="0">
              <a:buNone/>
            </a:pPr>
            <a:r>
              <a:rPr lang="en-US" sz="950" dirty="0">
                <a:solidFill>
                  <a:srgbClr val="1F2937"/>
                </a:solidFill>
                <a:latin typeface="Arial" pitchFamily="34" charset="0"/>
                <a:ea typeface="Arial" pitchFamily="34" charset="-122"/>
                <a:cs typeface="Arial" pitchFamily="34" charset="-120"/>
              </a:rPr>
              <a:t>POST /devices/:id/start</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POST /devices/:id/stop</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POST /devices/:id/heating</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POST /devices/:id/air-pump</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GET /control/status</a:t>
            </a:r>
            <a:endParaRPr lang="en-US" sz="950" dirty="0"/>
          </a:p>
        </p:txBody>
      </p:sp>
      <p:sp>
        <p:nvSpPr>
          <p:cNvPr id="15" name="Shape 11"/>
          <p:cNvSpPr/>
          <p:nvPr/>
        </p:nvSpPr>
        <p:spPr>
          <a:xfrm>
            <a:off x="6035040" y="1627632"/>
            <a:ext cx="2487168" cy="2971800"/>
          </a:xfrm>
          <a:prstGeom prst="roundRect">
            <a:avLst>
              <a:gd name="adj" fmla="val 2941"/>
            </a:avLst>
          </a:prstGeom>
          <a:solidFill>
            <a:srgbClr val="F0FDFA"/>
          </a:solidFill>
          <a:ln w="12700">
            <a:solidFill>
              <a:srgbClr val="E5E7EB"/>
            </a:solidFill>
            <a:prstDash val="solid"/>
          </a:ln>
        </p:spPr>
      </p:sp>
      <p:sp>
        <p:nvSpPr>
          <p:cNvPr id="16" name="Shape 12"/>
          <p:cNvSpPr/>
          <p:nvPr/>
        </p:nvSpPr>
        <p:spPr>
          <a:xfrm>
            <a:off x="6035040" y="1627632"/>
            <a:ext cx="64008" cy="2971800"/>
          </a:xfrm>
          <a:prstGeom prst="rect">
            <a:avLst/>
          </a:prstGeom>
          <a:solidFill>
            <a:srgbClr val="0F766E"/>
          </a:solidFill>
          <a:ln w="12700">
            <a:solidFill>
              <a:srgbClr val="0F766E"/>
            </a:solidFill>
            <a:prstDash val="solid"/>
          </a:ln>
        </p:spPr>
      </p:sp>
      <p:sp>
        <p:nvSpPr>
          <p:cNvPr id="17" name="Text 13"/>
          <p:cNvSpPr/>
          <p:nvPr/>
        </p:nvSpPr>
        <p:spPr>
          <a:xfrm>
            <a:off x="6199632" y="1737360"/>
            <a:ext cx="2167128"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CRUD kênh</a:t>
            </a:r>
            <a:endParaRPr lang="en-US" sz="1150" dirty="0"/>
          </a:p>
        </p:txBody>
      </p:sp>
      <p:sp>
        <p:nvSpPr>
          <p:cNvPr id="18" name="Text 14"/>
          <p:cNvSpPr/>
          <p:nvPr/>
        </p:nvSpPr>
        <p:spPr>
          <a:xfrm>
            <a:off x="6199632" y="2039112"/>
            <a:ext cx="2167128" cy="2468880"/>
          </a:xfrm>
          <a:prstGeom prst="rect">
            <a:avLst/>
          </a:prstGeom>
          <a:noFill/>
          <a:ln/>
        </p:spPr>
        <p:txBody>
          <a:bodyPr wrap="square" lIns="254" tIns="254" rIns="254" bIns="254" rtlCol="0" anchor="t">
            <a:normAutofit/>
          </a:bodyPr>
          <a:lstStyle/>
          <a:p>
            <a:pPr indent="0" marL="0">
              <a:buNone/>
            </a:pPr>
            <a:r>
              <a:rPr lang="en-US" sz="950" dirty="0">
                <a:solidFill>
                  <a:srgbClr val="1F2937"/>
                </a:solidFill>
                <a:latin typeface="Arial" pitchFamily="34" charset="0"/>
                <a:ea typeface="Arial" pitchFamily="34" charset="-122"/>
                <a:cs typeface="Arial" pitchFamily="34" charset="-120"/>
              </a:rPr>
              <a:t>GET /sensor-channels</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POST /sensor-channels</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PATCH /sensor-channels/:id</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POST /sensor-channels/:id/delete</a:t>
            </a:r>
            <a:endParaRPr lang="en-US" sz="950" dirty="0"/>
          </a:p>
          <a:p>
            <a:pPr indent="0" marL="0">
              <a:buNone/>
            </a:pPr>
            <a:r>
              <a:rPr lang="en-US" sz="950" dirty="0">
                <a:solidFill>
                  <a:srgbClr val="1F2937"/>
                </a:solidFill>
                <a:latin typeface="Arial" pitchFamily="34" charset="0"/>
                <a:ea typeface="Arial" pitchFamily="34" charset="-122"/>
                <a:cs typeface="Arial" pitchFamily="34" charset="-120"/>
              </a:rPr>
              <a:t>Soft-delete</a:t>
            </a:r>
            <a:endParaRPr lang="en-US" sz="950" dirty="0"/>
          </a:p>
        </p:txBody>
      </p:sp>
      <p:sp>
        <p:nvSpPr>
          <p:cNvPr id="19" name="Shape 15"/>
          <p:cNvSpPr/>
          <p:nvPr/>
        </p:nvSpPr>
        <p:spPr>
          <a:xfrm>
            <a:off x="1051560" y="5138928"/>
            <a:ext cx="7040880" cy="822960"/>
          </a:xfrm>
          <a:prstGeom prst="roundRect">
            <a:avLst>
              <a:gd name="adj" fmla="val 8889"/>
            </a:avLst>
          </a:prstGeom>
          <a:solidFill>
            <a:srgbClr val="FFFBEB"/>
          </a:solidFill>
          <a:ln w="12700">
            <a:solidFill>
              <a:srgbClr val="FDE68A"/>
            </a:solidFill>
            <a:prstDash val="solid"/>
          </a:ln>
        </p:spPr>
      </p:sp>
      <p:sp>
        <p:nvSpPr>
          <p:cNvPr id="20" name="Shape 16"/>
          <p:cNvSpPr/>
          <p:nvPr/>
        </p:nvSpPr>
        <p:spPr>
          <a:xfrm>
            <a:off x="1051560" y="5138928"/>
            <a:ext cx="64008" cy="822960"/>
          </a:xfrm>
          <a:prstGeom prst="rect">
            <a:avLst/>
          </a:prstGeom>
          <a:solidFill>
            <a:srgbClr val="F2B705"/>
          </a:solidFill>
          <a:ln w="12700">
            <a:solidFill>
              <a:srgbClr val="F2B705"/>
            </a:solidFill>
            <a:prstDash val="solid"/>
          </a:ln>
        </p:spPr>
      </p:sp>
      <p:sp>
        <p:nvSpPr>
          <p:cNvPr id="21" name="Text 17"/>
          <p:cNvSpPr/>
          <p:nvPr/>
        </p:nvSpPr>
        <p:spPr>
          <a:xfrm>
            <a:off x="1216152" y="5248656"/>
            <a:ext cx="6720840" cy="228600"/>
          </a:xfrm>
          <a:prstGeom prst="rect">
            <a:avLst/>
          </a:prstGeom>
          <a:noFill/>
          <a:ln/>
        </p:spPr>
        <p:txBody>
          <a:bodyPr wrap="square" lIns="0" tIns="0" rIns="0" bIns="0" rtlCol="0" anchor="ctr">
            <a:normAutofit/>
          </a:bodyPr>
          <a:lstStyle/>
          <a:p>
            <a:pPr indent="0" marL="0">
              <a:buNone/>
            </a:pPr>
            <a:r>
              <a:rPr lang="en-US" sz="1150" b="1" dirty="0">
                <a:solidFill>
                  <a:srgbClr val="A16207"/>
                </a:solidFill>
                <a:latin typeface="Arial" pitchFamily="34" charset="0"/>
                <a:ea typeface="Arial" pitchFamily="34" charset="-122"/>
                <a:cs typeface="Arial" pitchFamily="34" charset="-120"/>
              </a:rPr>
              <a:t>Logic nổi bật</a:t>
            </a:r>
            <a:endParaRPr lang="en-US" sz="1150" dirty="0"/>
          </a:p>
        </p:txBody>
      </p:sp>
      <p:sp>
        <p:nvSpPr>
          <p:cNvPr id="22" name="Text 18"/>
          <p:cNvSpPr/>
          <p:nvPr/>
        </p:nvSpPr>
        <p:spPr>
          <a:xfrm>
            <a:off x="1216152" y="5550408"/>
            <a:ext cx="6720840" cy="320040"/>
          </a:xfrm>
          <a:prstGeom prst="rect">
            <a:avLst/>
          </a:prstGeom>
          <a:noFill/>
          <a:ln/>
        </p:spPr>
        <p:txBody>
          <a:bodyPr wrap="square" lIns="254" tIns="254" rIns="254" bIns="254" rtlCol="0" anchor="t">
            <a:normAutofit/>
          </a:bodyPr>
          <a:lstStyle/>
          <a:p>
            <a:pPr indent="0" marL="0">
              <a:buNone/>
            </a:pPr>
            <a:r>
              <a:rPr lang="en-US" sz="1060" dirty="0">
                <a:solidFill>
                  <a:srgbClr val="1F2937"/>
                </a:solidFill>
                <a:latin typeface="Arial" pitchFamily="34" charset="0"/>
                <a:ea typeface="Arial" pitchFamily="34" charset="-122"/>
                <a:cs typeface="Arial" pitchFamily="34" charset="-120"/>
              </a:rPr>
              <a:t>Start/Stop không chỉ cập nhật DB mà còn publish command MQTT để điều khiển thiết bị thật.</a:t>
            </a:r>
            <a:endParaRPr lang="en-US" sz="10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hust_media/ppt/media/image8.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Frontend Dashboard &amp; trải nghiệm người dùng</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Giao diện JS thuần, Chart.js, tập trung vào dashboard vận hành demo.</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10</a:t>
            </a:r>
            <a:endParaRPr lang="en-US" sz="850" dirty="0"/>
          </a:p>
        </p:txBody>
      </p:sp>
      <p:sp>
        <p:nvSpPr>
          <p:cNvPr id="7" name="Shape 3"/>
          <p:cNvSpPr/>
          <p:nvPr/>
        </p:nvSpPr>
        <p:spPr>
          <a:xfrm>
            <a:off x="658368" y="1508760"/>
            <a:ext cx="7863840" cy="4389120"/>
          </a:xfrm>
          <a:prstGeom prst="roundRect">
            <a:avLst>
              <a:gd name="adj" fmla="val 1667"/>
            </a:avLst>
          </a:prstGeom>
          <a:solidFill>
            <a:srgbClr val="F9FAFB"/>
          </a:solidFill>
          <a:ln w="12700">
            <a:solidFill>
              <a:srgbClr val="E5E7EB"/>
            </a:solidFill>
            <a:prstDash val="solid"/>
          </a:ln>
        </p:spPr>
      </p:sp>
      <p:sp>
        <p:nvSpPr>
          <p:cNvPr id="8" name="Shape 4"/>
          <p:cNvSpPr/>
          <p:nvPr/>
        </p:nvSpPr>
        <p:spPr>
          <a:xfrm>
            <a:off x="658368" y="1508760"/>
            <a:ext cx="7863840" cy="438912"/>
          </a:xfrm>
          <a:prstGeom prst="rect">
            <a:avLst/>
          </a:prstGeom>
          <a:solidFill>
            <a:srgbClr val="C8102E"/>
          </a:solidFill>
          <a:ln w="12700">
            <a:solidFill>
              <a:srgbClr val="C8102E"/>
            </a:solidFill>
            <a:prstDash val="solid"/>
          </a:ln>
        </p:spPr>
      </p:sp>
      <p:sp>
        <p:nvSpPr>
          <p:cNvPr id="9" name="Text 5"/>
          <p:cNvSpPr/>
          <p:nvPr/>
        </p:nvSpPr>
        <p:spPr>
          <a:xfrm>
            <a:off x="896112" y="1627632"/>
            <a:ext cx="2286000" cy="146304"/>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AirSENSE Dashboard</a:t>
            </a:r>
            <a:endParaRPr lang="en-US" sz="900" dirty="0"/>
          </a:p>
        </p:txBody>
      </p:sp>
      <p:sp>
        <p:nvSpPr>
          <p:cNvPr id="10" name="Shape 6"/>
          <p:cNvSpPr/>
          <p:nvPr/>
        </p:nvSpPr>
        <p:spPr>
          <a:xfrm>
            <a:off x="896112" y="2148840"/>
            <a:ext cx="1627632" cy="685800"/>
          </a:xfrm>
          <a:prstGeom prst="roundRect">
            <a:avLst>
              <a:gd name="adj" fmla="val 10667"/>
            </a:avLst>
          </a:prstGeom>
          <a:solidFill>
            <a:srgbClr val="FFFFFF"/>
          </a:solidFill>
          <a:ln w="12700">
            <a:solidFill>
              <a:srgbClr val="E5E7EB"/>
            </a:solidFill>
            <a:prstDash val="solid"/>
          </a:ln>
        </p:spPr>
      </p:sp>
      <p:sp>
        <p:nvSpPr>
          <p:cNvPr id="11" name="Shape 7"/>
          <p:cNvSpPr/>
          <p:nvPr/>
        </p:nvSpPr>
        <p:spPr>
          <a:xfrm>
            <a:off x="896112" y="2148840"/>
            <a:ext cx="64008" cy="685800"/>
          </a:xfrm>
          <a:prstGeom prst="rect">
            <a:avLst/>
          </a:prstGeom>
          <a:solidFill>
            <a:srgbClr val="EA580C"/>
          </a:solidFill>
          <a:ln w="12700">
            <a:solidFill>
              <a:srgbClr val="EA580C"/>
            </a:solidFill>
            <a:prstDash val="solid"/>
          </a:ln>
        </p:spPr>
      </p:sp>
      <p:sp>
        <p:nvSpPr>
          <p:cNvPr id="12" name="Text 8"/>
          <p:cNvSpPr/>
          <p:nvPr/>
        </p:nvSpPr>
        <p:spPr>
          <a:xfrm>
            <a:off x="1060704" y="2258568"/>
            <a:ext cx="1307592" cy="228600"/>
          </a:xfrm>
          <a:prstGeom prst="rect">
            <a:avLst/>
          </a:prstGeom>
          <a:noFill/>
          <a:ln/>
        </p:spPr>
        <p:txBody>
          <a:bodyPr wrap="square" lIns="0" tIns="0" rIns="0" bIns="0" rtlCol="0" anchor="ctr">
            <a:normAutofit/>
          </a:bodyPr>
          <a:lstStyle/>
          <a:p>
            <a:pPr indent="0" marL="0">
              <a:buNone/>
            </a:pPr>
            <a:r>
              <a:rPr lang="en-US" sz="850" b="1" dirty="0">
                <a:solidFill>
                  <a:srgbClr val="4B5563"/>
                </a:solidFill>
                <a:latin typeface="Arial" pitchFamily="34" charset="0"/>
                <a:ea typeface="Arial" pitchFamily="34" charset="-122"/>
                <a:cs typeface="Arial" pitchFamily="34" charset="-120"/>
              </a:rPr>
              <a:t>Temperature</a:t>
            </a:r>
            <a:endParaRPr lang="en-US" sz="850" dirty="0"/>
          </a:p>
        </p:txBody>
      </p:sp>
      <p:sp>
        <p:nvSpPr>
          <p:cNvPr id="13" name="Text 9"/>
          <p:cNvSpPr/>
          <p:nvPr/>
        </p:nvSpPr>
        <p:spPr>
          <a:xfrm>
            <a:off x="1060704" y="2560320"/>
            <a:ext cx="1307592" cy="182880"/>
          </a:xfrm>
          <a:prstGeom prst="rect">
            <a:avLst/>
          </a:prstGeom>
          <a:noFill/>
          <a:ln/>
        </p:spPr>
        <p:txBody>
          <a:bodyPr wrap="square" lIns="254" tIns="254" rIns="254" bIns="254" rtlCol="0" anchor="t">
            <a:normAutofit/>
          </a:bodyPr>
          <a:lstStyle/>
          <a:p>
            <a:pPr indent="0" marL="0">
              <a:buNone/>
            </a:pPr>
            <a:r>
              <a:rPr lang="en-US" sz="1300" dirty="0">
                <a:solidFill>
                  <a:srgbClr val="1F2937"/>
                </a:solidFill>
                <a:latin typeface="Arial" pitchFamily="34" charset="0"/>
                <a:ea typeface="Arial" pitchFamily="34" charset="-122"/>
                <a:cs typeface="Arial" pitchFamily="34" charset="-120"/>
              </a:rPr>
              <a:t>30.2 ℃</a:t>
            </a:r>
            <a:endParaRPr lang="en-US" sz="1300" dirty="0"/>
          </a:p>
        </p:txBody>
      </p:sp>
      <p:sp>
        <p:nvSpPr>
          <p:cNvPr id="14" name="Shape 10"/>
          <p:cNvSpPr/>
          <p:nvPr/>
        </p:nvSpPr>
        <p:spPr>
          <a:xfrm>
            <a:off x="2752344" y="2148840"/>
            <a:ext cx="1627632" cy="685800"/>
          </a:xfrm>
          <a:prstGeom prst="roundRect">
            <a:avLst>
              <a:gd name="adj" fmla="val 10667"/>
            </a:avLst>
          </a:prstGeom>
          <a:solidFill>
            <a:srgbClr val="FFFFFF"/>
          </a:solidFill>
          <a:ln w="12700">
            <a:solidFill>
              <a:srgbClr val="E5E7EB"/>
            </a:solidFill>
            <a:prstDash val="solid"/>
          </a:ln>
        </p:spPr>
      </p:sp>
      <p:sp>
        <p:nvSpPr>
          <p:cNvPr id="15" name="Shape 11"/>
          <p:cNvSpPr/>
          <p:nvPr/>
        </p:nvSpPr>
        <p:spPr>
          <a:xfrm>
            <a:off x="2752344" y="2148840"/>
            <a:ext cx="64008" cy="685800"/>
          </a:xfrm>
          <a:prstGeom prst="rect">
            <a:avLst/>
          </a:prstGeom>
          <a:solidFill>
            <a:srgbClr val="1D4ED8"/>
          </a:solidFill>
          <a:ln w="12700">
            <a:solidFill>
              <a:srgbClr val="1D4ED8"/>
            </a:solidFill>
            <a:prstDash val="solid"/>
          </a:ln>
        </p:spPr>
      </p:sp>
      <p:sp>
        <p:nvSpPr>
          <p:cNvPr id="16" name="Text 12"/>
          <p:cNvSpPr/>
          <p:nvPr/>
        </p:nvSpPr>
        <p:spPr>
          <a:xfrm>
            <a:off x="2916936" y="2258568"/>
            <a:ext cx="1307592" cy="228600"/>
          </a:xfrm>
          <a:prstGeom prst="rect">
            <a:avLst/>
          </a:prstGeom>
          <a:noFill/>
          <a:ln/>
        </p:spPr>
        <p:txBody>
          <a:bodyPr wrap="square" lIns="0" tIns="0" rIns="0" bIns="0" rtlCol="0" anchor="ctr">
            <a:normAutofit/>
          </a:bodyPr>
          <a:lstStyle/>
          <a:p>
            <a:pPr indent="0" marL="0">
              <a:buNone/>
            </a:pPr>
            <a:r>
              <a:rPr lang="en-US" sz="850" b="1" dirty="0">
                <a:solidFill>
                  <a:srgbClr val="4B5563"/>
                </a:solidFill>
                <a:latin typeface="Arial" pitchFamily="34" charset="0"/>
                <a:ea typeface="Arial" pitchFamily="34" charset="-122"/>
                <a:cs typeface="Arial" pitchFamily="34" charset="-120"/>
              </a:rPr>
              <a:t>Humidity</a:t>
            </a:r>
            <a:endParaRPr lang="en-US" sz="850" dirty="0"/>
          </a:p>
        </p:txBody>
      </p:sp>
      <p:sp>
        <p:nvSpPr>
          <p:cNvPr id="17" name="Text 13"/>
          <p:cNvSpPr/>
          <p:nvPr/>
        </p:nvSpPr>
        <p:spPr>
          <a:xfrm>
            <a:off x="2916936" y="2560320"/>
            <a:ext cx="1307592" cy="182880"/>
          </a:xfrm>
          <a:prstGeom prst="rect">
            <a:avLst/>
          </a:prstGeom>
          <a:noFill/>
          <a:ln/>
        </p:spPr>
        <p:txBody>
          <a:bodyPr wrap="square" lIns="254" tIns="254" rIns="254" bIns="254" rtlCol="0" anchor="t">
            <a:normAutofit/>
          </a:bodyPr>
          <a:lstStyle/>
          <a:p>
            <a:pPr indent="0" marL="0">
              <a:buNone/>
            </a:pPr>
            <a:r>
              <a:rPr lang="en-US" sz="1300" dirty="0">
                <a:solidFill>
                  <a:srgbClr val="1F2937"/>
                </a:solidFill>
                <a:latin typeface="Arial" pitchFamily="34" charset="0"/>
                <a:ea typeface="Arial" pitchFamily="34" charset="-122"/>
                <a:cs typeface="Arial" pitchFamily="34" charset="-120"/>
              </a:rPr>
              <a:t>62 %</a:t>
            </a:r>
            <a:endParaRPr lang="en-US" sz="1300" dirty="0"/>
          </a:p>
        </p:txBody>
      </p:sp>
      <p:sp>
        <p:nvSpPr>
          <p:cNvPr id="18" name="Shape 14"/>
          <p:cNvSpPr/>
          <p:nvPr/>
        </p:nvSpPr>
        <p:spPr>
          <a:xfrm>
            <a:off x="4608576" y="2148840"/>
            <a:ext cx="1627632" cy="685800"/>
          </a:xfrm>
          <a:prstGeom prst="roundRect">
            <a:avLst>
              <a:gd name="adj" fmla="val 10667"/>
            </a:avLst>
          </a:prstGeom>
          <a:solidFill>
            <a:srgbClr val="FFFFFF"/>
          </a:solidFill>
          <a:ln w="12700">
            <a:solidFill>
              <a:srgbClr val="E5E7EB"/>
            </a:solidFill>
            <a:prstDash val="solid"/>
          </a:ln>
        </p:spPr>
      </p:sp>
      <p:sp>
        <p:nvSpPr>
          <p:cNvPr id="19" name="Shape 15"/>
          <p:cNvSpPr/>
          <p:nvPr/>
        </p:nvSpPr>
        <p:spPr>
          <a:xfrm>
            <a:off x="4608576" y="2148840"/>
            <a:ext cx="64008" cy="685800"/>
          </a:xfrm>
          <a:prstGeom prst="rect">
            <a:avLst/>
          </a:prstGeom>
          <a:solidFill>
            <a:srgbClr val="0F766E"/>
          </a:solidFill>
          <a:ln w="12700">
            <a:solidFill>
              <a:srgbClr val="0F766E"/>
            </a:solidFill>
            <a:prstDash val="solid"/>
          </a:ln>
        </p:spPr>
      </p:sp>
      <p:sp>
        <p:nvSpPr>
          <p:cNvPr id="20" name="Text 16"/>
          <p:cNvSpPr/>
          <p:nvPr/>
        </p:nvSpPr>
        <p:spPr>
          <a:xfrm>
            <a:off x="4773168" y="2258568"/>
            <a:ext cx="1307592" cy="228600"/>
          </a:xfrm>
          <a:prstGeom prst="rect">
            <a:avLst/>
          </a:prstGeom>
          <a:noFill/>
          <a:ln/>
        </p:spPr>
        <p:txBody>
          <a:bodyPr wrap="square" lIns="0" tIns="0" rIns="0" bIns="0" rtlCol="0" anchor="ctr">
            <a:normAutofit/>
          </a:bodyPr>
          <a:lstStyle/>
          <a:p>
            <a:pPr indent="0" marL="0">
              <a:buNone/>
            </a:pPr>
            <a:r>
              <a:rPr lang="en-US" sz="850" b="1" dirty="0">
                <a:solidFill>
                  <a:srgbClr val="4B5563"/>
                </a:solidFill>
                <a:latin typeface="Arial" pitchFamily="34" charset="0"/>
                <a:ea typeface="Arial" pitchFamily="34" charset="-122"/>
                <a:cs typeface="Arial" pitchFamily="34" charset="-120"/>
              </a:rPr>
              <a:t>Wi-Fi</a:t>
            </a:r>
            <a:endParaRPr lang="en-US" sz="850" dirty="0"/>
          </a:p>
        </p:txBody>
      </p:sp>
      <p:sp>
        <p:nvSpPr>
          <p:cNvPr id="21" name="Text 17"/>
          <p:cNvSpPr/>
          <p:nvPr/>
        </p:nvSpPr>
        <p:spPr>
          <a:xfrm>
            <a:off x="4773168" y="2560320"/>
            <a:ext cx="1307592" cy="182880"/>
          </a:xfrm>
          <a:prstGeom prst="rect">
            <a:avLst/>
          </a:prstGeom>
          <a:noFill/>
          <a:ln/>
        </p:spPr>
        <p:txBody>
          <a:bodyPr wrap="square" lIns="254" tIns="254" rIns="254" bIns="254" rtlCol="0" anchor="t">
            <a:normAutofit/>
          </a:bodyPr>
          <a:lstStyle/>
          <a:p>
            <a:pPr indent="0" marL="0">
              <a:buNone/>
            </a:pPr>
            <a:r>
              <a:rPr lang="en-US" sz="1300" dirty="0">
                <a:solidFill>
                  <a:srgbClr val="1F2937"/>
                </a:solidFill>
                <a:latin typeface="Arial" pitchFamily="34" charset="0"/>
                <a:ea typeface="Arial" pitchFamily="34" charset="-122"/>
                <a:cs typeface="Arial" pitchFamily="34" charset="-120"/>
              </a:rPr>
              <a:t>-55 dBm</a:t>
            </a:r>
            <a:endParaRPr lang="en-US" sz="1300" dirty="0"/>
          </a:p>
        </p:txBody>
      </p:sp>
      <p:sp>
        <p:nvSpPr>
          <p:cNvPr id="22" name="Shape 18"/>
          <p:cNvSpPr/>
          <p:nvPr/>
        </p:nvSpPr>
        <p:spPr>
          <a:xfrm>
            <a:off x="6464808" y="2148840"/>
            <a:ext cx="1627632" cy="685800"/>
          </a:xfrm>
          <a:prstGeom prst="roundRect">
            <a:avLst>
              <a:gd name="adj" fmla="val 10667"/>
            </a:avLst>
          </a:prstGeom>
          <a:solidFill>
            <a:srgbClr val="FFFFFF"/>
          </a:solidFill>
          <a:ln w="12700">
            <a:solidFill>
              <a:srgbClr val="E5E7EB"/>
            </a:solidFill>
            <a:prstDash val="solid"/>
          </a:ln>
        </p:spPr>
      </p:sp>
      <p:sp>
        <p:nvSpPr>
          <p:cNvPr id="23" name="Shape 19"/>
          <p:cNvSpPr/>
          <p:nvPr/>
        </p:nvSpPr>
        <p:spPr>
          <a:xfrm>
            <a:off x="6464808" y="2148840"/>
            <a:ext cx="64008" cy="685800"/>
          </a:xfrm>
          <a:prstGeom prst="rect">
            <a:avLst/>
          </a:prstGeom>
          <a:solidFill>
            <a:srgbClr val="C8102E"/>
          </a:solidFill>
          <a:ln w="12700">
            <a:solidFill>
              <a:srgbClr val="C8102E"/>
            </a:solidFill>
            <a:prstDash val="solid"/>
          </a:ln>
        </p:spPr>
      </p:sp>
      <p:sp>
        <p:nvSpPr>
          <p:cNvPr id="24" name="Text 20"/>
          <p:cNvSpPr/>
          <p:nvPr/>
        </p:nvSpPr>
        <p:spPr>
          <a:xfrm>
            <a:off x="6629400" y="2258568"/>
            <a:ext cx="1307592" cy="228600"/>
          </a:xfrm>
          <a:prstGeom prst="rect">
            <a:avLst/>
          </a:prstGeom>
          <a:noFill/>
          <a:ln/>
        </p:spPr>
        <p:txBody>
          <a:bodyPr wrap="square" lIns="0" tIns="0" rIns="0" bIns="0" rtlCol="0" anchor="ctr">
            <a:normAutofit/>
          </a:bodyPr>
          <a:lstStyle/>
          <a:p>
            <a:pPr indent="0" marL="0">
              <a:buNone/>
            </a:pPr>
            <a:r>
              <a:rPr lang="en-US" sz="850" b="1" dirty="0">
                <a:solidFill>
                  <a:srgbClr val="4B5563"/>
                </a:solidFill>
                <a:latin typeface="Arial" pitchFamily="34" charset="0"/>
                <a:ea typeface="Arial" pitchFamily="34" charset="-122"/>
                <a:cs typeface="Arial" pitchFamily="34" charset="-120"/>
              </a:rPr>
              <a:t>Device</a:t>
            </a:r>
            <a:endParaRPr lang="en-US" sz="850" dirty="0"/>
          </a:p>
        </p:txBody>
      </p:sp>
      <p:sp>
        <p:nvSpPr>
          <p:cNvPr id="25" name="Text 21"/>
          <p:cNvSpPr/>
          <p:nvPr/>
        </p:nvSpPr>
        <p:spPr>
          <a:xfrm>
            <a:off x="6629400" y="2560320"/>
            <a:ext cx="1307592" cy="182880"/>
          </a:xfrm>
          <a:prstGeom prst="rect">
            <a:avLst/>
          </a:prstGeom>
          <a:noFill/>
          <a:ln/>
        </p:spPr>
        <p:txBody>
          <a:bodyPr wrap="square" lIns="254" tIns="254" rIns="254" bIns="254" rtlCol="0" anchor="t">
            <a:normAutofit/>
          </a:bodyPr>
          <a:lstStyle/>
          <a:p>
            <a:pPr indent="0" marL="0">
              <a:buNone/>
            </a:pPr>
            <a:r>
              <a:rPr lang="en-US" sz="1300" dirty="0">
                <a:solidFill>
                  <a:srgbClr val="1F2937"/>
                </a:solidFill>
                <a:latin typeface="Arial" pitchFamily="34" charset="0"/>
                <a:ea typeface="Arial" pitchFamily="34" charset="-122"/>
                <a:cs typeface="Arial" pitchFamily="34" charset="-120"/>
              </a:rPr>
              <a:t>AirSENSE</a:t>
            </a:r>
            <a:endParaRPr lang="en-US" sz="1300" dirty="0"/>
          </a:p>
        </p:txBody>
      </p:sp>
      <p:sp>
        <p:nvSpPr>
          <p:cNvPr id="26" name="Shape 22"/>
          <p:cNvSpPr/>
          <p:nvPr/>
        </p:nvSpPr>
        <p:spPr>
          <a:xfrm>
            <a:off x="914400" y="3154680"/>
            <a:ext cx="3566160" cy="1417320"/>
          </a:xfrm>
          <a:prstGeom prst="roundRect">
            <a:avLst>
              <a:gd name="adj" fmla="val 2581"/>
            </a:avLst>
          </a:prstGeom>
          <a:solidFill>
            <a:srgbClr val="FFFFFF"/>
          </a:solidFill>
          <a:ln w="12700">
            <a:solidFill>
              <a:srgbClr val="E5E7EB"/>
            </a:solidFill>
            <a:prstDash val="solid"/>
          </a:ln>
        </p:spPr>
      </p:sp>
      <p:sp>
        <p:nvSpPr>
          <p:cNvPr id="27" name="Text 23"/>
          <p:cNvSpPr/>
          <p:nvPr/>
        </p:nvSpPr>
        <p:spPr>
          <a:xfrm>
            <a:off x="1078992" y="3273552"/>
            <a:ext cx="2011680" cy="164592"/>
          </a:xfrm>
          <a:prstGeom prst="rect">
            <a:avLst/>
          </a:prstGeom>
          <a:noFill/>
          <a:ln/>
        </p:spPr>
        <p:txBody>
          <a:bodyPr wrap="square" lIns="0" tIns="0" rIns="0" bIns="0" rtlCol="0" anchor="ctr"/>
          <a:lstStyle/>
          <a:p>
            <a:pPr indent="0" marL="0">
              <a:buNone/>
            </a:pPr>
            <a:r>
              <a:rPr lang="en-US" sz="850" dirty="0">
                <a:solidFill>
                  <a:srgbClr val="4B5563"/>
                </a:solidFill>
                <a:latin typeface="Arial" pitchFamily="34" charset="0"/>
                <a:ea typeface="Arial" pitchFamily="34" charset="-122"/>
                <a:cs typeface="Arial" pitchFamily="34" charset="-120"/>
              </a:rPr>
              <a:t>Temp/Humidity chart</a:t>
            </a:r>
            <a:endParaRPr lang="en-US" sz="850" dirty="0"/>
          </a:p>
        </p:txBody>
      </p:sp>
      <p:sp>
        <p:nvSpPr>
          <p:cNvPr id="28" name="Shape 24"/>
          <p:cNvSpPr/>
          <p:nvPr/>
        </p:nvSpPr>
        <p:spPr>
          <a:xfrm>
            <a:off x="1170432" y="4160520"/>
            <a:ext cx="2971800" cy="-530352"/>
          </a:xfrm>
          <a:prstGeom prst="line">
            <a:avLst/>
          </a:prstGeom>
          <a:noFill/>
          <a:ln w="25400">
            <a:solidFill>
              <a:srgbClr val="C8102E"/>
            </a:solidFill>
            <a:prstDash val="solid"/>
          </a:ln>
        </p:spPr>
      </p:sp>
      <p:sp>
        <p:nvSpPr>
          <p:cNvPr id="29" name="Shape 25"/>
          <p:cNvSpPr/>
          <p:nvPr/>
        </p:nvSpPr>
        <p:spPr>
          <a:xfrm>
            <a:off x="1170432" y="3931920"/>
            <a:ext cx="2971800" cy="292608"/>
          </a:xfrm>
          <a:prstGeom prst="line">
            <a:avLst/>
          </a:prstGeom>
          <a:noFill/>
          <a:ln w="25400">
            <a:solidFill>
              <a:srgbClr val="1D4ED8"/>
            </a:solidFill>
            <a:prstDash val="solid"/>
          </a:ln>
        </p:spPr>
      </p:sp>
      <p:sp>
        <p:nvSpPr>
          <p:cNvPr id="30" name="Shape 26"/>
          <p:cNvSpPr/>
          <p:nvPr/>
        </p:nvSpPr>
        <p:spPr>
          <a:xfrm>
            <a:off x="4800600" y="3154680"/>
            <a:ext cx="3383280" cy="1417320"/>
          </a:xfrm>
          <a:prstGeom prst="roundRect">
            <a:avLst>
              <a:gd name="adj" fmla="val 2581"/>
            </a:avLst>
          </a:prstGeom>
          <a:solidFill>
            <a:srgbClr val="FFFFFF"/>
          </a:solidFill>
          <a:ln w="12700">
            <a:solidFill>
              <a:srgbClr val="E5E7EB"/>
            </a:solidFill>
            <a:prstDash val="solid"/>
          </a:ln>
        </p:spPr>
      </p:sp>
      <p:sp>
        <p:nvSpPr>
          <p:cNvPr id="31" name="Text 27"/>
          <p:cNvSpPr/>
          <p:nvPr/>
        </p:nvSpPr>
        <p:spPr>
          <a:xfrm>
            <a:off x="4974336" y="3273552"/>
            <a:ext cx="1920240" cy="164592"/>
          </a:xfrm>
          <a:prstGeom prst="rect">
            <a:avLst/>
          </a:prstGeom>
          <a:noFill/>
          <a:ln/>
        </p:spPr>
        <p:txBody>
          <a:bodyPr wrap="square" lIns="0" tIns="0" rIns="0" bIns="0" rtlCol="0" anchor="ctr"/>
          <a:lstStyle/>
          <a:p>
            <a:pPr indent="0" marL="0">
              <a:buNone/>
            </a:pPr>
            <a:r>
              <a:rPr lang="en-US" sz="850" dirty="0">
                <a:solidFill>
                  <a:srgbClr val="4B5563"/>
                </a:solidFill>
                <a:latin typeface="Arial" pitchFamily="34" charset="0"/>
                <a:ea typeface="Arial" pitchFamily="34" charset="-122"/>
                <a:cs typeface="Arial" pitchFamily="34" charset="-120"/>
              </a:rPr>
              <a:t>8 ADC channels</a:t>
            </a:r>
            <a:endParaRPr lang="en-US" sz="850" dirty="0"/>
          </a:p>
        </p:txBody>
      </p:sp>
      <p:sp>
        <p:nvSpPr>
          <p:cNvPr id="32" name="Shape 28"/>
          <p:cNvSpPr/>
          <p:nvPr/>
        </p:nvSpPr>
        <p:spPr>
          <a:xfrm>
            <a:off x="5029200" y="4206240"/>
            <a:ext cx="201168" cy="182880"/>
          </a:xfrm>
          <a:prstGeom prst="rect">
            <a:avLst/>
          </a:prstGeom>
          <a:solidFill>
            <a:srgbClr val="C8102E"/>
          </a:solidFill>
          <a:ln w="12700">
            <a:solidFill>
              <a:srgbClr val="FFFFFF">
                <a:alpha val="0"/>
              </a:srgbClr>
            </a:solidFill>
            <a:prstDash val="solid"/>
          </a:ln>
        </p:spPr>
      </p:sp>
      <p:sp>
        <p:nvSpPr>
          <p:cNvPr id="33" name="Shape 29"/>
          <p:cNvSpPr/>
          <p:nvPr/>
        </p:nvSpPr>
        <p:spPr>
          <a:xfrm>
            <a:off x="5385816" y="4059936"/>
            <a:ext cx="201168" cy="329184"/>
          </a:xfrm>
          <a:prstGeom prst="rect">
            <a:avLst/>
          </a:prstGeom>
          <a:solidFill>
            <a:srgbClr val="1D4ED8"/>
          </a:solidFill>
          <a:ln w="12700">
            <a:solidFill>
              <a:srgbClr val="FFFFFF">
                <a:alpha val="0"/>
              </a:srgbClr>
            </a:solidFill>
            <a:prstDash val="solid"/>
          </a:ln>
        </p:spPr>
      </p:sp>
      <p:sp>
        <p:nvSpPr>
          <p:cNvPr id="34" name="Shape 30"/>
          <p:cNvSpPr/>
          <p:nvPr/>
        </p:nvSpPr>
        <p:spPr>
          <a:xfrm>
            <a:off x="5742432" y="3913632"/>
            <a:ext cx="201168" cy="475488"/>
          </a:xfrm>
          <a:prstGeom prst="rect">
            <a:avLst/>
          </a:prstGeom>
          <a:solidFill>
            <a:srgbClr val="0F766E"/>
          </a:solidFill>
          <a:ln w="12700">
            <a:solidFill>
              <a:srgbClr val="FFFFFF">
                <a:alpha val="0"/>
              </a:srgbClr>
            </a:solidFill>
            <a:prstDash val="solid"/>
          </a:ln>
        </p:spPr>
      </p:sp>
      <p:sp>
        <p:nvSpPr>
          <p:cNvPr id="35" name="Shape 31"/>
          <p:cNvSpPr/>
          <p:nvPr/>
        </p:nvSpPr>
        <p:spPr>
          <a:xfrm>
            <a:off x="6099048" y="3767328"/>
            <a:ext cx="201168" cy="621792"/>
          </a:xfrm>
          <a:prstGeom prst="rect">
            <a:avLst/>
          </a:prstGeom>
          <a:solidFill>
            <a:srgbClr val="EA580C"/>
          </a:solidFill>
          <a:ln w="12700">
            <a:solidFill>
              <a:srgbClr val="FFFFFF">
                <a:alpha val="0"/>
              </a:srgbClr>
            </a:solidFill>
            <a:prstDash val="solid"/>
          </a:ln>
        </p:spPr>
      </p:sp>
      <p:sp>
        <p:nvSpPr>
          <p:cNvPr id="36" name="Shape 32"/>
          <p:cNvSpPr/>
          <p:nvPr/>
        </p:nvSpPr>
        <p:spPr>
          <a:xfrm>
            <a:off x="6455664" y="4206240"/>
            <a:ext cx="201168" cy="182880"/>
          </a:xfrm>
          <a:prstGeom prst="rect">
            <a:avLst/>
          </a:prstGeom>
          <a:solidFill>
            <a:srgbClr val="C8102E"/>
          </a:solidFill>
          <a:ln w="12700">
            <a:solidFill>
              <a:srgbClr val="FFFFFF">
                <a:alpha val="0"/>
              </a:srgbClr>
            </a:solidFill>
            <a:prstDash val="solid"/>
          </a:ln>
        </p:spPr>
      </p:sp>
      <p:sp>
        <p:nvSpPr>
          <p:cNvPr id="37" name="Shape 33"/>
          <p:cNvSpPr/>
          <p:nvPr/>
        </p:nvSpPr>
        <p:spPr>
          <a:xfrm>
            <a:off x="6812280" y="4059936"/>
            <a:ext cx="201168" cy="329184"/>
          </a:xfrm>
          <a:prstGeom prst="rect">
            <a:avLst/>
          </a:prstGeom>
          <a:solidFill>
            <a:srgbClr val="1D4ED8"/>
          </a:solidFill>
          <a:ln w="12700">
            <a:solidFill>
              <a:srgbClr val="FFFFFF">
                <a:alpha val="0"/>
              </a:srgbClr>
            </a:solidFill>
            <a:prstDash val="solid"/>
          </a:ln>
        </p:spPr>
      </p:sp>
      <p:sp>
        <p:nvSpPr>
          <p:cNvPr id="38" name="Shape 34"/>
          <p:cNvSpPr/>
          <p:nvPr/>
        </p:nvSpPr>
        <p:spPr>
          <a:xfrm>
            <a:off x="7168896" y="3913632"/>
            <a:ext cx="201168" cy="475488"/>
          </a:xfrm>
          <a:prstGeom prst="rect">
            <a:avLst/>
          </a:prstGeom>
          <a:solidFill>
            <a:srgbClr val="0F766E"/>
          </a:solidFill>
          <a:ln w="12700">
            <a:solidFill>
              <a:srgbClr val="FFFFFF">
                <a:alpha val="0"/>
              </a:srgbClr>
            </a:solidFill>
            <a:prstDash val="solid"/>
          </a:ln>
        </p:spPr>
      </p:sp>
      <p:sp>
        <p:nvSpPr>
          <p:cNvPr id="39" name="Shape 35"/>
          <p:cNvSpPr/>
          <p:nvPr/>
        </p:nvSpPr>
        <p:spPr>
          <a:xfrm>
            <a:off x="7525512" y="3767328"/>
            <a:ext cx="201168" cy="621792"/>
          </a:xfrm>
          <a:prstGeom prst="rect">
            <a:avLst/>
          </a:prstGeom>
          <a:solidFill>
            <a:srgbClr val="EA580C"/>
          </a:solidFill>
          <a:ln w="12700">
            <a:solidFill>
              <a:srgbClr val="FFFFFF">
                <a:alpha val="0"/>
              </a:srgbClr>
            </a:solidFill>
            <a:prstDash val="solid"/>
          </a:ln>
        </p:spPr>
      </p:sp>
      <p:sp>
        <p:nvSpPr>
          <p:cNvPr id="40" name="Text 36"/>
          <p:cNvSpPr/>
          <p:nvPr/>
        </p:nvSpPr>
        <p:spPr>
          <a:xfrm>
            <a:off x="960120" y="5212080"/>
            <a:ext cx="7223760" cy="228600"/>
          </a:xfrm>
          <a:prstGeom prst="rect">
            <a:avLst/>
          </a:prstGeom>
          <a:noFill/>
          <a:ln/>
        </p:spPr>
        <p:txBody>
          <a:bodyPr wrap="square" lIns="0" tIns="0" rIns="0" bIns="0" rtlCol="0" anchor="ctr"/>
          <a:lstStyle/>
          <a:p>
            <a:pPr algn="ctr" indent="0" marL="0">
              <a:buNone/>
            </a:pPr>
            <a:r>
              <a:rPr lang="en-US" sz="1050" dirty="0">
                <a:solidFill>
                  <a:srgbClr val="1F2937"/>
                </a:solidFill>
                <a:latin typeface="Arial" pitchFamily="34" charset="0"/>
                <a:ea typeface="Arial" pitchFamily="34" charset="-122"/>
                <a:cs typeface="Arial" pitchFamily="34" charset="-120"/>
              </a:rPr>
              <a:t>Views: Dashboard • Quản lý thiết bị • Biểu đồ • Lịch sử • Cài đặt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hust_media/ppt/media/image11.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Database schema chính</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SQL lưu metadata/control; Mongo lưu telemetry và trạng thái đo.</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11</a:t>
            </a:r>
            <a:endParaRPr lang="en-US" sz="850" dirty="0"/>
          </a:p>
        </p:txBody>
      </p:sp>
      <p:sp>
        <p:nvSpPr>
          <p:cNvPr id="7" name="Shape 3"/>
          <p:cNvSpPr/>
          <p:nvPr/>
        </p:nvSpPr>
        <p:spPr>
          <a:xfrm>
            <a:off x="685800" y="1600200"/>
            <a:ext cx="3794760" cy="3063240"/>
          </a:xfrm>
          <a:prstGeom prst="roundRect">
            <a:avLst>
              <a:gd name="adj" fmla="val 2388"/>
            </a:avLst>
          </a:prstGeom>
          <a:solidFill>
            <a:srgbClr val="FFF1F2"/>
          </a:solidFill>
          <a:ln w="12700">
            <a:solidFill>
              <a:srgbClr val="E5E7EB"/>
            </a:solidFill>
            <a:prstDash val="solid"/>
          </a:ln>
        </p:spPr>
      </p:sp>
      <p:sp>
        <p:nvSpPr>
          <p:cNvPr id="8" name="Shape 4"/>
          <p:cNvSpPr/>
          <p:nvPr/>
        </p:nvSpPr>
        <p:spPr>
          <a:xfrm>
            <a:off x="685800" y="1600200"/>
            <a:ext cx="64008" cy="3063240"/>
          </a:xfrm>
          <a:prstGeom prst="rect">
            <a:avLst/>
          </a:prstGeom>
          <a:solidFill>
            <a:srgbClr val="C8102E"/>
          </a:solidFill>
          <a:ln w="12700">
            <a:solidFill>
              <a:srgbClr val="C8102E"/>
            </a:solidFill>
            <a:prstDash val="solid"/>
          </a:ln>
        </p:spPr>
      </p:sp>
      <p:sp>
        <p:nvSpPr>
          <p:cNvPr id="9" name="Text 5"/>
          <p:cNvSpPr/>
          <p:nvPr/>
        </p:nvSpPr>
        <p:spPr>
          <a:xfrm>
            <a:off x="850392" y="1709928"/>
            <a:ext cx="347472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SQL tables</a:t>
            </a:r>
            <a:endParaRPr lang="en-US" sz="1150" dirty="0"/>
          </a:p>
        </p:txBody>
      </p:sp>
      <p:sp>
        <p:nvSpPr>
          <p:cNvPr id="10" name="Text 6"/>
          <p:cNvSpPr/>
          <p:nvPr/>
        </p:nvSpPr>
        <p:spPr>
          <a:xfrm>
            <a:off x="850392" y="2011680"/>
            <a:ext cx="3474720" cy="2560320"/>
          </a:xfrm>
          <a:prstGeom prst="rect">
            <a:avLst/>
          </a:prstGeom>
          <a:noFill/>
          <a:ln/>
        </p:spPr>
        <p:txBody>
          <a:bodyPr wrap="square" lIns="254" tIns="254" rIns="254" bIns="254" rtlCol="0" anchor="t">
            <a:normAutofit/>
          </a:bodyPr>
          <a:lstStyle/>
          <a:p>
            <a:pPr indent="0" marL="0">
              <a:buNone/>
            </a:pPr>
            <a:r>
              <a:rPr lang="en-US" sz="940" dirty="0">
                <a:solidFill>
                  <a:srgbClr val="1F2937"/>
                </a:solidFill>
                <a:latin typeface="Arial" pitchFamily="34" charset="0"/>
                <a:ea typeface="Arial" pitchFamily="34" charset="-122"/>
                <a:cs typeface="Arial" pitchFamily="34" charset="-120"/>
              </a:rPr>
              <a:t>enose_devices</a:t>
            </a: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  - device_code, status, mqtt_topic, last_seen</a:t>
            </a:r>
            <a:endParaRPr lang="en-US" sz="940" dirty="0"/>
          </a:p>
          <a:p>
            <a:pPr indent="0" marL="0">
              <a:buNone/>
            </a:pP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enose_control_history</a:t>
            </a: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  - command, value, status, created_at</a:t>
            </a:r>
            <a:endParaRPr lang="en-US" sz="940" dirty="0"/>
          </a:p>
          <a:p>
            <a:pPr indent="0" marL="0">
              <a:buNone/>
            </a:pP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enose_sensor_channels</a:t>
            </a: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  - channel_index, label, unit, soft-delete</a:t>
            </a:r>
            <a:endParaRPr lang="en-US" sz="940" dirty="0"/>
          </a:p>
        </p:txBody>
      </p:sp>
      <p:sp>
        <p:nvSpPr>
          <p:cNvPr id="11" name="Shape 7"/>
          <p:cNvSpPr/>
          <p:nvPr/>
        </p:nvSpPr>
        <p:spPr>
          <a:xfrm>
            <a:off x="4663440" y="1600200"/>
            <a:ext cx="3794760" cy="3063240"/>
          </a:xfrm>
          <a:prstGeom prst="roundRect">
            <a:avLst>
              <a:gd name="adj" fmla="val 2388"/>
            </a:avLst>
          </a:prstGeom>
          <a:solidFill>
            <a:srgbClr val="F0FDFA"/>
          </a:solidFill>
          <a:ln w="12700">
            <a:solidFill>
              <a:srgbClr val="E5E7EB"/>
            </a:solidFill>
            <a:prstDash val="solid"/>
          </a:ln>
        </p:spPr>
      </p:sp>
      <p:sp>
        <p:nvSpPr>
          <p:cNvPr id="12" name="Shape 8"/>
          <p:cNvSpPr/>
          <p:nvPr/>
        </p:nvSpPr>
        <p:spPr>
          <a:xfrm>
            <a:off x="4663440" y="1600200"/>
            <a:ext cx="64008" cy="3063240"/>
          </a:xfrm>
          <a:prstGeom prst="rect">
            <a:avLst/>
          </a:prstGeom>
          <a:solidFill>
            <a:srgbClr val="0F766E"/>
          </a:solidFill>
          <a:ln w="12700">
            <a:solidFill>
              <a:srgbClr val="0F766E"/>
            </a:solidFill>
            <a:prstDash val="solid"/>
          </a:ln>
        </p:spPr>
      </p:sp>
      <p:sp>
        <p:nvSpPr>
          <p:cNvPr id="13" name="Text 9"/>
          <p:cNvSpPr/>
          <p:nvPr/>
        </p:nvSpPr>
        <p:spPr>
          <a:xfrm>
            <a:off x="4828032" y="1709928"/>
            <a:ext cx="3474720"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Mongo collections</a:t>
            </a:r>
            <a:endParaRPr lang="en-US" sz="1150" dirty="0"/>
          </a:p>
        </p:txBody>
      </p:sp>
      <p:sp>
        <p:nvSpPr>
          <p:cNvPr id="14" name="Text 10"/>
          <p:cNvSpPr/>
          <p:nvPr/>
        </p:nvSpPr>
        <p:spPr>
          <a:xfrm>
            <a:off x="4828032" y="2011680"/>
            <a:ext cx="3474720" cy="2560320"/>
          </a:xfrm>
          <a:prstGeom prst="rect">
            <a:avLst/>
          </a:prstGeom>
          <a:noFill/>
          <a:ln/>
        </p:spPr>
        <p:txBody>
          <a:bodyPr wrap="square" lIns="254" tIns="254" rIns="254" bIns="254" rtlCol="0" anchor="t">
            <a:normAutofit/>
          </a:bodyPr>
          <a:lstStyle/>
          <a:p>
            <a:pPr indent="0" marL="0">
              <a:buNone/>
            </a:pPr>
            <a:r>
              <a:rPr lang="en-US" sz="940" dirty="0">
                <a:solidFill>
                  <a:srgbClr val="1F2937"/>
                </a:solidFill>
                <a:latin typeface="Arial" pitchFamily="34" charset="0"/>
                <a:ea typeface="Arial" pitchFamily="34" charset="-122"/>
                <a:cs typeface="Arial" pitchFamily="34" charset="-120"/>
              </a:rPr>
              <a:t>sensor</a:t>
            </a: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  - topic, time, content</a:t>
            </a:r>
            <a:endParaRPr lang="en-US" sz="940" dirty="0"/>
          </a:p>
          <a:p>
            <a:pPr indent="0" marL="0">
              <a:buNone/>
            </a:pP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device_status</a:t>
            </a: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  - Wi-Fi, storage, heating, pump</a:t>
            </a:r>
            <a:endParaRPr lang="en-US" sz="940" dirty="0"/>
          </a:p>
          <a:p>
            <a:pPr indent="0" marL="0">
              <a:buNone/>
            </a:pP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measurement_data</a:t>
            </a:r>
            <a:endParaRPr lang="en-US" sz="940" dirty="0"/>
          </a:p>
          <a:p>
            <a:pPr indent="0" marL="0">
              <a:buNone/>
            </a:pPr>
            <a:r>
              <a:rPr lang="en-US" sz="940" dirty="0">
                <a:solidFill>
                  <a:srgbClr val="1F2937"/>
                </a:solidFill>
                <a:latin typeface="Arial" pitchFamily="34" charset="0"/>
                <a:ea typeface="Arial" pitchFamily="34" charset="-122"/>
                <a:cs typeface="Arial" pitchFamily="34" charset="-120"/>
              </a:rPr>
              <a:t>  - file_name, progress, samples_count, status</a:t>
            </a:r>
            <a:endParaRPr lang="en-US" sz="940" dirty="0"/>
          </a:p>
        </p:txBody>
      </p:sp>
      <p:sp>
        <p:nvSpPr>
          <p:cNvPr id="15" name="Shape 11"/>
          <p:cNvSpPr/>
          <p:nvPr/>
        </p:nvSpPr>
        <p:spPr>
          <a:xfrm>
            <a:off x="1143000" y="5120640"/>
            <a:ext cx="6903720" cy="749808"/>
          </a:xfrm>
          <a:prstGeom prst="roundRect">
            <a:avLst>
              <a:gd name="adj" fmla="val 9756"/>
            </a:avLst>
          </a:prstGeom>
          <a:solidFill>
            <a:srgbClr val="FFFBEB"/>
          </a:solidFill>
          <a:ln w="12700">
            <a:solidFill>
              <a:srgbClr val="FDE68A"/>
            </a:solidFill>
            <a:prstDash val="solid"/>
          </a:ln>
        </p:spPr>
      </p:sp>
      <p:sp>
        <p:nvSpPr>
          <p:cNvPr id="16" name="Shape 12"/>
          <p:cNvSpPr/>
          <p:nvPr/>
        </p:nvSpPr>
        <p:spPr>
          <a:xfrm>
            <a:off x="1143000" y="5120640"/>
            <a:ext cx="64008" cy="749808"/>
          </a:xfrm>
          <a:prstGeom prst="rect">
            <a:avLst/>
          </a:prstGeom>
          <a:solidFill>
            <a:srgbClr val="F2B705"/>
          </a:solidFill>
          <a:ln w="12700">
            <a:solidFill>
              <a:srgbClr val="F2B705"/>
            </a:solidFill>
            <a:prstDash val="solid"/>
          </a:ln>
        </p:spPr>
      </p:sp>
      <p:sp>
        <p:nvSpPr>
          <p:cNvPr id="17" name="Text 13"/>
          <p:cNvSpPr/>
          <p:nvPr/>
        </p:nvSpPr>
        <p:spPr>
          <a:xfrm>
            <a:off x="1307592" y="5230368"/>
            <a:ext cx="6583680" cy="228600"/>
          </a:xfrm>
          <a:prstGeom prst="rect">
            <a:avLst/>
          </a:prstGeom>
          <a:noFill/>
          <a:ln/>
        </p:spPr>
        <p:txBody>
          <a:bodyPr wrap="square" lIns="0" tIns="0" rIns="0" bIns="0" rtlCol="0" anchor="ctr">
            <a:normAutofit/>
          </a:bodyPr>
          <a:lstStyle/>
          <a:p>
            <a:pPr indent="0" marL="0">
              <a:buNone/>
            </a:pPr>
            <a:r>
              <a:rPr lang="en-US" sz="1150" b="1" dirty="0">
                <a:solidFill>
                  <a:srgbClr val="A16207"/>
                </a:solidFill>
                <a:latin typeface="Arial" pitchFamily="34" charset="0"/>
                <a:ea typeface="Arial" pitchFamily="34" charset="-122"/>
                <a:cs typeface="Arial" pitchFamily="34" charset="-120"/>
              </a:rPr>
              <a:t>Seed mặc định</a:t>
            </a:r>
            <a:endParaRPr lang="en-US" sz="1150" dirty="0"/>
          </a:p>
        </p:txBody>
      </p:sp>
      <p:sp>
        <p:nvSpPr>
          <p:cNvPr id="18" name="Text 14"/>
          <p:cNvSpPr/>
          <p:nvPr/>
        </p:nvSpPr>
        <p:spPr>
          <a:xfrm>
            <a:off x="1307592" y="5532120"/>
            <a:ext cx="6583680" cy="246888"/>
          </a:xfrm>
          <a:prstGeom prst="rect">
            <a:avLst/>
          </a:prstGeom>
          <a:noFill/>
          <a:ln/>
        </p:spPr>
        <p:txBody>
          <a:bodyPr wrap="square" lIns="254" tIns="254" rIns="254" bIns="254" rtlCol="0" anchor="t">
            <a:normAutofit/>
          </a:bodyPr>
          <a:lstStyle/>
          <a:p>
            <a:pPr indent="0" marL="0">
              <a:buNone/>
            </a:pPr>
            <a:r>
              <a:rPr lang="en-US" sz="1030" dirty="0">
                <a:solidFill>
                  <a:srgbClr val="1F2937"/>
                </a:solidFill>
                <a:latin typeface="Arial" pitchFamily="34" charset="0"/>
                <a:ea typeface="Arial" pitchFamily="34" charset="-122"/>
                <a:cs typeface="Arial" pitchFamily="34" charset="-120"/>
              </a:rPr>
              <a:t>Thiết bị AirSENSE + 8 kênh: EtOH1, EtOH2, EtOH3, EtOH4, EtOH5, EtOH6, VOC1, VOC2.</a:t>
            </a:r>
            <a:endParaRPr lang="en-US" sz="10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hust_media/ppt/media/image8.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Kịch bản demo đề xuất</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Trình bày theo hành trình vận hành thực tế của người dùng.</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12</a:t>
            </a:r>
            <a:endParaRPr lang="en-US" sz="850" dirty="0"/>
          </a:p>
        </p:txBody>
      </p:sp>
      <p:sp>
        <p:nvSpPr>
          <p:cNvPr id="7" name="Shape 3"/>
          <p:cNvSpPr/>
          <p:nvPr/>
        </p:nvSpPr>
        <p:spPr>
          <a:xfrm>
            <a:off x="868680" y="1581912"/>
            <a:ext cx="310896" cy="310896"/>
          </a:xfrm>
          <a:prstGeom prst="ellipse">
            <a:avLst/>
          </a:prstGeom>
          <a:solidFill>
            <a:srgbClr val="C8102E"/>
          </a:solidFill>
          <a:ln w="12700">
            <a:solidFill>
              <a:srgbClr val="C8102E"/>
            </a:solidFill>
            <a:prstDash val="solid"/>
          </a:ln>
        </p:spPr>
      </p:sp>
      <p:sp>
        <p:nvSpPr>
          <p:cNvPr id="8" name="Text 4"/>
          <p:cNvSpPr/>
          <p:nvPr/>
        </p:nvSpPr>
        <p:spPr>
          <a:xfrm>
            <a:off x="868680" y="1650492"/>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9" name="Text 5"/>
          <p:cNvSpPr/>
          <p:nvPr/>
        </p:nvSpPr>
        <p:spPr>
          <a:xfrm>
            <a:off x="1307592" y="1600200"/>
            <a:ext cx="3172968" cy="310896"/>
          </a:xfrm>
          <a:prstGeom prst="rect">
            <a:avLst/>
          </a:prstGeom>
          <a:noFill/>
          <a:ln/>
        </p:spPr>
        <p:txBody>
          <a:bodyPr wrap="square" lIns="127" tIns="127" rIns="127" bIns="127" rtlCol="0" anchor="ctr">
            <a:normAutofit/>
          </a:bodyPr>
          <a:lstStyle/>
          <a:p>
            <a:pPr indent="0" marL="0">
              <a:buNone/>
            </a:pPr>
            <a:r>
              <a:rPr lang="en-US" sz="1240" dirty="0">
                <a:solidFill>
                  <a:srgbClr val="1F2937"/>
                </a:solidFill>
                <a:latin typeface="Arial" pitchFamily="34" charset="0"/>
                <a:ea typeface="Arial" pitchFamily="34" charset="-122"/>
                <a:cs typeface="Arial" pitchFamily="34" charset="-120"/>
              </a:rPr>
              <a:t>Chọn thiết bị AirSENSE</a:t>
            </a:r>
            <a:endParaRPr lang="en-US" sz="1240" dirty="0"/>
          </a:p>
        </p:txBody>
      </p:sp>
      <p:sp>
        <p:nvSpPr>
          <p:cNvPr id="10" name="Shape 6"/>
          <p:cNvSpPr/>
          <p:nvPr/>
        </p:nvSpPr>
        <p:spPr>
          <a:xfrm>
            <a:off x="4617720" y="1581912"/>
            <a:ext cx="310896" cy="310896"/>
          </a:xfrm>
          <a:prstGeom prst="ellipse">
            <a:avLst/>
          </a:prstGeom>
          <a:solidFill>
            <a:srgbClr val="C8102E"/>
          </a:solidFill>
          <a:ln w="12700">
            <a:solidFill>
              <a:srgbClr val="C8102E"/>
            </a:solidFill>
            <a:prstDash val="solid"/>
          </a:ln>
        </p:spPr>
      </p:sp>
      <p:sp>
        <p:nvSpPr>
          <p:cNvPr id="11" name="Text 7"/>
          <p:cNvSpPr/>
          <p:nvPr/>
        </p:nvSpPr>
        <p:spPr>
          <a:xfrm>
            <a:off x="4617720" y="1650492"/>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2" name="Text 8"/>
          <p:cNvSpPr/>
          <p:nvPr/>
        </p:nvSpPr>
        <p:spPr>
          <a:xfrm>
            <a:off x="5056632" y="1600200"/>
            <a:ext cx="3172968" cy="310896"/>
          </a:xfrm>
          <a:prstGeom prst="rect">
            <a:avLst/>
          </a:prstGeom>
          <a:noFill/>
          <a:ln/>
        </p:spPr>
        <p:txBody>
          <a:bodyPr wrap="square" lIns="127" tIns="127" rIns="127" bIns="127" rtlCol="0" anchor="ctr">
            <a:normAutofit/>
          </a:bodyPr>
          <a:lstStyle/>
          <a:p>
            <a:pPr indent="0" marL="0">
              <a:buNone/>
            </a:pPr>
            <a:r>
              <a:rPr lang="en-US" sz="1240" dirty="0">
                <a:solidFill>
                  <a:srgbClr val="1F2937"/>
                </a:solidFill>
                <a:latin typeface="Arial" pitchFamily="34" charset="0"/>
                <a:ea typeface="Arial" pitchFamily="34" charset="-122"/>
                <a:cs typeface="Arial" pitchFamily="34" charset="-120"/>
              </a:rPr>
              <a:t>Quan sát KPI, trạng thái Wi‑Fi</a:t>
            </a:r>
            <a:endParaRPr lang="en-US" sz="1240" dirty="0"/>
          </a:p>
        </p:txBody>
      </p:sp>
      <p:sp>
        <p:nvSpPr>
          <p:cNvPr id="13" name="Shape 9"/>
          <p:cNvSpPr/>
          <p:nvPr/>
        </p:nvSpPr>
        <p:spPr>
          <a:xfrm>
            <a:off x="868680" y="2441448"/>
            <a:ext cx="310896" cy="310896"/>
          </a:xfrm>
          <a:prstGeom prst="ellipse">
            <a:avLst/>
          </a:prstGeom>
          <a:solidFill>
            <a:srgbClr val="C8102E"/>
          </a:solidFill>
          <a:ln w="12700">
            <a:solidFill>
              <a:srgbClr val="C8102E"/>
            </a:solidFill>
            <a:prstDash val="solid"/>
          </a:ln>
        </p:spPr>
      </p:sp>
      <p:sp>
        <p:nvSpPr>
          <p:cNvPr id="14" name="Text 10"/>
          <p:cNvSpPr/>
          <p:nvPr/>
        </p:nvSpPr>
        <p:spPr>
          <a:xfrm>
            <a:off x="868680" y="2510028"/>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5" name="Text 11"/>
          <p:cNvSpPr/>
          <p:nvPr/>
        </p:nvSpPr>
        <p:spPr>
          <a:xfrm>
            <a:off x="1307592" y="2459736"/>
            <a:ext cx="3172968" cy="310896"/>
          </a:xfrm>
          <a:prstGeom prst="rect">
            <a:avLst/>
          </a:prstGeom>
          <a:noFill/>
          <a:ln/>
        </p:spPr>
        <p:txBody>
          <a:bodyPr wrap="square" lIns="127" tIns="127" rIns="127" bIns="127" rtlCol="0" anchor="ctr">
            <a:normAutofit/>
          </a:bodyPr>
          <a:lstStyle/>
          <a:p>
            <a:pPr indent="0" marL="0">
              <a:buNone/>
            </a:pPr>
            <a:r>
              <a:rPr lang="en-US" sz="1240" dirty="0">
                <a:solidFill>
                  <a:srgbClr val="1F2937"/>
                </a:solidFill>
                <a:latin typeface="Arial" pitchFamily="34" charset="0"/>
                <a:ea typeface="Arial" pitchFamily="34" charset="-122"/>
                <a:cs typeface="Arial" pitchFamily="34" charset="-120"/>
              </a:rPr>
              <a:t>Bấm Start measurement</a:t>
            </a:r>
            <a:endParaRPr lang="en-US" sz="1240" dirty="0"/>
          </a:p>
        </p:txBody>
      </p:sp>
      <p:sp>
        <p:nvSpPr>
          <p:cNvPr id="16" name="Shape 12"/>
          <p:cNvSpPr/>
          <p:nvPr/>
        </p:nvSpPr>
        <p:spPr>
          <a:xfrm>
            <a:off x="4617720" y="2441448"/>
            <a:ext cx="310896" cy="310896"/>
          </a:xfrm>
          <a:prstGeom prst="ellipse">
            <a:avLst/>
          </a:prstGeom>
          <a:solidFill>
            <a:srgbClr val="1D4ED8"/>
          </a:solidFill>
          <a:ln w="12700">
            <a:solidFill>
              <a:srgbClr val="1D4ED8"/>
            </a:solidFill>
            <a:prstDash val="solid"/>
          </a:ln>
        </p:spPr>
      </p:sp>
      <p:sp>
        <p:nvSpPr>
          <p:cNvPr id="17" name="Text 13"/>
          <p:cNvSpPr/>
          <p:nvPr/>
        </p:nvSpPr>
        <p:spPr>
          <a:xfrm>
            <a:off x="4617720" y="2510028"/>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18" name="Text 14"/>
          <p:cNvSpPr/>
          <p:nvPr/>
        </p:nvSpPr>
        <p:spPr>
          <a:xfrm>
            <a:off x="5056632" y="2459736"/>
            <a:ext cx="3172968" cy="310896"/>
          </a:xfrm>
          <a:prstGeom prst="rect">
            <a:avLst/>
          </a:prstGeom>
          <a:noFill/>
          <a:ln/>
        </p:spPr>
        <p:txBody>
          <a:bodyPr wrap="square" lIns="127" tIns="127" rIns="127" bIns="127" rtlCol="0" anchor="ctr">
            <a:normAutofit/>
          </a:bodyPr>
          <a:lstStyle/>
          <a:p>
            <a:pPr indent="0" marL="0">
              <a:buNone/>
            </a:pPr>
            <a:r>
              <a:rPr lang="en-US" sz="1240" dirty="0">
                <a:solidFill>
                  <a:srgbClr val="1F2937"/>
                </a:solidFill>
                <a:latin typeface="Arial" pitchFamily="34" charset="0"/>
                <a:ea typeface="Arial" pitchFamily="34" charset="-122"/>
                <a:cs typeface="Arial" pitchFamily="34" charset="-120"/>
              </a:rPr>
              <a:t>Theo dõi chart/history cập nhật</a:t>
            </a:r>
            <a:endParaRPr lang="en-US" sz="1240" dirty="0"/>
          </a:p>
        </p:txBody>
      </p:sp>
      <p:sp>
        <p:nvSpPr>
          <p:cNvPr id="19" name="Shape 15"/>
          <p:cNvSpPr/>
          <p:nvPr/>
        </p:nvSpPr>
        <p:spPr>
          <a:xfrm>
            <a:off x="868680" y="3300984"/>
            <a:ext cx="310896" cy="310896"/>
          </a:xfrm>
          <a:prstGeom prst="ellipse">
            <a:avLst/>
          </a:prstGeom>
          <a:solidFill>
            <a:srgbClr val="1D4ED8"/>
          </a:solidFill>
          <a:ln w="12700">
            <a:solidFill>
              <a:srgbClr val="1D4ED8"/>
            </a:solidFill>
            <a:prstDash val="solid"/>
          </a:ln>
        </p:spPr>
      </p:sp>
      <p:sp>
        <p:nvSpPr>
          <p:cNvPr id="20" name="Text 16"/>
          <p:cNvSpPr/>
          <p:nvPr/>
        </p:nvSpPr>
        <p:spPr>
          <a:xfrm>
            <a:off x="868680" y="3369564"/>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21" name="Text 17"/>
          <p:cNvSpPr/>
          <p:nvPr/>
        </p:nvSpPr>
        <p:spPr>
          <a:xfrm>
            <a:off x="1307592" y="3319272"/>
            <a:ext cx="3172968" cy="310896"/>
          </a:xfrm>
          <a:prstGeom prst="rect">
            <a:avLst/>
          </a:prstGeom>
          <a:noFill/>
          <a:ln/>
        </p:spPr>
        <p:txBody>
          <a:bodyPr wrap="square" lIns="127" tIns="127" rIns="127" bIns="127" rtlCol="0" anchor="ctr">
            <a:normAutofit/>
          </a:bodyPr>
          <a:lstStyle/>
          <a:p>
            <a:pPr indent="0" marL="0">
              <a:buNone/>
            </a:pPr>
            <a:r>
              <a:rPr lang="en-US" sz="1240" dirty="0">
                <a:solidFill>
                  <a:srgbClr val="1F2937"/>
                </a:solidFill>
                <a:latin typeface="Arial" pitchFamily="34" charset="0"/>
                <a:ea typeface="Arial" pitchFamily="34" charset="-122"/>
                <a:cs typeface="Arial" pitchFamily="34" charset="-120"/>
              </a:rPr>
              <a:t>Bấm Stop measurement</a:t>
            </a:r>
            <a:endParaRPr lang="en-US" sz="1240" dirty="0"/>
          </a:p>
        </p:txBody>
      </p:sp>
      <p:sp>
        <p:nvSpPr>
          <p:cNvPr id="22" name="Shape 18"/>
          <p:cNvSpPr/>
          <p:nvPr/>
        </p:nvSpPr>
        <p:spPr>
          <a:xfrm>
            <a:off x="4617720" y="3300984"/>
            <a:ext cx="310896" cy="310896"/>
          </a:xfrm>
          <a:prstGeom prst="ellipse">
            <a:avLst/>
          </a:prstGeom>
          <a:solidFill>
            <a:srgbClr val="0F766E"/>
          </a:solidFill>
          <a:ln w="12700">
            <a:solidFill>
              <a:srgbClr val="0F766E"/>
            </a:solidFill>
            <a:prstDash val="solid"/>
          </a:ln>
        </p:spPr>
      </p:sp>
      <p:sp>
        <p:nvSpPr>
          <p:cNvPr id="23" name="Text 19"/>
          <p:cNvSpPr/>
          <p:nvPr/>
        </p:nvSpPr>
        <p:spPr>
          <a:xfrm>
            <a:off x="4617720" y="3369564"/>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6</a:t>
            </a:r>
            <a:endParaRPr lang="en-US" sz="850" dirty="0"/>
          </a:p>
        </p:txBody>
      </p:sp>
      <p:sp>
        <p:nvSpPr>
          <p:cNvPr id="24" name="Text 20"/>
          <p:cNvSpPr/>
          <p:nvPr/>
        </p:nvSpPr>
        <p:spPr>
          <a:xfrm>
            <a:off x="5056632" y="3319272"/>
            <a:ext cx="3172968" cy="310896"/>
          </a:xfrm>
          <a:prstGeom prst="rect">
            <a:avLst/>
          </a:prstGeom>
          <a:noFill/>
          <a:ln/>
        </p:spPr>
        <p:txBody>
          <a:bodyPr wrap="square" lIns="127" tIns="127" rIns="127" bIns="127" rtlCol="0" anchor="ctr">
            <a:normAutofit/>
          </a:bodyPr>
          <a:lstStyle/>
          <a:p>
            <a:pPr indent="0" marL="0">
              <a:buNone/>
            </a:pPr>
            <a:r>
              <a:rPr lang="en-US" sz="1240" dirty="0">
                <a:solidFill>
                  <a:srgbClr val="1F2937"/>
                </a:solidFill>
                <a:latin typeface="Arial" pitchFamily="34" charset="0"/>
                <a:ea typeface="Arial" pitchFamily="34" charset="-122"/>
                <a:cs typeface="Arial" pitchFamily="34" charset="-120"/>
              </a:rPr>
              <a:t>CRUD sensor channel</a:t>
            </a:r>
            <a:endParaRPr lang="en-US" sz="1240" dirty="0"/>
          </a:p>
        </p:txBody>
      </p:sp>
      <p:sp>
        <p:nvSpPr>
          <p:cNvPr id="25" name="Shape 21"/>
          <p:cNvSpPr/>
          <p:nvPr/>
        </p:nvSpPr>
        <p:spPr>
          <a:xfrm>
            <a:off x="868680" y="4160520"/>
            <a:ext cx="310896" cy="310896"/>
          </a:xfrm>
          <a:prstGeom prst="ellipse">
            <a:avLst/>
          </a:prstGeom>
          <a:solidFill>
            <a:srgbClr val="0F766E"/>
          </a:solidFill>
          <a:ln w="12700">
            <a:solidFill>
              <a:srgbClr val="0F766E"/>
            </a:solidFill>
            <a:prstDash val="solid"/>
          </a:ln>
        </p:spPr>
      </p:sp>
      <p:sp>
        <p:nvSpPr>
          <p:cNvPr id="26" name="Text 22"/>
          <p:cNvSpPr/>
          <p:nvPr/>
        </p:nvSpPr>
        <p:spPr>
          <a:xfrm>
            <a:off x="868680" y="4229100"/>
            <a:ext cx="310896"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7</a:t>
            </a:r>
            <a:endParaRPr lang="en-US" sz="850" dirty="0"/>
          </a:p>
        </p:txBody>
      </p:sp>
      <p:sp>
        <p:nvSpPr>
          <p:cNvPr id="27" name="Text 23"/>
          <p:cNvSpPr/>
          <p:nvPr/>
        </p:nvSpPr>
        <p:spPr>
          <a:xfrm>
            <a:off x="1307592" y="4178808"/>
            <a:ext cx="3172968" cy="310896"/>
          </a:xfrm>
          <a:prstGeom prst="rect">
            <a:avLst/>
          </a:prstGeom>
          <a:noFill/>
          <a:ln/>
        </p:spPr>
        <p:txBody>
          <a:bodyPr wrap="square" lIns="127" tIns="127" rIns="127" bIns="127" rtlCol="0" anchor="ctr">
            <a:normAutofit/>
          </a:bodyPr>
          <a:lstStyle/>
          <a:p>
            <a:pPr indent="0" marL="0">
              <a:buNone/>
            </a:pPr>
            <a:r>
              <a:rPr lang="en-US" sz="1240" dirty="0">
                <a:solidFill>
                  <a:srgbClr val="1F2937"/>
                </a:solidFill>
                <a:latin typeface="Arial" pitchFamily="34" charset="0"/>
                <a:ea typeface="Arial" pitchFamily="34" charset="-122"/>
                <a:cs typeface="Arial" pitchFamily="34" charset="-120"/>
              </a:rPr>
              <a:t>Tải file CSV</a:t>
            </a:r>
            <a:endParaRPr lang="en-US" sz="1240" dirty="0"/>
          </a:p>
        </p:txBody>
      </p:sp>
      <p:sp>
        <p:nvSpPr>
          <p:cNvPr id="28" name="Shape 24"/>
          <p:cNvSpPr/>
          <p:nvPr/>
        </p:nvSpPr>
        <p:spPr>
          <a:xfrm>
            <a:off x="1234440" y="5376672"/>
            <a:ext cx="6675120" cy="548640"/>
          </a:xfrm>
          <a:prstGeom prst="roundRect">
            <a:avLst>
              <a:gd name="adj" fmla="val 13333"/>
            </a:avLst>
          </a:prstGeom>
          <a:solidFill>
            <a:srgbClr val="F9FAFB"/>
          </a:solidFill>
          <a:ln w="12700">
            <a:solidFill>
              <a:srgbClr val="E5E7EB"/>
            </a:solidFill>
            <a:prstDash val="solid"/>
          </a:ln>
        </p:spPr>
      </p:sp>
      <p:sp>
        <p:nvSpPr>
          <p:cNvPr id="29" name="Shape 25"/>
          <p:cNvSpPr/>
          <p:nvPr/>
        </p:nvSpPr>
        <p:spPr>
          <a:xfrm>
            <a:off x="1234440" y="5376672"/>
            <a:ext cx="64008" cy="548640"/>
          </a:xfrm>
          <a:prstGeom prst="rect">
            <a:avLst/>
          </a:prstGeom>
          <a:solidFill>
            <a:srgbClr val="C8102E"/>
          </a:solidFill>
          <a:ln w="12700">
            <a:solidFill>
              <a:srgbClr val="C8102E"/>
            </a:solidFill>
            <a:prstDash val="solid"/>
          </a:ln>
        </p:spPr>
      </p:sp>
      <p:sp>
        <p:nvSpPr>
          <p:cNvPr id="30" name="Text 26"/>
          <p:cNvSpPr/>
          <p:nvPr/>
        </p:nvSpPr>
        <p:spPr>
          <a:xfrm>
            <a:off x="1399032" y="5486400"/>
            <a:ext cx="635508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Cách nói khi demo</a:t>
            </a:r>
            <a:endParaRPr lang="en-US" sz="1150" dirty="0"/>
          </a:p>
        </p:txBody>
      </p:sp>
      <p:sp>
        <p:nvSpPr>
          <p:cNvPr id="31" name="Text 27"/>
          <p:cNvSpPr/>
          <p:nvPr/>
        </p:nvSpPr>
        <p:spPr>
          <a:xfrm>
            <a:off x="1399032" y="5788152"/>
            <a:ext cx="6355080" cy="45720"/>
          </a:xfrm>
          <a:prstGeom prst="rect">
            <a:avLst/>
          </a:prstGeom>
          <a:noFill/>
          <a:ln/>
        </p:spPr>
        <p:txBody>
          <a:bodyPr wrap="square" lIns="254" tIns="254" rIns="254" bIns="254" rtlCol="0" anchor="t">
            <a:normAutofit/>
          </a:bodyPr>
          <a:lstStyle/>
          <a:p>
            <a:pPr indent="0" marL="0">
              <a:buNone/>
            </a:pPr>
            <a:r>
              <a:rPr lang="en-US" sz="970" dirty="0">
                <a:solidFill>
                  <a:srgbClr val="1F2937"/>
                </a:solidFill>
                <a:latin typeface="Arial" pitchFamily="34" charset="0"/>
                <a:ea typeface="Arial" pitchFamily="34" charset="-122"/>
                <a:cs typeface="Arial" pitchFamily="34" charset="-120"/>
              </a:rPr>
              <a:t>Đi từ “quan sát → điều khiển → xác nhận dữ liệu sinh ra → cấu hình → xuất dữ liệu”.</a:t>
            </a:r>
            <a:endParaRPr lang="en-US" sz="9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mnt/data/hust_media/ppt/media/image12.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Vận hành &amp; kiểm tra nhanh</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Các bước tối thiểu để chạy demo local và xác nhận dữ liệu.</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13</a:t>
            </a:r>
            <a:endParaRPr lang="en-US" sz="850" dirty="0"/>
          </a:p>
        </p:txBody>
      </p:sp>
      <p:sp>
        <p:nvSpPr>
          <p:cNvPr id="7" name="Shape 3"/>
          <p:cNvSpPr/>
          <p:nvPr/>
        </p:nvSpPr>
        <p:spPr>
          <a:xfrm>
            <a:off x="685800" y="1691640"/>
            <a:ext cx="4023360" cy="1920240"/>
          </a:xfrm>
          <a:prstGeom prst="roundRect">
            <a:avLst>
              <a:gd name="adj" fmla="val 2857"/>
            </a:avLst>
          </a:prstGeom>
          <a:solidFill>
            <a:srgbClr val="111827"/>
          </a:solidFill>
          <a:ln w="12700">
            <a:solidFill>
              <a:srgbClr val="111827"/>
            </a:solidFill>
            <a:prstDash val="solid"/>
          </a:ln>
        </p:spPr>
      </p:sp>
      <p:sp>
        <p:nvSpPr>
          <p:cNvPr id="8" name="Text 4"/>
          <p:cNvSpPr/>
          <p:nvPr/>
        </p:nvSpPr>
        <p:spPr>
          <a:xfrm>
            <a:off x="795528" y="1783080"/>
            <a:ext cx="3803904" cy="1755648"/>
          </a:xfrm>
          <a:prstGeom prst="rect">
            <a:avLst/>
          </a:prstGeom>
          <a:noFill/>
          <a:ln/>
        </p:spPr>
        <p:txBody>
          <a:bodyPr wrap="square" lIns="0" tIns="0" rIns="0" bIns="0" rtlCol="0" anchor="ctr">
            <a:normAutofit/>
          </a:bodyPr>
          <a:lstStyle/>
          <a:p>
            <a:pPr indent="0" marL="0">
              <a:buNone/>
            </a:pPr>
            <a:r>
              <a:rPr lang="en-US" sz="920" dirty="0">
                <a:solidFill>
                  <a:srgbClr val="FFFFFF"/>
                </a:solidFill>
                <a:latin typeface="Courier New" pitchFamily="34" charset="0"/>
                <a:ea typeface="Courier New" pitchFamily="34" charset="-122"/>
                <a:cs typeface="Courier New" pitchFamily="34" charset="-120"/>
              </a:rPr>
              <a:t>Copy-Item .env.example .env</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npm install</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node .\scripts\init-pg-schema.js</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npm start</a:t>
            </a:r>
            <a:endParaRPr lang="en-US" sz="920" dirty="0"/>
          </a:p>
          <a:p>
            <a:pPr indent="0" marL="0">
              <a:buNone/>
            </a:pPr>
            <a:r>
              <a:rPr lang="en-US" sz="920" dirty="0">
                <a:solidFill>
                  <a:srgbClr val="FFFFFF"/>
                </a:solidFill>
                <a:latin typeface="Courier New" pitchFamily="34" charset="0"/>
                <a:ea typeface="Courier New" pitchFamily="34" charset="-122"/>
                <a:cs typeface="Courier New" pitchFamily="34" charset="-120"/>
              </a:rPr>
              <a:t># Open: http://127.0.0.1:3010</a:t>
            </a:r>
            <a:endParaRPr lang="en-US" sz="920" dirty="0"/>
          </a:p>
        </p:txBody>
      </p:sp>
      <p:sp>
        <p:nvSpPr>
          <p:cNvPr id="9" name="Shape 5"/>
          <p:cNvSpPr/>
          <p:nvPr/>
        </p:nvSpPr>
        <p:spPr>
          <a:xfrm>
            <a:off x="5029200" y="1691640"/>
            <a:ext cx="3383280" cy="914400"/>
          </a:xfrm>
          <a:prstGeom prst="roundRect">
            <a:avLst>
              <a:gd name="adj" fmla="val 8000"/>
            </a:avLst>
          </a:prstGeom>
          <a:solidFill>
            <a:srgbClr val="EFF6FF"/>
          </a:solidFill>
          <a:ln w="12700">
            <a:solidFill>
              <a:srgbClr val="E5E7EB"/>
            </a:solidFill>
            <a:prstDash val="solid"/>
          </a:ln>
        </p:spPr>
      </p:sp>
      <p:sp>
        <p:nvSpPr>
          <p:cNvPr id="10" name="Shape 6"/>
          <p:cNvSpPr/>
          <p:nvPr/>
        </p:nvSpPr>
        <p:spPr>
          <a:xfrm>
            <a:off x="5029200" y="1691640"/>
            <a:ext cx="64008" cy="914400"/>
          </a:xfrm>
          <a:prstGeom prst="rect">
            <a:avLst/>
          </a:prstGeom>
          <a:solidFill>
            <a:srgbClr val="1D4ED8"/>
          </a:solidFill>
          <a:ln w="12700">
            <a:solidFill>
              <a:srgbClr val="1D4ED8"/>
            </a:solidFill>
            <a:prstDash val="solid"/>
          </a:ln>
        </p:spPr>
      </p:sp>
      <p:sp>
        <p:nvSpPr>
          <p:cNvPr id="11" name="Text 7"/>
          <p:cNvSpPr/>
          <p:nvPr/>
        </p:nvSpPr>
        <p:spPr>
          <a:xfrm>
            <a:off x="5193792" y="1801368"/>
            <a:ext cx="3063240" cy="228600"/>
          </a:xfrm>
          <a:prstGeom prst="rect">
            <a:avLst/>
          </a:prstGeom>
          <a:noFill/>
          <a:ln/>
        </p:spPr>
        <p:txBody>
          <a:bodyPr wrap="square" lIns="0" tIns="0" rIns="0" bIns="0" rtlCol="0" anchor="ctr">
            <a:normAutofit/>
          </a:bodyPr>
          <a:lstStyle/>
          <a:p>
            <a:pPr indent="0" marL="0">
              <a:buNone/>
            </a:pPr>
            <a:r>
              <a:rPr lang="en-US" sz="1150" b="1" dirty="0">
                <a:solidFill>
                  <a:srgbClr val="1D4ED8"/>
                </a:solidFill>
                <a:latin typeface="Arial" pitchFamily="34" charset="0"/>
                <a:ea typeface="Arial" pitchFamily="34" charset="-122"/>
                <a:cs typeface="Arial" pitchFamily="34" charset="-120"/>
              </a:rPr>
              <a:t>Cần chuẩn bị</a:t>
            </a:r>
            <a:endParaRPr lang="en-US" sz="1150" dirty="0"/>
          </a:p>
        </p:txBody>
      </p:sp>
      <p:sp>
        <p:nvSpPr>
          <p:cNvPr id="12" name="Text 8"/>
          <p:cNvSpPr/>
          <p:nvPr/>
        </p:nvSpPr>
        <p:spPr>
          <a:xfrm>
            <a:off x="5193792" y="2103120"/>
            <a:ext cx="3063240" cy="411480"/>
          </a:xfrm>
          <a:prstGeom prst="rect">
            <a:avLst/>
          </a:prstGeom>
          <a:noFill/>
          <a:ln/>
        </p:spPr>
        <p:txBody>
          <a:bodyPr wrap="square" lIns="254" tIns="254" rIns="254" bIns="254" rtlCol="0" anchor="t">
            <a:normAutofit/>
          </a:bodyPr>
          <a:lstStyle/>
          <a:p>
            <a:pPr indent="0" marL="0">
              <a:buNone/>
            </a:pPr>
            <a:r>
              <a:rPr lang="en-US" sz="1070" dirty="0">
                <a:solidFill>
                  <a:srgbClr val="1F2937"/>
                </a:solidFill>
                <a:latin typeface="Arial" pitchFamily="34" charset="0"/>
                <a:ea typeface="Arial" pitchFamily="34" charset="-122"/>
                <a:cs typeface="Arial" pitchFamily="34" charset="-120"/>
              </a:rPr>
              <a:t>Node.js 18+, SQL, MongoDB, MQTT broker</a:t>
            </a:r>
            <a:endParaRPr lang="en-US" sz="1070" dirty="0"/>
          </a:p>
        </p:txBody>
      </p:sp>
      <p:sp>
        <p:nvSpPr>
          <p:cNvPr id="13" name="Shape 9"/>
          <p:cNvSpPr/>
          <p:nvPr/>
        </p:nvSpPr>
        <p:spPr>
          <a:xfrm>
            <a:off x="5029200" y="2834640"/>
            <a:ext cx="3383280" cy="914400"/>
          </a:xfrm>
          <a:prstGeom prst="roundRect">
            <a:avLst>
              <a:gd name="adj" fmla="val 8000"/>
            </a:avLst>
          </a:prstGeom>
          <a:solidFill>
            <a:srgbClr val="F0FDFA"/>
          </a:solidFill>
          <a:ln w="12700">
            <a:solidFill>
              <a:srgbClr val="E5E7EB"/>
            </a:solidFill>
            <a:prstDash val="solid"/>
          </a:ln>
        </p:spPr>
      </p:sp>
      <p:sp>
        <p:nvSpPr>
          <p:cNvPr id="14" name="Shape 10"/>
          <p:cNvSpPr/>
          <p:nvPr/>
        </p:nvSpPr>
        <p:spPr>
          <a:xfrm>
            <a:off x="5029200" y="2834640"/>
            <a:ext cx="64008" cy="914400"/>
          </a:xfrm>
          <a:prstGeom prst="rect">
            <a:avLst/>
          </a:prstGeom>
          <a:solidFill>
            <a:srgbClr val="0F766E"/>
          </a:solidFill>
          <a:ln w="12700">
            <a:solidFill>
              <a:srgbClr val="0F766E"/>
            </a:solidFill>
            <a:prstDash val="solid"/>
          </a:ln>
        </p:spPr>
      </p:sp>
      <p:sp>
        <p:nvSpPr>
          <p:cNvPr id="15" name="Text 11"/>
          <p:cNvSpPr/>
          <p:nvPr/>
        </p:nvSpPr>
        <p:spPr>
          <a:xfrm>
            <a:off x="5193792" y="2944368"/>
            <a:ext cx="3063240"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Kiểm tra nhanh</a:t>
            </a:r>
            <a:endParaRPr lang="en-US" sz="1150" dirty="0"/>
          </a:p>
        </p:txBody>
      </p:sp>
      <p:sp>
        <p:nvSpPr>
          <p:cNvPr id="16" name="Text 12"/>
          <p:cNvSpPr/>
          <p:nvPr/>
        </p:nvSpPr>
        <p:spPr>
          <a:xfrm>
            <a:off x="5193792" y="3246120"/>
            <a:ext cx="3063240" cy="411480"/>
          </a:xfrm>
          <a:prstGeom prst="rect">
            <a:avLst/>
          </a:prstGeom>
          <a:noFill/>
          <a:ln/>
        </p:spPr>
        <p:txBody>
          <a:bodyPr wrap="square" lIns="254" tIns="254" rIns="254" bIns="254" rtlCol="0" anchor="t">
            <a:normAutofit/>
          </a:bodyPr>
          <a:lstStyle/>
          <a:p>
            <a:pPr indent="0" marL="0">
              <a:buNone/>
            </a:pPr>
            <a:r>
              <a:rPr lang="en-US" sz="1070" dirty="0">
                <a:solidFill>
                  <a:srgbClr val="1F2937"/>
                </a:solidFill>
                <a:latin typeface="Arial" pitchFamily="34" charset="0"/>
                <a:ea typeface="Arial" pitchFamily="34" charset="-122"/>
                <a:cs typeface="Arial" pitchFamily="34" charset="-120"/>
              </a:rPr>
              <a:t>Mở /config.json, /devices/:id/latest, /history</a:t>
            </a:r>
            <a:endParaRPr lang="en-US" sz="1070" dirty="0"/>
          </a:p>
        </p:txBody>
      </p:sp>
      <p:sp>
        <p:nvSpPr>
          <p:cNvPr id="17" name="Shape 13"/>
          <p:cNvSpPr/>
          <p:nvPr/>
        </p:nvSpPr>
        <p:spPr>
          <a:xfrm>
            <a:off x="5029200" y="3977640"/>
            <a:ext cx="3383280" cy="914400"/>
          </a:xfrm>
          <a:prstGeom prst="roundRect">
            <a:avLst>
              <a:gd name="adj" fmla="val 8000"/>
            </a:avLst>
          </a:prstGeom>
          <a:solidFill>
            <a:srgbClr val="FFF1F2"/>
          </a:solidFill>
          <a:ln w="12700">
            <a:solidFill>
              <a:srgbClr val="E5E7EB"/>
            </a:solidFill>
            <a:prstDash val="solid"/>
          </a:ln>
        </p:spPr>
      </p:sp>
      <p:sp>
        <p:nvSpPr>
          <p:cNvPr id="18" name="Shape 14"/>
          <p:cNvSpPr/>
          <p:nvPr/>
        </p:nvSpPr>
        <p:spPr>
          <a:xfrm>
            <a:off x="5029200" y="3977640"/>
            <a:ext cx="64008" cy="914400"/>
          </a:xfrm>
          <a:prstGeom prst="rect">
            <a:avLst/>
          </a:prstGeom>
          <a:solidFill>
            <a:srgbClr val="C8102E"/>
          </a:solidFill>
          <a:ln w="12700">
            <a:solidFill>
              <a:srgbClr val="C8102E"/>
            </a:solidFill>
            <a:prstDash val="solid"/>
          </a:ln>
        </p:spPr>
      </p:sp>
      <p:sp>
        <p:nvSpPr>
          <p:cNvPr id="19" name="Text 15"/>
          <p:cNvSpPr/>
          <p:nvPr/>
        </p:nvSpPr>
        <p:spPr>
          <a:xfrm>
            <a:off x="5193792" y="4087368"/>
            <a:ext cx="306324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Lưu ý demo nhóm</a:t>
            </a:r>
            <a:endParaRPr lang="en-US" sz="1150" dirty="0"/>
          </a:p>
        </p:txBody>
      </p:sp>
      <p:sp>
        <p:nvSpPr>
          <p:cNvPr id="20" name="Text 16"/>
          <p:cNvSpPr/>
          <p:nvPr/>
        </p:nvSpPr>
        <p:spPr>
          <a:xfrm>
            <a:off x="5193792" y="4389120"/>
            <a:ext cx="3063240" cy="411480"/>
          </a:xfrm>
          <a:prstGeom prst="rect">
            <a:avLst/>
          </a:prstGeom>
          <a:noFill/>
          <a:ln/>
        </p:spPr>
        <p:txBody>
          <a:bodyPr wrap="square" lIns="254" tIns="254" rIns="254" bIns="254" rtlCol="0" anchor="t">
            <a:normAutofit/>
          </a:bodyPr>
          <a:lstStyle/>
          <a:p>
            <a:pPr indent="0" marL="0">
              <a:buNone/>
            </a:pPr>
            <a:r>
              <a:rPr lang="en-US" sz="1070" dirty="0">
                <a:solidFill>
                  <a:srgbClr val="1F2937"/>
                </a:solidFill>
                <a:latin typeface="Arial" pitchFamily="34" charset="0"/>
                <a:ea typeface="Arial" pitchFamily="34" charset="-122"/>
                <a:cs typeface="Arial" pitchFamily="34" charset="-120"/>
              </a:rPr>
              <a:t>Chỉ 1 backend subscribe MQTT để tránh ghi trùng</a:t>
            </a:r>
            <a:endParaRPr lang="en-US" sz="1070" dirty="0"/>
          </a:p>
        </p:txBody>
      </p:sp>
      <p:sp>
        <p:nvSpPr>
          <p:cNvPr id="21" name="Shape 17"/>
          <p:cNvSpPr/>
          <p:nvPr/>
        </p:nvSpPr>
        <p:spPr>
          <a:xfrm>
            <a:off x="822960" y="5230368"/>
            <a:ext cx="7498080" cy="713232"/>
          </a:xfrm>
          <a:prstGeom prst="roundRect">
            <a:avLst>
              <a:gd name="adj" fmla="val 10256"/>
            </a:avLst>
          </a:prstGeom>
          <a:solidFill>
            <a:srgbClr val="FFFBEB"/>
          </a:solidFill>
          <a:ln w="12700">
            <a:solidFill>
              <a:srgbClr val="FDE68A"/>
            </a:solidFill>
            <a:prstDash val="solid"/>
          </a:ln>
        </p:spPr>
      </p:sp>
      <p:sp>
        <p:nvSpPr>
          <p:cNvPr id="22" name="Shape 18"/>
          <p:cNvSpPr/>
          <p:nvPr/>
        </p:nvSpPr>
        <p:spPr>
          <a:xfrm>
            <a:off x="822960" y="5230368"/>
            <a:ext cx="64008" cy="713232"/>
          </a:xfrm>
          <a:prstGeom prst="rect">
            <a:avLst/>
          </a:prstGeom>
          <a:solidFill>
            <a:srgbClr val="F2B705"/>
          </a:solidFill>
          <a:ln w="12700">
            <a:solidFill>
              <a:srgbClr val="F2B705"/>
            </a:solidFill>
            <a:prstDash val="solid"/>
          </a:ln>
        </p:spPr>
      </p:sp>
      <p:sp>
        <p:nvSpPr>
          <p:cNvPr id="23" name="Text 19"/>
          <p:cNvSpPr/>
          <p:nvPr/>
        </p:nvSpPr>
        <p:spPr>
          <a:xfrm>
            <a:off x="987552" y="5340096"/>
            <a:ext cx="7178040" cy="228600"/>
          </a:xfrm>
          <a:prstGeom prst="rect">
            <a:avLst/>
          </a:prstGeom>
          <a:noFill/>
          <a:ln/>
        </p:spPr>
        <p:txBody>
          <a:bodyPr wrap="square" lIns="0" tIns="0" rIns="0" bIns="0" rtlCol="0" anchor="ctr">
            <a:normAutofit/>
          </a:bodyPr>
          <a:lstStyle/>
          <a:p>
            <a:pPr indent="0" marL="0">
              <a:buNone/>
            </a:pPr>
            <a:r>
              <a:rPr lang="en-US" sz="1150" b="1" dirty="0">
                <a:solidFill>
                  <a:srgbClr val="A16207"/>
                </a:solidFill>
                <a:latin typeface="Arial" pitchFamily="34" charset="0"/>
                <a:ea typeface="Arial" pitchFamily="34" charset="-122"/>
                <a:cs typeface="Arial" pitchFamily="34" charset="-120"/>
              </a:rPr>
              <a:t>Bảo mật khi trình bày</a:t>
            </a:r>
            <a:endParaRPr lang="en-US" sz="1150" dirty="0"/>
          </a:p>
        </p:txBody>
      </p:sp>
      <p:sp>
        <p:nvSpPr>
          <p:cNvPr id="24" name="Text 20"/>
          <p:cNvSpPr/>
          <p:nvPr/>
        </p:nvSpPr>
        <p:spPr>
          <a:xfrm>
            <a:off x="987552" y="5641848"/>
            <a:ext cx="7178040" cy="210312"/>
          </a:xfrm>
          <a:prstGeom prst="rect">
            <a:avLst/>
          </a:prstGeom>
          <a:noFill/>
          <a:ln/>
        </p:spPr>
        <p:txBody>
          <a:bodyPr wrap="square" lIns="254" tIns="254" rIns="254" bIns="254" rtlCol="0" anchor="t">
            <a:normAutofit/>
          </a:bodyPr>
          <a:lstStyle/>
          <a:p>
            <a:pPr indent="0" marL="0">
              <a:buNone/>
            </a:pPr>
            <a:r>
              <a:rPr lang="en-US" sz="1010" dirty="0">
                <a:solidFill>
                  <a:srgbClr val="1F2937"/>
                </a:solidFill>
                <a:latin typeface="Arial" pitchFamily="34" charset="0"/>
                <a:ea typeface="Arial" pitchFamily="34" charset="-122"/>
                <a:cs typeface="Arial" pitchFamily="34" charset="-120"/>
              </a:rPr>
              <a:t>Không đưa nội dung .env thật, mật khẩu DB hoặc thông tin broker nhạy cảm lên slide/bản nộp.</a:t>
            </a:r>
            <a:endParaRPr lang="en-US" sz="101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mnt/data/hust_media/ppt/media/image11.png">    </p:cNvPr>
          <p:cNvPicPr>
            <a:picLocks noChangeAspect="1"/>
          </p:cNvPicPr>
          <p:nvPr/>
        </p:nvPicPr>
        <p:blipFill>
          <a:blip r:embed="rId1"/>
          <a:stretch>
            <a:fillRect/>
          </a:stretch>
        </p:blipFill>
        <p:spPr>
          <a:xfrm>
            <a:off x="0" y="0"/>
            <a:ext cx="9144000" cy="6858000"/>
          </a:xfrm>
          <a:prstGeom prst="rect">
            <a:avLst/>
          </a:prstGeom>
        </p:spPr>
      </p:pic>
      <p:pic>
        <p:nvPicPr>
          <p:cNvPr id="3" name="Image 1" descr="/mnt/data/hust_media/ppt/media/image13.png">    </p:cNvPr>
          <p:cNvPicPr>
            <a:picLocks noChangeAspect="1"/>
          </p:cNvPicPr>
          <p:nvPr/>
        </p:nvPicPr>
        <p:blipFill>
          <a:blip r:embed="rId2"/>
          <a:stretch>
            <a:fillRect/>
          </a:stretch>
        </p:blipFill>
        <p:spPr>
          <a:xfrm>
            <a:off x="320040" y="201168"/>
            <a:ext cx="1417320" cy="502920"/>
          </a:xfrm>
          <a:prstGeom prst="rect">
            <a:avLst/>
          </a:prstGeom>
        </p:spPr>
      </p:pic>
      <p:sp>
        <p:nvSpPr>
          <p:cNvPr id="4" name="Text 0"/>
          <p:cNvSpPr/>
          <p:nvPr/>
        </p:nvSpPr>
        <p:spPr>
          <a:xfrm>
            <a:off x="621792" y="658368"/>
            <a:ext cx="7909560" cy="365760"/>
          </a:xfrm>
          <a:prstGeom prst="rect">
            <a:avLst/>
          </a:prstGeom>
          <a:noFill/>
          <a:ln/>
        </p:spPr>
        <p:txBody>
          <a:bodyPr wrap="square" lIns="0" tIns="0" rIns="0" bIns="0" rtlCol="0" anchor="ctr">
            <a:normAutofit/>
          </a:bodyPr>
          <a:lstStyle/>
          <a:p>
            <a:pPr indent="0" marL="0">
              <a:buNone/>
            </a:pPr>
            <a:r>
              <a:rPr lang="en-US" sz="2100" b="1" dirty="0">
                <a:solidFill>
                  <a:srgbClr val="C8102E"/>
                </a:solidFill>
                <a:latin typeface="Arial" pitchFamily="34" charset="0"/>
                <a:ea typeface="Arial" pitchFamily="34" charset="-122"/>
                <a:cs typeface="Arial" pitchFamily="34" charset="-120"/>
              </a:rPr>
              <a:t>Kết quả đạt được</a:t>
            </a:r>
            <a:endParaRPr lang="en-US" sz="2100" dirty="0"/>
          </a:p>
        </p:txBody>
      </p:sp>
      <p:sp>
        <p:nvSpPr>
          <p:cNvPr id="5" name="Text 1"/>
          <p:cNvSpPr/>
          <p:nvPr/>
        </p:nvSpPr>
        <p:spPr>
          <a:xfrm>
            <a:off x="640080" y="1051560"/>
            <a:ext cx="7589520" cy="228600"/>
          </a:xfrm>
          <a:prstGeom prst="rect">
            <a:avLst/>
          </a:prstGeom>
          <a:noFill/>
          <a:ln/>
        </p:spPr>
        <p:txBody>
          <a:bodyPr wrap="square" lIns="0" tIns="0" rIns="0" bIns="0" rtlCol="0" anchor="ctr">
            <a:normAutofit/>
          </a:bodyPr>
          <a:lstStyle/>
          <a:p>
            <a:pPr indent="0" marL="0">
              <a:buNone/>
            </a:pPr>
            <a:r>
              <a:rPr lang="en-US" sz="950" i="1" dirty="0">
                <a:solidFill>
                  <a:srgbClr val="4B5563"/>
                </a:solidFill>
                <a:latin typeface="Arial" pitchFamily="34" charset="0"/>
                <a:ea typeface="Arial" pitchFamily="34" charset="-122"/>
                <a:cs typeface="Arial" pitchFamily="34" charset="-120"/>
              </a:rPr>
              <a:t>Hệ thống đã có pipeline IoT end-to-end và đủ chức năng demo cốt lõi.</a:t>
            </a:r>
            <a:endParaRPr lang="en-US" sz="950" dirty="0"/>
          </a:p>
        </p:txBody>
      </p:sp>
      <p:sp>
        <p:nvSpPr>
          <p:cNvPr id="6" name="Text 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14</a:t>
            </a:r>
            <a:endParaRPr lang="en-US" sz="850" dirty="0"/>
          </a:p>
        </p:txBody>
      </p:sp>
      <p:sp>
        <p:nvSpPr>
          <p:cNvPr id="7" name="Shape 3"/>
          <p:cNvSpPr/>
          <p:nvPr/>
        </p:nvSpPr>
        <p:spPr>
          <a:xfrm>
            <a:off x="731520" y="1645920"/>
            <a:ext cx="2423160" cy="1188720"/>
          </a:xfrm>
          <a:prstGeom prst="roundRect">
            <a:avLst>
              <a:gd name="adj" fmla="val 6154"/>
            </a:avLst>
          </a:prstGeom>
          <a:solidFill>
            <a:srgbClr val="FFF1F2"/>
          </a:solidFill>
          <a:ln w="12700">
            <a:solidFill>
              <a:srgbClr val="E5E7EB"/>
            </a:solidFill>
            <a:prstDash val="solid"/>
          </a:ln>
        </p:spPr>
      </p:sp>
      <p:sp>
        <p:nvSpPr>
          <p:cNvPr id="8" name="Shape 4"/>
          <p:cNvSpPr/>
          <p:nvPr/>
        </p:nvSpPr>
        <p:spPr>
          <a:xfrm>
            <a:off x="731520" y="1645920"/>
            <a:ext cx="64008" cy="1188720"/>
          </a:xfrm>
          <a:prstGeom prst="rect">
            <a:avLst/>
          </a:prstGeom>
          <a:solidFill>
            <a:srgbClr val="C8102E"/>
          </a:solidFill>
          <a:ln w="12700">
            <a:solidFill>
              <a:srgbClr val="C8102E"/>
            </a:solidFill>
            <a:prstDash val="solid"/>
          </a:ln>
        </p:spPr>
      </p:sp>
      <p:sp>
        <p:nvSpPr>
          <p:cNvPr id="9" name="Text 5"/>
          <p:cNvSpPr/>
          <p:nvPr/>
        </p:nvSpPr>
        <p:spPr>
          <a:xfrm>
            <a:off x="896112" y="1755648"/>
            <a:ext cx="210312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End-to-end</a:t>
            </a:r>
            <a:endParaRPr lang="en-US" sz="1150" dirty="0"/>
          </a:p>
        </p:txBody>
      </p:sp>
      <p:sp>
        <p:nvSpPr>
          <p:cNvPr id="10" name="Text 6"/>
          <p:cNvSpPr/>
          <p:nvPr/>
        </p:nvSpPr>
        <p:spPr>
          <a:xfrm>
            <a:off x="896112" y="2057400"/>
            <a:ext cx="2103120" cy="685800"/>
          </a:xfrm>
          <a:prstGeom prst="rect">
            <a:avLst/>
          </a:prstGeom>
          <a:noFill/>
          <a:ln/>
        </p:spPr>
        <p:txBody>
          <a:bodyPr wrap="square" lIns="254" tIns="254" rIns="254" bIns="254" rtlCol="0" anchor="t">
            <a:normAutofit/>
          </a:bodyPr>
          <a:lstStyle/>
          <a:p>
            <a:pPr indent="0" marL="0">
              <a:buNone/>
            </a:pPr>
            <a:r>
              <a:rPr lang="en-US" sz="950" dirty="0">
                <a:solidFill>
                  <a:srgbClr val="1F2937"/>
                </a:solidFill>
                <a:latin typeface="Arial" pitchFamily="34" charset="0"/>
                <a:ea typeface="Arial" pitchFamily="34" charset="-122"/>
                <a:cs typeface="Arial" pitchFamily="34" charset="-120"/>
              </a:rPr>
              <a:t>Thiết bị → MQTT → Backend → DB → Web UI</a:t>
            </a:r>
            <a:endParaRPr lang="en-US" sz="950" dirty="0"/>
          </a:p>
        </p:txBody>
      </p:sp>
      <p:sp>
        <p:nvSpPr>
          <p:cNvPr id="11" name="Shape 7"/>
          <p:cNvSpPr/>
          <p:nvPr/>
        </p:nvSpPr>
        <p:spPr>
          <a:xfrm>
            <a:off x="3493008" y="1645920"/>
            <a:ext cx="2423160" cy="1188720"/>
          </a:xfrm>
          <a:prstGeom prst="roundRect">
            <a:avLst>
              <a:gd name="adj" fmla="val 6154"/>
            </a:avLst>
          </a:prstGeom>
          <a:solidFill>
            <a:srgbClr val="F0FDFA"/>
          </a:solidFill>
          <a:ln w="12700">
            <a:solidFill>
              <a:srgbClr val="E5E7EB"/>
            </a:solidFill>
            <a:prstDash val="solid"/>
          </a:ln>
        </p:spPr>
      </p:sp>
      <p:sp>
        <p:nvSpPr>
          <p:cNvPr id="12" name="Shape 8"/>
          <p:cNvSpPr/>
          <p:nvPr/>
        </p:nvSpPr>
        <p:spPr>
          <a:xfrm>
            <a:off x="3493008" y="1645920"/>
            <a:ext cx="64008" cy="1188720"/>
          </a:xfrm>
          <a:prstGeom prst="rect">
            <a:avLst/>
          </a:prstGeom>
          <a:solidFill>
            <a:srgbClr val="0F766E"/>
          </a:solidFill>
          <a:ln w="12700">
            <a:solidFill>
              <a:srgbClr val="0F766E"/>
            </a:solidFill>
            <a:prstDash val="solid"/>
          </a:ln>
        </p:spPr>
      </p:sp>
      <p:sp>
        <p:nvSpPr>
          <p:cNvPr id="13" name="Text 9"/>
          <p:cNvSpPr/>
          <p:nvPr/>
        </p:nvSpPr>
        <p:spPr>
          <a:xfrm>
            <a:off x="3657600" y="1755648"/>
            <a:ext cx="2103120"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Realtime demo</a:t>
            </a:r>
            <a:endParaRPr lang="en-US" sz="1150" dirty="0"/>
          </a:p>
        </p:txBody>
      </p:sp>
      <p:sp>
        <p:nvSpPr>
          <p:cNvPr id="14" name="Text 10"/>
          <p:cNvSpPr/>
          <p:nvPr/>
        </p:nvSpPr>
        <p:spPr>
          <a:xfrm>
            <a:off x="3657600" y="2057400"/>
            <a:ext cx="2103120" cy="685800"/>
          </a:xfrm>
          <a:prstGeom prst="rect">
            <a:avLst/>
          </a:prstGeom>
          <a:noFill/>
          <a:ln/>
        </p:spPr>
        <p:txBody>
          <a:bodyPr wrap="square" lIns="254" tIns="254" rIns="254" bIns="254" rtlCol="0" anchor="t">
            <a:normAutofit/>
          </a:bodyPr>
          <a:lstStyle/>
          <a:p>
            <a:pPr indent="0" marL="0">
              <a:buNone/>
            </a:pPr>
            <a:r>
              <a:rPr lang="en-US" sz="950" dirty="0">
                <a:solidFill>
                  <a:srgbClr val="1F2937"/>
                </a:solidFill>
                <a:latin typeface="Arial" pitchFamily="34" charset="0"/>
                <a:ea typeface="Arial" pitchFamily="34" charset="-122"/>
                <a:cs typeface="Arial" pitchFamily="34" charset="-120"/>
              </a:rPr>
              <a:t>KPI, sparkline, chart, history theo polling</a:t>
            </a:r>
            <a:endParaRPr lang="en-US" sz="950" dirty="0"/>
          </a:p>
        </p:txBody>
      </p:sp>
      <p:sp>
        <p:nvSpPr>
          <p:cNvPr id="15" name="Shape 11"/>
          <p:cNvSpPr/>
          <p:nvPr/>
        </p:nvSpPr>
        <p:spPr>
          <a:xfrm>
            <a:off x="6254496" y="1645920"/>
            <a:ext cx="2423160" cy="1188720"/>
          </a:xfrm>
          <a:prstGeom prst="roundRect">
            <a:avLst>
              <a:gd name="adj" fmla="val 6154"/>
            </a:avLst>
          </a:prstGeom>
          <a:solidFill>
            <a:srgbClr val="FFF1F2"/>
          </a:solidFill>
          <a:ln w="12700">
            <a:solidFill>
              <a:srgbClr val="E5E7EB"/>
            </a:solidFill>
            <a:prstDash val="solid"/>
          </a:ln>
        </p:spPr>
      </p:sp>
      <p:sp>
        <p:nvSpPr>
          <p:cNvPr id="16" name="Shape 12"/>
          <p:cNvSpPr/>
          <p:nvPr/>
        </p:nvSpPr>
        <p:spPr>
          <a:xfrm>
            <a:off x="6254496" y="1645920"/>
            <a:ext cx="64008" cy="1188720"/>
          </a:xfrm>
          <a:prstGeom prst="rect">
            <a:avLst/>
          </a:prstGeom>
          <a:solidFill>
            <a:srgbClr val="C8102E"/>
          </a:solidFill>
          <a:ln w="12700">
            <a:solidFill>
              <a:srgbClr val="C8102E"/>
            </a:solidFill>
            <a:prstDash val="solid"/>
          </a:ln>
        </p:spPr>
      </p:sp>
      <p:sp>
        <p:nvSpPr>
          <p:cNvPr id="17" name="Text 13"/>
          <p:cNvSpPr/>
          <p:nvPr/>
        </p:nvSpPr>
        <p:spPr>
          <a:xfrm>
            <a:off x="6419088" y="1755648"/>
            <a:ext cx="210312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Control thật</a:t>
            </a:r>
            <a:endParaRPr lang="en-US" sz="1150" dirty="0"/>
          </a:p>
        </p:txBody>
      </p:sp>
      <p:sp>
        <p:nvSpPr>
          <p:cNvPr id="18" name="Text 14"/>
          <p:cNvSpPr/>
          <p:nvPr/>
        </p:nvSpPr>
        <p:spPr>
          <a:xfrm>
            <a:off x="6419088" y="2057400"/>
            <a:ext cx="2103120" cy="685800"/>
          </a:xfrm>
          <a:prstGeom prst="rect">
            <a:avLst/>
          </a:prstGeom>
          <a:noFill/>
          <a:ln/>
        </p:spPr>
        <p:txBody>
          <a:bodyPr wrap="square" lIns="254" tIns="254" rIns="254" bIns="254" rtlCol="0" anchor="t">
            <a:normAutofit/>
          </a:bodyPr>
          <a:lstStyle/>
          <a:p>
            <a:pPr indent="0" marL="0">
              <a:buNone/>
            </a:pPr>
            <a:r>
              <a:rPr lang="en-US" sz="950" dirty="0">
                <a:solidFill>
                  <a:srgbClr val="1F2937"/>
                </a:solidFill>
                <a:latin typeface="Arial" pitchFamily="34" charset="0"/>
                <a:ea typeface="Arial" pitchFamily="34" charset="-122"/>
                <a:cs typeface="Arial" pitchFamily="34" charset="-120"/>
              </a:rPr>
              <a:t>Start/Stop, heating, air pump qua MQTT command</a:t>
            </a:r>
            <a:endParaRPr lang="en-US" sz="950" dirty="0"/>
          </a:p>
        </p:txBody>
      </p:sp>
      <p:sp>
        <p:nvSpPr>
          <p:cNvPr id="19" name="Shape 15"/>
          <p:cNvSpPr/>
          <p:nvPr/>
        </p:nvSpPr>
        <p:spPr>
          <a:xfrm>
            <a:off x="2103120" y="3703320"/>
            <a:ext cx="2697480" cy="1188720"/>
          </a:xfrm>
          <a:prstGeom prst="roundRect">
            <a:avLst>
              <a:gd name="adj" fmla="val 6154"/>
            </a:avLst>
          </a:prstGeom>
          <a:solidFill>
            <a:srgbClr val="F0FDFA"/>
          </a:solidFill>
          <a:ln w="12700">
            <a:solidFill>
              <a:srgbClr val="E5E7EB"/>
            </a:solidFill>
            <a:prstDash val="solid"/>
          </a:ln>
        </p:spPr>
      </p:sp>
      <p:sp>
        <p:nvSpPr>
          <p:cNvPr id="20" name="Shape 16"/>
          <p:cNvSpPr/>
          <p:nvPr/>
        </p:nvSpPr>
        <p:spPr>
          <a:xfrm>
            <a:off x="2103120" y="3703320"/>
            <a:ext cx="64008" cy="1188720"/>
          </a:xfrm>
          <a:prstGeom prst="rect">
            <a:avLst/>
          </a:prstGeom>
          <a:solidFill>
            <a:srgbClr val="0F766E"/>
          </a:solidFill>
          <a:ln w="12700">
            <a:solidFill>
              <a:srgbClr val="0F766E"/>
            </a:solidFill>
            <a:prstDash val="solid"/>
          </a:ln>
        </p:spPr>
      </p:sp>
      <p:sp>
        <p:nvSpPr>
          <p:cNvPr id="21" name="Text 17"/>
          <p:cNvSpPr/>
          <p:nvPr/>
        </p:nvSpPr>
        <p:spPr>
          <a:xfrm>
            <a:off x="2267712" y="3813048"/>
            <a:ext cx="2377440" cy="228600"/>
          </a:xfrm>
          <a:prstGeom prst="rect">
            <a:avLst/>
          </a:prstGeom>
          <a:noFill/>
          <a:ln/>
        </p:spPr>
        <p:txBody>
          <a:bodyPr wrap="square" lIns="0" tIns="0" rIns="0" bIns="0" rtlCol="0" anchor="ctr">
            <a:normAutofit/>
          </a:bodyPr>
          <a:lstStyle/>
          <a:p>
            <a:pPr indent="0" marL="0">
              <a:buNone/>
            </a:pPr>
            <a:r>
              <a:rPr lang="en-US" sz="1150" b="1" dirty="0">
                <a:solidFill>
                  <a:srgbClr val="0F766E"/>
                </a:solidFill>
                <a:latin typeface="Arial" pitchFamily="34" charset="0"/>
                <a:ea typeface="Arial" pitchFamily="34" charset="-122"/>
                <a:cs typeface="Arial" pitchFamily="34" charset="-120"/>
              </a:rPr>
              <a:t>Quản trị linh hoạt</a:t>
            </a:r>
            <a:endParaRPr lang="en-US" sz="1150" dirty="0"/>
          </a:p>
        </p:txBody>
      </p:sp>
      <p:sp>
        <p:nvSpPr>
          <p:cNvPr id="22" name="Text 18"/>
          <p:cNvSpPr/>
          <p:nvPr/>
        </p:nvSpPr>
        <p:spPr>
          <a:xfrm>
            <a:off x="2267712" y="4114800"/>
            <a:ext cx="2377440" cy="685800"/>
          </a:xfrm>
          <a:prstGeom prst="rect">
            <a:avLst/>
          </a:prstGeom>
          <a:noFill/>
          <a:ln/>
        </p:spPr>
        <p:txBody>
          <a:bodyPr wrap="square" lIns="254" tIns="254" rIns="254" bIns="254" rtlCol="0" anchor="t">
            <a:normAutofit/>
          </a:bodyPr>
          <a:lstStyle/>
          <a:p>
            <a:pPr indent="0" marL="0">
              <a:buNone/>
            </a:pPr>
            <a:r>
              <a:rPr lang="en-US" sz="950" dirty="0">
                <a:solidFill>
                  <a:srgbClr val="1F2937"/>
                </a:solidFill>
                <a:latin typeface="Arial" pitchFamily="34" charset="0"/>
                <a:ea typeface="Arial" pitchFamily="34" charset="-122"/>
                <a:cs typeface="Arial" pitchFamily="34" charset="-120"/>
              </a:rPr>
              <a:t>CRUD kênh ADC theo PCB/thực nghiệm</a:t>
            </a:r>
            <a:endParaRPr lang="en-US" sz="950" dirty="0"/>
          </a:p>
        </p:txBody>
      </p:sp>
      <p:sp>
        <p:nvSpPr>
          <p:cNvPr id="23" name="Shape 19"/>
          <p:cNvSpPr/>
          <p:nvPr/>
        </p:nvSpPr>
        <p:spPr>
          <a:xfrm>
            <a:off x="5074920" y="3703320"/>
            <a:ext cx="2697480" cy="1188720"/>
          </a:xfrm>
          <a:prstGeom prst="roundRect">
            <a:avLst>
              <a:gd name="adj" fmla="val 6154"/>
            </a:avLst>
          </a:prstGeom>
          <a:solidFill>
            <a:srgbClr val="FFF1F2"/>
          </a:solidFill>
          <a:ln w="12700">
            <a:solidFill>
              <a:srgbClr val="E5E7EB"/>
            </a:solidFill>
            <a:prstDash val="solid"/>
          </a:ln>
        </p:spPr>
      </p:sp>
      <p:sp>
        <p:nvSpPr>
          <p:cNvPr id="24" name="Shape 20"/>
          <p:cNvSpPr/>
          <p:nvPr/>
        </p:nvSpPr>
        <p:spPr>
          <a:xfrm>
            <a:off x="5074920" y="3703320"/>
            <a:ext cx="64008" cy="1188720"/>
          </a:xfrm>
          <a:prstGeom prst="rect">
            <a:avLst/>
          </a:prstGeom>
          <a:solidFill>
            <a:srgbClr val="C8102E"/>
          </a:solidFill>
          <a:ln w="12700">
            <a:solidFill>
              <a:srgbClr val="C8102E"/>
            </a:solidFill>
            <a:prstDash val="solid"/>
          </a:ln>
        </p:spPr>
      </p:sp>
      <p:sp>
        <p:nvSpPr>
          <p:cNvPr id="25" name="Text 21"/>
          <p:cNvSpPr/>
          <p:nvPr/>
        </p:nvSpPr>
        <p:spPr>
          <a:xfrm>
            <a:off x="5239512" y="3813048"/>
            <a:ext cx="2377440" cy="228600"/>
          </a:xfrm>
          <a:prstGeom prst="rect">
            <a:avLst/>
          </a:prstGeom>
          <a:noFill/>
          <a:ln/>
        </p:spPr>
        <p:txBody>
          <a:bodyPr wrap="square" lIns="0" tIns="0" rIns="0" bIns="0" rtlCol="0" anchor="ctr">
            <a:normAutofit/>
          </a:bodyPr>
          <a:lstStyle/>
          <a:p>
            <a:pPr indent="0" marL="0">
              <a:buNone/>
            </a:pPr>
            <a:r>
              <a:rPr lang="en-US" sz="1150" b="1" dirty="0">
                <a:solidFill>
                  <a:srgbClr val="C8102E"/>
                </a:solidFill>
                <a:latin typeface="Arial" pitchFamily="34" charset="0"/>
                <a:ea typeface="Arial" pitchFamily="34" charset="-122"/>
                <a:cs typeface="Arial" pitchFamily="34" charset="-120"/>
              </a:rPr>
              <a:t>Công cụ vận hành</a:t>
            </a:r>
            <a:endParaRPr lang="en-US" sz="1150" dirty="0"/>
          </a:p>
        </p:txBody>
      </p:sp>
      <p:sp>
        <p:nvSpPr>
          <p:cNvPr id="26" name="Text 22"/>
          <p:cNvSpPr/>
          <p:nvPr/>
        </p:nvSpPr>
        <p:spPr>
          <a:xfrm>
            <a:off x="5239512" y="4114800"/>
            <a:ext cx="2377440" cy="685800"/>
          </a:xfrm>
          <a:prstGeom prst="rect">
            <a:avLst/>
          </a:prstGeom>
          <a:noFill/>
          <a:ln/>
        </p:spPr>
        <p:txBody>
          <a:bodyPr wrap="square" lIns="254" tIns="254" rIns="254" bIns="254" rtlCol="0" anchor="t">
            <a:normAutofit/>
          </a:bodyPr>
          <a:lstStyle/>
          <a:p>
            <a:pPr indent="0" marL="0">
              <a:buNone/>
            </a:pPr>
            <a:r>
              <a:rPr lang="en-US" sz="950" dirty="0">
                <a:solidFill>
                  <a:srgbClr val="1F2937"/>
                </a:solidFill>
                <a:latin typeface="Arial" pitchFamily="34" charset="0"/>
                <a:ea typeface="Arial" pitchFamily="34" charset="-122"/>
                <a:cs typeface="Arial" pitchFamily="34" charset="-120"/>
              </a:rPr>
              <a:t>init/check/export phục vụ kiểm thử và báo cáo</a:t>
            </a:r>
            <a:endParaRPr lang="en-US" sz="950" dirty="0"/>
          </a:p>
        </p:txBody>
      </p:sp>
      <p:sp>
        <p:nvSpPr>
          <p:cNvPr id="27" name="Shape 23"/>
          <p:cNvSpPr/>
          <p:nvPr/>
        </p:nvSpPr>
        <p:spPr>
          <a:xfrm>
            <a:off x="1051560" y="5577840"/>
            <a:ext cx="7040880" cy="411480"/>
          </a:xfrm>
          <a:prstGeom prst="roundRect">
            <a:avLst>
              <a:gd name="adj" fmla="val 13333"/>
            </a:avLst>
          </a:prstGeom>
          <a:solidFill>
            <a:srgbClr val="111827"/>
          </a:solidFill>
          <a:ln w="12700">
            <a:solidFill>
              <a:srgbClr val="111827"/>
            </a:solidFill>
            <a:prstDash val="solid"/>
          </a:ln>
        </p:spPr>
      </p:sp>
      <p:sp>
        <p:nvSpPr>
          <p:cNvPr id="28" name="Text 24"/>
          <p:cNvSpPr/>
          <p:nvPr/>
        </p:nvSpPr>
        <p:spPr>
          <a:xfrm>
            <a:off x="1161288" y="5669280"/>
            <a:ext cx="6821424" cy="246888"/>
          </a:xfrm>
          <a:prstGeom prst="rect">
            <a:avLst/>
          </a:prstGeom>
          <a:noFill/>
          <a:ln/>
        </p:spPr>
        <p:txBody>
          <a:bodyPr wrap="square" lIns="0" tIns="0" rIns="0" bIns="0" rtlCol="0" anchor="ctr">
            <a:normAutofit/>
          </a:bodyPr>
          <a:lstStyle/>
          <a:p>
            <a:pPr indent="0" marL="0">
              <a:buNone/>
            </a:pPr>
            <a:r>
              <a:rPr lang="en-US" sz="880" dirty="0">
                <a:solidFill>
                  <a:srgbClr val="FFFFFF"/>
                </a:solidFill>
                <a:latin typeface="Courier New" pitchFamily="34" charset="0"/>
                <a:ea typeface="Courier New" pitchFamily="34" charset="-122"/>
                <a:cs typeface="Courier New" pitchFamily="34" charset="-120"/>
              </a:rPr>
              <a:t>Thông điệp kết luận: hệ thống chạy được chuỗi demo thực tế, không dừng ở mock UI.</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mnt/data/hust_media/ppt/media/image4.png">    </p:cNvPr>
          <p:cNvPicPr>
            <a:picLocks noChangeAspect="1"/>
          </p:cNvPicPr>
          <p:nvPr/>
        </p:nvPicPr>
        <p:blipFill>
          <a:blip r:embed="rId1"/>
          <a:stretch>
            <a:fillRect/>
          </a:stretch>
        </p:blipFill>
        <p:spPr>
          <a:xfrm>
            <a:off x="0" y="0"/>
            <a:ext cx="9144000" cy="6858000"/>
          </a:xfrm>
          <a:prstGeom prst="rect">
            <a:avLst/>
          </a:prstGeom>
        </p:spPr>
      </p:pic>
      <p:sp>
        <p:nvSpPr>
          <p:cNvPr id="3" name="Shape 0"/>
          <p:cNvSpPr/>
          <p:nvPr/>
        </p:nvSpPr>
        <p:spPr>
          <a:xfrm>
            <a:off x="530352" y="713232"/>
            <a:ext cx="4846320" cy="5303520"/>
          </a:xfrm>
          <a:prstGeom prst="roundRect">
            <a:avLst>
              <a:gd name="adj" fmla="val 1887"/>
            </a:avLst>
          </a:prstGeom>
          <a:solidFill>
            <a:srgbClr val="FFFFFF">
              <a:alpha val="97000"/>
            </a:srgbClr>
          </a:solidFill>
          <a:ln w="12700">
            <a:solidFill>
              <a:srgbClr val="FFFFFF">
                <a:alpha val="0"/>
              </a:srgbClr>
            </a:solidFill>
            <a:prstDash val="solid"/>
          </a:ln>
        </p:spPr>
      </p:sp>
      <p:sp>
        <p:nvSpPr>
          <p:cNvPr id="4" name="Text 1"/>
          <p:cNvSpPr/>
          <p:nvPr/>
        </p:nvSpPr>
        <p:spPr>
          <a:xfrm>
            <a:off x="868680" y="1005840"/>
            <a:ext cx="4389120" cy="566928"/>
          </a:xfrm>
          <a:prstGeom prst="rect">
            <a:avLst/>
          </a:prstGeom>
          <a:noFill/>
          <a:ln/>
        </p:spPr>
        <p:txBody>
          <a:bodyPr wrap="square" lIns="0" tIns="0" rIns="0" bIns="0" rtlCol="0" anchor="ctr">
            <a:normAutofit/>
          </a:bodyPr>
          <a:lstStyle/>
          <a:p>
            <a:pPr indent="0" marL="0">
              <a:buNone/>
            </a:pPr>
            <a:r>
              <a:rPr lang="en-US" sz="2200" b="1" dirty="0">
                <a:solidFill>
                  <a:srgbClr val="C8102E"/>
                </a:solidFill>
                <a:latin typeface="Arial" pitchFamily="34" charset="0"/>
                <a:ea typeface="Arial" pitchFamily="34" charset="-122"/>
                <a:cs typeface="Arial" pitchFamily="34" charset="-120"/>
              </a:rPr>
              <a:t>Hạn chế, hướng phát triển &amp; Q&amp;A</a:t>
            </a:r>
            <a:endParaRPr lang="en-US" sz="2200" dirty="0"/>
          </a:p>
        </p:txBody>
      </p:sp>
      <p:sp>
        <p:nvSpPr>
          <p:cNvPr id="5" name="Text 2"/>
          <p:cNvSpPr/>
          <p:nvPr/>
        </p:nvSpPr>
        <p:spPr>
          <a:xfrm>
            <a:off x="877824" y="1627632"/>
            <a:ext cx="4297680" cy="274320"/>
          </a:xfrm>
          <a:prstGeom prst="rect">
            <a:avLst/>
          </a:prstGeom>
          <a:noFill/>
          <a:ln/>
        </p:spPr>
        <p:txBody>
          <a:bodyPr wrap="square" lIns="0" tIns="0" rIns="0" bIns="0" rtlCol="0" anchor="ctr"/>
          <a:lstStyle/>
          <a:p>
            <a:pPr indent="0" marL="0">
              <a:buNone/>
            </a:pPr>
            <a:r>
              <a:rPr lang="en-US" sz="1050" i="1" dirty="0">
                <a:solidFill>
                  <a:srgbClr val="4B5563"/>
                </a:solidFill>
                <a:latin typeface="Arial" pitchFamily="34" charset="0"/>
                <a:ea typeface="Arial" pitchFamily="34" charset="-122"/>
                <a:cs typeface="Arial" pitchFamily="34" charset="-120"/>
              </a:rPr>
              <a:t>Kiến trúc hiện tại đủ nền để nâng cấp lên mức production.</a:t>
            </a:r>
            <a:endParaRPr lang="en-US" sz="1050" dirty="0"/>
          </a:p>
        </p:txBody>
      </p:sp>
      <p:sp>
        <p:nvSpPr>
          <p:cNvPr id="6" name="Shape 3"/>
          <p:cNvSpPr/>
          <p:nvPr/>
        </p:nvSpPr>
        <p:spPr>
          <a:xfrm>
            <a:off x="960120" y="2299716"/>
            <a:ext cx="91440" cy="91440"/>
          </a:xfrm>
          <a:prstGeom prst="ellipse">
            <a:avLst/>
          </a:prstGeom>
          <a:solidFill>
            <a:srgbClr val="C8102E"/>
          </a:solidFill>
          <a:ln w="12700">
            <a:solidFill>
              <a:srgbClr val="C8102E"/>
            </a:solidFill>
            <a:prstDash val="solid"/>
          </a:ln>
        </p:spPr>
      </p:sp>
      <p:sp>
        <p:nvSpPr>
          <p:cNvPr id="7" name="Text 4"/>
          <p:cNvSpPr/>
          <p:nvPr/>
        </p:nvSpPr>
        <p:spPr>
          <a:xfrm>
            <a:off x="1161288" y="2240280"/>
            <a:ext cx="3867912" cy="292608"/>
          </a:xfrm>
          <a:prstGeom prst="rect">
            <a:avLst/>
          </a:prstGeom>
          <a:noFill/>
          <a:ln/>
        </p:spPr>
        <p:txBody>
          <a:bodyPr wrap="square" lIns="127" tIns="127" rIns="127" bIns="127" rtlCol="0" anchor="ctr">
            <a:normAutofit/>
          </a:bodyPr>
          <a:lstStyle/>
          <a:p>
            <a:pPr indent="0" marL="0">
              <a:buNone/>
            </a:pPr>
            <a:r>
              <a:rPr lang="en-US" sz="1130" dirty="0">
                <a:solidFill>
                  <a:srgbClr val="1F2937"/>
                </a:solidFill>
                <a:latin typeface="Arial" pitchFamily="34" charset="0"/>
                <a:ea typeface="Arial" pitchFamily="34" charset="-122"/>
                <a:cs typeface="Arial" pitchFamily="34" charset="-120"/>
              </a:rPr>
              <a:t>Bổ sung Auth + RBAC cho nhiều vai trò người dùng.</a:t>
            </a:r>
            <a:endParaRPr lang="en-US" sz="1130" dirty="0"/>
          </a:p>
        </p:txBody>
      </p:sp>
      <p:sp>
        <p:nvSpPr>
          <p:cNvPr id="8" name="Shape 5"/>
          <p:cNvSpPr/>
          <p:nvPr/>
        </p:nvSpPr>
        <p:spPr>
          <a:xfrm>
            <a:off x="960120" y="2848356"/>
            <a:ext cx="91440" cy="91440"/>
          </a:xfrm>
          <a:prstGeom prst="ellipse">
            <a:avLst/>
          </a:prstGeom>
          <a:solidFill>
            <a:srgbClr val="C8102E"/>
          </a:solidFill>
          <a:ln w="12700">
            <a:solidFill>
              <a:srgbClr val="C8102E"/>
            </a:solidFill>
            <a:prstDash val="solid"/>
          </a:ln>
        </p:spPr>
      </p:sp>
      <p:sp>
        <p:nvSpPr>
          <p:cNvPr id="9" name="Text 6"/>
          <p:cNvSpPr/>
          <p:nvPr/>
        </p:nvSpPr>
        <p:spPr>
          <a:xfrm>
            <a:off x="1161288" y="2788920"/>
            <a:ext cx="3867912" cy="292608"/>
          </a:xfrm>
          <a:prstGeom prst="rect">
            <a:avLst/>
          </a:prstGeom>
          <a:noFill/>
          <a:ln/>
        </p:spPr>
        <p:txBody>
          <a:bodyPr wrap="square" lIns="127" tIns="127" rIns="127" bIns="127" rtlCol="0" anchor="ctr">
            <a:normAutofit/>
          </a:bodyPr>
          <a:lstStyle/>
          <a:p>
            <a:pPr indent="0" marL="0">
              <a:buNone/>
            </a:pPr>
            <a:r>
              <a:rPr lang="en-US" sz="1130" dirty="0">
                <a:solidFill>
                  <a:srgbClr val="1F2937"/>
                </a:solidFill>
                <a:latin typeface="Arial" pitchFamily="34" charset="0"/>
                <a:ea typeface="Arial" pitchFamily="34" charset="-122"/>
                <a:cs typeface="Arial" pitchFamily="34" charset="-120"/>
              </a:rPr>
              <a:t>Command cần ACK, retry và trạng thái xác nhận từ thiết bị.</a:t>
            </a:r>
            <a:endParaRPr lang="en-US" sz="1130" dirty="0"/>
          </a:p>
        </p:txBody>
      </p:sp>
      <p:sp>
        <p:nvSpPr>
          <p:cNvPr id="10" name="Shape 7"/>
          <p:cNvSpPr/>
          <p:nvPr/>
        </p:nvSpPr>
        <p:spPr>
          <a:xfrm>
            <a:off x="960120" y="3396996"/>
            <a:ext cx="91440" cy="91440"/>
          </a:xfrm>
          <a:prstGeom prst="ellipse">
            <a:avLst/>
          </a:prstGeom>
          <a:solidFill>
            <a:srgbClr val="C8102E"/>
          </a:solidFill>
          <a:ln w="12700">
            <a:solidFill>
              <a:srgbClr val="C8102E"/>
            </a:solidFill>
            <a:prstDash val="solid"/>
          </a:ln>
        </p:spPr>
      </p:sp>
      <p:sp>
        <p:nvSpPr>
          <p:cNvPr id="11" name="Text 8"/>
          <p:cNvSpPr/>
          <p:nvPr/>
        </p:nvSpPr>
        <p:spPr>
          <a:xfrm>
            <a:off x="1161288" y="3337560"/>
            <a:ext cx="3867912" cy="292608"/>
          </a:xfrm>
          <a:prstGeom prst="rect">
            <a:avLst/>
          </a:prstGeom>
          <a:noFill/>
          <a:ln/>
        </p:spPr>
        <p:txBody>
          <a:bodyPr wrap="square" lIns="127" tIns="127" rIns="127" bIns="127" rtlCol="0" anchor="ctr">
            <a:normAutofit/>
          </a:bodyPr>
          <a:lstStyle/>
          <a:p>
            <a:pPr indent="0" marL="0">
              <a:buNone/>
            </a:pPr>
            <a:r>
              <a:rPr lang="en-US" sz="1130" dirty="0">
                <a:solidFill>
                  <a:srgbClr val="1F2937"/>
                </a:solidFill>
                <a:latin typeface="Arial" pitchFamily="34" charset="0"/>
                <a:ea typeface="Arial" pitchFamily="34" charset="-122"/>
                <a:cs typeface="Arial" pitchFamily="34" charset="-120"/>
              </a:rPr>
              <a:t>Chuyển polling sang WebSocket/SSE để realtime hơn.</a:t>
            </a:r>
            <a:endParaRPr lang="en-US" sz="1130" dirty="0"/>
          </a:p>
        </p:txBody>
      </p:sp>
      <p:sp>
        <p:nvSpPr>
          <p:cNvPr id="12" name="Shape 9"/>
          <p:cNvSpPr/>
          <p:nvPr/>
        </p:nvSpPr>
        <p:spPr>
          <a:xfrm>
            <a:off x="960120" y="3945636"/>
            <a:ext cx="91440" cy="91440"/>
          </a:xfrm>
          <a:prstGeom prst="ellipse">
            <a:avLst/>
          </a:prstGeom>
          <a:solidFill>
            <a:srgbClr val="C8102E"/>
          </a:solidFill>
          <a:ln w="12700">
            <a:solidFill>
              <a:srgbClr val="C8102E"/>
            </a:solidFill>
            <a:prstDash val="solid"/>
          </a:ln>
        </p:spPr>
      </p:sp>
      <p:sp>
        <p:nvSpPr>
          <p:cNvPr id="13" name="Text 10"/>
          <p:cNvSpPr/>
          <p:nvPr/>
        </p:nvSpPr>
        <p:spPr>
          <a:xfrm>
            <a:off x="1161288" y="3886200"/>
            <a:ext cx="3867912" cy="292608"/>
          </a:xfrm>
          <a:prstGeom prst="rect">
            <a:avLst/>
          </a:prstGeom>
          <a:noFill/>
          <a:ln/>
        </p:spPr>
        <p:txBody>
          <a:bodyPr wrap="square" lIns="127" tIns="127" rIns="127" bIns="127" rtlCol="0" anchor="ctr">
            <a:normAutofit/>
          </a:bodyPr>
          <a:lstStyle/>
          <a:p>
            <a:pPr indent="0" marL="0">
              <a:buNone/>
            </a:pPr>
            <a:r>
              <a:rPr lang="en-US" sz="1130" dirty="0">
                <a:solidFill>
                  <a:srgbClr val="1F2937"/>
                </a:solidFill>
                <a:latin typeface="Arial" pitchFamily="34" charset="0"/>
                <a:ea typeface="Arial" pitchFamily="34" charset="-122"/>
                <a:cs typeface="Arial" pitchFamily="34" charset="-120"/>
              </a:rPr>
              <a:t>Tối ưu index MongoDB và hardening khi triển khai production.</a:t>
            </a:r>
            <a:endParaRPr lang="en-US" sz="1130" dirty="0"/>
          </a:p>
        </p:txBody>
      </p:sp>
      <p:sp>
        <p:nvSpPr>
          <p:cNvPr id="14" name="Text 11"/>
          <p:cNvSpPr/>
          <p:nvPr/>
        </p:nvSpPr>
        <p:spPr>
          <a:xfrm>
            <a:off x="896112" y="5166360"/>
            <a:ext cx="4114800" cy="384048"/>
          </a:xfrm>
          <a:prstGeom prst="rect">
            <a:avLst/>
          </a:prstGeom>
          <a:noFill/>
          <a:ln/>
        </p:spPr>
        <p:txBody>
          <a:bodyPr wrap="square" lIns="0" tIns="0" rIns="0" bIns="0" rtlCol="0" anchor="ctr"/>
          <a:lstStyle/>
          <a:p>
            <a:pPr algn="ctr" indent="0" marL="0">
              <a:buNone/>
            </a:pPr>
            <a:r>
              <a:rPr lang="en-US" sz="1800" b="1" dirty="0">
                <a:solidFill>
                  <a:srgbClr val="C8102E"/>
                </a:solidFill>
                <a:latin typeface="Arial" pitchFamily="34" charset="0"/>
                <a:ea typeface="Arial" pitchFamily="34" charset="-122"/>
                <a:cs typeface="Arial" pitchFamily="34" charset="-120"/>
              </a:rPr>
              <a:t>THANK YOU !</a:t>
            </a:r>
            <a:endParaRPr lang="en-US" sz="1800" dirty="0"/>
          </a:p>
        </p:txBody>
      </p:sp>
      <p:sp>
        <p:nvSpPr>
          <p:cNvPr id="15" name="Text 12"/>
          <p:cNvSpPr/>
          <p:nvPr/>
        </p:nvSpPr>
        <p:spPr>
          <a:xfrm>
            <a:off x="8275320" y="6419088"/>
            <a:ext cx="594360" cy="182880"/>
          </a:xfrm>
          <a:prstGeom prst="rect">
            <a:avLst/>
          </a:prstGeom>
          <a:noFill/>
          <a:ln/>
        </p:spPr>
        <p:txBody>
          <a:bodyPr wrap="square" lIns="0" tIns="0" rIns="0" bIns="0" rtlCol="0" anchor="ctr"/>
          <a:lstStyle/>
          <a:p>
            <a:pPr algn="r" indent="0" marL="0">
              <a:buNone/>
            </a:pPr>
            <a:r>
              <a:rPr lang="en-US" sz="850" b="1" dirty="0">
                <a:solidFill>
                  <a:srgbClr val="C8102E"/>
                </a:solidFill>
                <a:latin typeface="Arial" pitchFamily="34" charset="0"/>
                <a:ea typeface="Arial" pitchFamily="34" charset="-122"/>
                <a:cs typeface="Arial" pitchFamily="34" charset="-120"/>
              </a:rPr>
              <a:t>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HUST / AirSENSE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AirSENSE Report Demo</dc:title>
  <dc:subject>AirSENSE Report Demo - Electric-Nose realtime monitoring system</dc:subject>
  <dc:creator>OpenAI - ChatGPT</dc:creator>
  <cp:lastModifiedBy>OpenAI - ChatGPT</cp:lastModifiedBy>
  <cp:revision>1</cp:revision>
  <dcterms:created xsi:type="dcterms:W3CDTF">2026-05-05T15:31:07Z</dcterms:created>
  <dcterms:modified xsi:type="dcterms:W3CDTF">2026-05-05T15:31:07Z</dcterms:modified>
</cp:coreProperties>
</file>