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trình bày hệ thống AirSENSE Report Demo. Mục tiêu là xây dựng đầy đủ chuỗi từ thiết bị gửi dữ liệu, backend tiếp nhận và lưu trữ, đến frontend hiển thị và điều khiển thiết bị theo thời gian thực.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chính là theo dõi dữ liệu cảm biến liên tục, có lịch sử và có thao tác điều khiển. Trong phạm vi đề tài, nhóm tập trung vào các chức năng cốt lõi thay vì làm quá rộng.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gồm thiết bị, broker MQTT, backend, hai hệ CSDL và frontend. Backend vừa nhận dữ liệu từ MQTT vừa cung cấp API cho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đi từ thiết bị qua MQTT vào bridge. Sau khi chuẩn hóa, dữ liệu được ghi xuống database. Frontend polling API để hiển thị realtime cho người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không dùng một DB duy nhất vì dữ liệu có hai bản chất khác nhau. Tách DB giúp hệ thống ổn định và mở rộng tốt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Dự án tổ chức rõ theo frontend, backend và scripts vận hành. Điều này giúp dễ bảo trì và dễ phân công trong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`server.js` là entrypoint toàn hệ thống. `config.js` gom cấu hình runtime từ `.env`, còn `db.js` là lớp truy cập dữ liệu cho cả SQL và Mongo.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là phần khó nhất vì payload thực tế thường không đồng nhất. Nhóm xử lý normalize để API và dashboard luôn đọc ổn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được tách theo nhóm đọc dữ liệu, điều khiển và cấu hình. Cách chia này giúp frontend gọi rõ ràng và backend dễ kiểm soát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được viết nhẹ để dễ triển khai demo. Ngoài hiển thị dữ liệu, nhóm chú trọng trải nghiệm khi lỗi bằng banner và trạng thái rỗng dễ hiểu.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dùng cho quản trị và audit thao tác. Mongo dùng cho dữ liệu đo theo thời gian. Script init hỗ trợ tạo schema và seed dữ liệu ban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đi theo hành trình vận hành thực tế: giám sát, điều khiển, xác nhận dữ liệu sinh ra, sau đó cấu hình kênh và xuất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quan trọng nhất là hệ thống chạy thực tế từ đầu đến cuối, không chỉ mô phỏng. Các chức năng chính đều demo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tự đánh giá còn một số điểm cần nâng cấp nếu triển khai production. Tuy nhiên kiến trúc hiện tại đã sẵn nền để mở rộng theo các hướng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nhóm đã hoàn thiện hệ thống giám sát Electric-Nose end-to-end với dữ liệu thật và luồng điều khiển thật. Nhóm xin cảm ơn và sẵn sàng trả lời câu hỏi phản biện.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midterm_media/ppt/media/image1.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566928" y="1828800"/>
            <a:ext cx="7772400" cy="73152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rial" pitchFamily="34" charset="0"/>
                <a:ea typeface="Arial" pitchFamily="34" charset="-122"/>
                <a:cs typeface="Arial" pitchFamily="34" charset="-120"/>
              </a:rPr>
              <a:t>AirSENSE Report Demo</a:t>
            </a:r>
            <a:endParaRPr lang="en-US" sz="3400" dirty="0"/>
          </a:p>
        </p:txBody>
      </p:sp>
      <p:sp>
        <p:nvSpPr>
          <p:cNvPr id="4" name="Text 1"/>
          <p:cNvSpPr/>
          <p:nvPr/>
        </p:nvSpPr>
        <p:spPr>
          <a:xfrm>
            <a:off x="566928" y="2679192"/>
            <a:ext cx="7818120" cy="384048"/>
          </a:xfrm>
          <a:prstGeom prst="rect">
            <a:avLst/>
          </a:prstGeom>
          <a:noFill/>
          <a:ln/>
        </p:spPr>
        <p:txBody>
          <a:bodyPr wrap="square" lIns="0" tIns="0" rIns="0" bIns="0" rtlCol="0" anchor="ctr">
            <a:normAutofit/>
          </a:bodyPr>
          <a:lstStyle/>
          <a:p>
            <a:pPr indent="0" marL="0">
              <a:buNone/>
            </a:pPr>
            <a:r>
              <a:rPr lang="en-US" sz="2200" dirty="0">
                <a:solidFill>
                  <a:srgbClr val="FFFFFF"/>
                </a:solidFill>
                <a:latin typeface="Arial" pitchFamily="34" charset="0"/>
                <a:ea typeface="Arial" pitchFamily="34" charset="-122"/>
                <a:cs typeface="Arial" pitchFamily="34" charset="-120"/>
              </a:rPr>
              <a:t>Hệ thống giám sát Electric-Nose realtime</a:t>
            </a:r>
            <a:endParaRPr lang="en-US" sz="2200" dirty="0"/>
          </a:p>
        </p:txBody>
      </p:sp>
      <p:sp>
        <p:nvSpPr>
          <p:cNvPr id="5" name="Text 2"/>
          <p:cNvSpPr/>
          <p:nvPr/>
        </p:nvSpPr>
        <p:spPr>
          <a:xfrm>
            <a:off x="566928" y="4023360"/>
            <a:ext cx="7315200" cy="3200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Mục tiêu: hoàn thiện pipeline IoT end-to-end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midterm_media/ppt/media/image4.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Bài toán &amp; phạm vi</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2</a:t>
            </a:r>
            <a:endParaRPr lang="en-US" sz="1200" dirty="0"/>
          </a:p>
        </p:txBody>
      </p:sp>
      <p:sp>
        <p:nvSpPr>
          <p:cNvPr id="5" name="Text 2"/>
          <p:cNvSpPr/>
          <p:nvPr/>
        </p:nvSpPr>
        <p:spPr>
          <a:xfrm>
            <a:off x="685800" y="1581912"/>
            <a:ext cx="164592" cy="274320"/>
          </a:xfrm>
          <a:prstGeom prst="rect">
            <a:avLst/>
          </a:prstGeom>
          <a:noFill/>
          <a:ln/>
        </p:spPr>
        <p:txBody>
          <a:bodyPr wrap="square" lIns="0" tIns="0" rIns="0" bIns="0" rtlCol="0" anchor="ctr"/>
          <a:lstStyle/>
          <a:p>
            <a:pPr indent="0" marL="0">
              <a:buNone/>
            </a:pPr>
            <a:r>
              <a:rPr lang="en-US" sz="2000" b="1" dirty="0">
                <a:solidFill>
                  <a:srgbClr val="C8102E"/>
                </a:solidFill>
                <a:latin typeface="Arial" pitchFamily="34" charset="0"/>
                <a:ea typeface="Arial" pitchFamily="34" charset="-122"/>
                <a:cs typeface="Arial" pitchFamily="34" charset="-120"/>
              </a:rPr>
              <a:t>•</a:t>
            </a:r>
            <a:endParaRPr lang="en-US" sz="2000" dirty="0"/>
          </a:p>
        </p:txBody>
      </p:sp>
      <p:sp>
        <p:nvSpPr>
          <p:cNvPr id="6" name="Text 3"/>
          <p:cNvSpPr/>
          <p:nvPr/>
        </p:nvSpPr>
        <p:spPr>
          <a:xfrm>
            <a:off x="914400" y="1600200"/>
            <a:ext cx="7680960" cy="438912"/>
          </a:xfrm>
          <a:prstGeom prst="rect">
            <a:avLst/>
          </a:prstGeom>
          <a:noFill/>
          <a:ln/>
        </p:spPr>
        <p:txBody>
          <a:bodyPr wrap="square" lIns="0" tIns="0" rIns="0" bIns="0" rtlCol="0" anchor="ctr">
            <a:normAutofit/>
          </a:bodyPr>
          <a:lstStyle/>
          <a:p>
            <a:pPr indent="0" marL="0">
              <a:buNone/>
            </a:pPr>
            <a:r>
              <a:rPr lang="en-US" sz="2000" dirty="0">
                <a:solidFill>
                  <a:srgbClr val="111111"/>
                </a:solidFill>
                <a:latin typeface="Arial" pitchFamily="34" charset="0"/>
                <a:ea typeface="Arial" pitchFamily="34" charset="-122"/>
                <a:cs typeface="Arial" pitchFamily="34" charset="-120"/>
              </a:rPr>
              <a:t>Cần giám sát liên tục dữ liệu cảm biến</a:t>
            </a:r>
            <a:endParaRPr lang="en-US" sz="2000" dirty="0"/>
          </a:p>
        </p:txBody>
      </p:sp>
      <p:sp>
        <p:nvSpPr>
          <p:cNvPr id="7" name="Text 4"/>
          <p:cNvSpPr/>
          <p:nvPr/>
        </p:nvSpPr>
        <p:spPr>
          <a:xfrm>
            <a:off x="685800" y="2276856"/>
            <a:ext cx="164592" cy="274320"/>
          </a:xfrm>
          <a:prstGeom prst="rect">
            <a:avLst/>
          </a:prstGeom>
          <a:noFill/>
          <a:ln/>
        </p:spPr>
        <p:txBody>
          <a:bodyPr wrap="square" lIns="0" tIns="0" rIns="0" bIns="0" rtlCol="0" anchor="ctr"/>
          <a:lstStyle/>
          <a:p>
            <a:pPr indent="0" marL="0">
              <a:buNone/>
            </a:pPr>
            <a:r>
              <a:rPr lang="en-US" sz="2000" b="1" dirty="0">
                <a:solidFill>
                  <a:srgbClr val="C8102E"/>
                </a:solidFill>
                <a:latin typeface="Arial" pitchFamily="34" charset="0"/>
                <a:ea typeface="Arial" pitchFamily="34" charset="-122"/>
                <a:cs typeface="Arial" pitchFamily="34" charset="-120"/>
              </a:rPr>
              <a:t>•</a:t>
            </a:r>
            <a:endParaRPr lang="en-US" sz="2000" dirty="0"/>
          </a:p>
        </p:txBody>
      </p:sp>
      <p:sp>
        <p:nvSpPr>
          <p:cNvPr id="8" name="Text 5"/>
          <p:cNvSpPr/>
          <p:nvPr/>
        </p:nvSpPr>
        <p:spPr>
          <a:xfrm>
            <a:off x="914400" y="2295144"/>
            <a:ext cx="7680960" cy="438912"/>
          </a:xfrm>
          <a:prstGeom prst="rect">
            <a:avLst/>
          </a:prstGeom>
          <a:noFill/>
          <a:ln/>
        </p:spPr>
        <p:txBody>
          <a:bodyPr wrap="square" lIns="0" tIns="0" rIns="0" bIns="0" rtlCol="0" anchor="ctr">
            <a:normAutofit/>
          </a:bodyPr>
          <a:lstStyle/>
          <a:p>
            <a:pPr indent="0" marL="0">
              <a:buNone/>
            </a:pPr>
            <a:r>
              <a:rPr lang="en-US" sz="2000" dirty="0">
                <a:solidFill>
                  <a:srgbClr val="111111"/>
                </a:solidFill>
                <a:latin typeface="Arial" pitchFamily="34" charset="0"/>
                <a:ea typeface="Arial" pitchFamily="34" charset="-122"/>
                <a:cs typeface="Arial" pitchFamily="34" charset="-120"/>
              </a:rPr>
              <a:t>Cần lưu lịch sử để tra cứu/phân tích</a:t>
            </a:r>
            <a:endParaRPr lang="en-US" sz="2000" dirty="0"/>
          </a:p>
        </p:txBody>
      </p:sp>
      <p:sp>
        <p:nvSpPr>
          <p:cNvPr id="9" name="Text 6"/>
          <p:cNvSpPr/>
          <p:nvPr/>
        </p:nvSpPr>
        <p:spPr>
          <a:xfrm>
            <a:off x="685800" y="2971800"/>
            <a:ext cx="164592" cy="274320"/>
          </a:xfrm>
          <a:prstGeom prst="rect">
            <a:avLst/>
          </a:prstGeom>
          <a:noFill/>
          <a:ln/>
        </p:spPr>
        <p:txBody>
          <a:bodyPr wrap="square" lIns="0" tIns="0" rIns="0" bIns="0" rtlCol="0" anchor="ctr"/>
          <a:lstStyle/>
          <a:p>
            <a:pPr indent="0" marL="0">
              <a:buNone/>
            </a:pPr>
            <a:r>
              <a:rPr lang="en-US" sz="2000" b="1" dirty="0">
                <a:solidFill>
                  <a:srgbClr val="C8102E"/>
                </a:solidFill>
                <a:latin typeface="Arial" pitchFamily="34" charset="0"/>
                <a:ea typeface="Arial" pitchFamily="34" charset="-122"/>
                <a:cs typeface="Arial" pitchFamily="34" charset="-120"/>
              </a:rPr>
              <a:t>•</a:t>
            </a:r>
            <a:endParaRPr lang="en-US" sz="2000" dirty="0"/>
          </a:p>
        </p:txBody>
      </p:sp>
      <p:sp>
        <p:nvSpPr>
          <p:cNvPr id="10" name="Text 7"/>
          <p:cNvSpPr/>
          <p:nvPr/>
        </p:nvSpPr>
        <p:spPr>
          <a:xfrm>
            <a:off x="914400" y="2990088"/>
            <a:ext cx="7680960" cy="438912"/>
          </a:xfrm>
          <a:prstGeom prst="rect">
            <a:avLst/>
          </a:prstGeom>
          <a:noFill/>
          <a:ln/>
        </p:spPr>
        <p:txBody>
          <a:bodyPr wrap="square" lIns="0" tIns="0" rIns="0" bIns="0" rtlCol="0" anchor="ctr">
            <a:normAutofit/>
          </a:bodyPr>
          <a:lstStyle/>
          <a:p>
            <a:pPr indent="0" marL="0">
              <a:buNone/>
            </a:pPr>
            <a:r>
              <a:rPr lang="en-US" sz="2000" dirty="0">
                <a:solidFill>
                  <a:srgbClr val="111111"/>
                </a:solidFill>
                <a:latin typeface="Arial" pitchFamily="34" charset="0"/>
                <a:ea typeface="Arial" pitchFamily="34" charset="-122"/>
                <a:cs typeface="Arial" pitchFamily="34" charset="-120"/>
              </a:rPr>
              <a:t>Cần điều khiển thiết bị từ web</a:t>
            </a:r>
            <a:endParaRPr lang="en-US" sz="2000" dirty="0"/>
          </a:p>
        </p:txBody>
      </p:sp>
      <p:sp>
        <p:nvSpPr>
          <p:cNvPr id="11" name="Text 8"/>
          <p:cNvSpPr/>
          <p:nvPr/>
        </p:nvSpPr>
        <p:spPr>
          <a:xfrm>
            <a:off x="685800" y="3666744"/>
            <a:ext cx="164592" cy="274320"/>
          </a:xfrm>
          <a:prstGeom prst="rect">
            <a:avLst/>
          </a:prstGeom>
          <a:noFill/>
          <a:ln/>
        </p:spPr>
        <p:txBody>
          <a:bodyPr wrap="square" lIns="0" tIns="0" rIns="0" bIns="0" rtlCol="0" anchor="ctr"/>
          <a:lstStyle/>
          <a:p>
            <a:pPr indent="0" marL="0">
              <a:buNone/>
            </a:pPr>
            <a:r>
              <a:rPr lang="en-US" sz="2000" b="1" dirty="0">
                <a:solidFill>
                  <a:srgbClr val="C8102E"/>
                </a:solidFill>
                <a:latin typeface="Arial" pitchFamily="34" charset="0"/>
                <a:ea typeface="Arial" pitchFamily="34" charset="-122"/>
                <a:cs typeface="Arial" pitchFamily="34" charset="-120"/>
              </a:rPr>
              <a:t>•</a:t>
            </a:r>
            <a:endParaRPr lang="en-US" sz="2000" dirty="0"/>
          </a:p>
        </p:txBody>
      </p:sp>
      <p:sp>
        <p:nvSpPr>
          <p:cNvPr id="12" name="Text 9"/>
          <p:cNvSpPr/>
          <p:nvPr/>
        </p:nvSpPr>
        <p:spPr>
          <a:xfrm>
            <a:off x="914400" y="3685032"/>
            <a:ext cx="7680960" cy="438912"/>
          </a:xfrm>
          <a:prstGeom prst="rect">
            <a:avLst/>
          </a:prstGeom>
          <a:noFill/>
          <a:ln/>
        </p:spPr>
        <p:txBody>
          <a:bodyPr wrap="square" lIns="0" tIns="0" rIns="0" bIns="0" rtlCol="0" anchor="ctr">
            <a:normAutofit/>
          </a:bodyPr>
          <a:lstStyle/>
          <a:p>
            <a:pPr indent="0" marL="0">
              <a:buNone/>
            </a:pPr>
            <a:r>
              <a:rPr lang="en-US" sz="2000" dirty="0">
                <a:solidFill>
                  <a:srgbClr val="111111"/>
                </a:solidFill>
                <a:latin typeface="Arial" pitchFamily="34" charset="0"/>
                <a:ea typeface="Arial" pitchFamily="34" charset="-122"/>
                <a:cs typeface="Arial" pitchFamily="34" charset="-120"/>
              </a:rPr>
              <a:t>Phạm vi: dashboard, chart, history, CRUD sensor channels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midterm_media/ppt/media/image5.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Kiến trúc tổng thể</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3</a:t>
            </a:r>
            <a:endParaRPr lang="en-US" sz="1200" dirty="0"/>
          </a:p>
        </p:txBody>
      </p:sp>
      <p:sp>
        <p:nvSpPr>
          <p:cNvPr id="5" name="Shape 2"/>
          <p:cNvSpPr/>
          <p:nvPr/>
        </p:nvSpPr>
        <p:spPr>
          <a:xfrm>
            <a:off x="320040" y="2057400"/>
            <a:ext cx="1417320" cy="1024128"/>
          </a:xfrm>
          <a:prstGeom prst="roundRect">
            <a:avLst>
              <a:gd name="adj" fmla="val 4464"/>
            </a:avLst>
          </a:prstGeom>
          <a:solidFill>
            <a:srgbClr val="FFFFFF"/>
          </a:solidFill>
          <a:ln w="12700">
            <a:solidFill>
              <a:srgbClr val="BBBBBB"/>
            </a:solidFill>
            <a:prstDash val="solid"/>
          </a:ln>
        </p:spPr>
      </p:sp>
      <p:sp>
        <p:nvSpPr>
          <p:cNvPr id="6" name="Shape 3"/>
          <p:cNvSpPr/>
          <p:nvPr/>
        </p:nvSpPr>
        <p:spPr>
          <a:xfrm>
            <a:off x="320040" y="2057400"/>
            <a:ext cx="64008" cy="1024128"/>
          </a:xfrm>
          <a:prstGeom prst="rect">
            <a:avLst/>
          </a:prstGeom>
          <a:solidFill>
            <a:srgbClr val="E69F00"/>
          </a:solidFill>
          <a:ln w="12700">
            <a:solidFill>
              <a:srgbClr val="E69F00"/>
            </a:solidFill>
            <a:prstDash val="solid"/>
          </a:ln>
        </p:spPr>
      </p:sp>
      <p:sp>
        <p:nvSpPr>
          <p:cNvPr id="7" name="Text 4"/>
          <p:cNvSpPr/>
          <p:nvPr/>
        </p:nvSpPr>
        <p:spPr>
          <a:xfrm>
            <a:off x="484632" y="2167128"/>
            <a:ext cx="1106424" cy="228600"/>
          </a:xfrm>
          <a:prstGeom prst="rect">
            <a:avLst/>
          </a:prstGeom>
          <a:noFill/>
          <a:ln/>
        </p:spPr>
        <p:txBody>
          <a:bodyPr wrap="square" lIns="0" tIns="0" rIns="0" bIns="0" rtlCol="0" anchor="ctr">
            <a:normAutofit/>
          </a:bodyPr>
          <a:lstStyle/>
          <a:p>
            <a:pPr indent="0" marL="0">
              <a:buNone/>
            </a:pPr>
            <a:r>
              <a:rPr lang="en-US" sz="1420" b="1" dirty="0">
                <a:solidFill>
                  <a:srgbClr val="111111"/>
                </a:solidFill>
                <a:latin typeface="Arial" pitchFamily="34" charset="0"/>
                <a:ea typeface="Arial" pitchFamily="34" charset="-122"/>
                <a:cs typeface="Arial" pitchFamily="34" charset="-120"/>
              </a:rPr>
              <a:t>ESP/Device</a:t>
            </a:r>
            <a:endParaRPr lang="en-US" sz="1420" dirty="0"/>
          </a:p>
        </p:txBody>
      </p:sp>
      <p:sp>
        <p:nvSpPr>
          <p:cNvPr id="8" name="Text 5"/>
          <p:cNvSpPr/>
          <p:nvPr/>
        </p:nvSpPr>
        <p:spPr>
          <a:xfrm>
            <a:off x="484632" y="2496312"/>
            <a:ext cx="1106424" cy="493776"/>
          </a:xfrm>
          <a:prstGeom prst="rect">
            <a:avLst/>
          </a:prstGeom>
          <a:noFill/>
          <a:ln/>
        </p:spPr>
        <p:txBody>
          <a:bodyPr wrap="square" lIns="254" tIns="254" rIns="254" bIns="254" rtlCol="0" anchor="t">
            <a:normAutofit/>
          </a:bodyPr>
          <a:lstStyle/>
          <a:p>
            <a:pPr indent="0" marL="0">
              <a:buNone/>
            </a:pPr>
            <a:r>
              <a:rPr lang="en-US" sz="1130" dirty="0">
                <a:solidFill>
                  <a:srgbClr val="111111"/>
                </a:solidFill>
                <a:latin typeface="Arial" pitchFamily="34" charset="0"/>
                <a:ea typeface="Arial" pitchFamily="34" charset="-122"/>
                <a:cs typeface="Arial" pitchFamily="34" charset="-120"/>
              </a:rPr>
              <a:t>Publish telemetry</a:t>
            </a:r>
            <a:endParaRPr lang="en-US" sz="1130" dirty="0"/>
          </a:p>
          <a:p>
            <a:pPr indent="0" marL="0">
              <a:buNone/>
            </a:pPr>
            <a:r>
              <a:rPr lang="en-US" sz="1130" dirty="0">
                <a:solidFill>
                  <a:srgbClr val="111111"/>
                </a:solidFill>
                <a:latin typeface="Arial" pitchFamily="34" charset="0"/>
                <a:ea typeface="Arial" pitchFamily="34" charset="-122"/>
                <a:cs typeface="Arial" pitchFamily="34" charset="-120"/>
              </a:rPr>
              <a:t>&amp; nhận command</a:t>
            </a:r>
            <a:endParaRPr lang="en-US" sz="1130" dirty="0"/>
          </a:p>
        </p:txBody>
      </p:sp>
      <p:sp>
        <p:nvSpPr>
          <p:cNvPr id="9" name="Shape 6"/>
          <p:cNvSpPr/>
          <p:nvPr/>
        </p:nvSpPr>
        <p:spPr>
          <a:xfrm>
            <a:off x="1755648" y="2560320"/>
            <a:ext cx="246888" cy="0"/>
          </a:xfrm>
          <a:prstGeom prst="line">
            <a:avLst/>
          </a:prstGeom>
          <a:noFill/>
          <a:ln w="25400">
            <a:solidFill>
              <a:srgbClr val="C8102E"/>
            </a:solidFill>
            <a:prstDash val="solid"/>
            <a:headEnd type="none"/>
            <a:tailEnd type="triangle"/>
          </a:ln>
        </p:spPr>
      </p:sp>
      <p:sp>
        <p:nvSpPr>
          <p:cNvPr id="10" name="Shape 7"/>
          <p:cNvSpPr/>
          <p:nvPr/>
        </p:nvSpPr>
        <p:spPr>
          <a:xfrm>
            <a:off x="2048256" y="2057400"/>
            <a:ext cx="1417320" cy="1024128"/>
          </a:xfrm>
          <a:prstGeom prst="roundRect">
            <a:avLst>
              <a:gd name="adj" fmla="val 4464"/>
            </a:avLst>
          </a:prstGeom>
          <a:solidFill>
            <a:srgbClr val="FFFFFF"/>
          </a:solidFill>
          <a:ln w="12700">
            <a:solidFill>
              <a:srgbClr val="BBBBBB"/>
            </a:solidFill>
            <a:prstDash val="solid"/>
          </a:ln>
        </p:spPr>
      </p:sp>
      <p:sp>
        <p:nvSpPr>
          <p:cNvPr id="11" name="Shape 8"/>
          <p:cNvSpPr/>
          <p:nvPr/>
        </p:nvSpPr>
        <p:spPr>
          <a:xfrm>
            <a:off x="2048256" y="2057400"/>
            <a:ext cx="64008" cy="1024128"/>
          </a:xfrm>
          <a:prstGeom prst="rect">
            <a:avLst/>
          </a:prstGeom>
          <a:solidFill>
            <a:srgbClr val="E69F00"/>
          </a:solidFill>
          <a:ln w="12700">
            <a:solidFill>
              <a:srgbClr val="E69F00"/>
            </a:solidFill>
            <a:prstDash val="solid"/>
          </a:ln>
        </p:spPr>
      </p:sp>
      <p:sp>
        <p:nvSpPr>
          <p:cNvPr id="12" name="Text 9"/>
          <p:cNvSpPr/>
          <p:nvPr/>
        </p:nvSpPr>
        <p:spPr>
          <a:xfrm>
            <a:off x="2212848" y="2167128"/>
            <a:ext cx="1106424" cy="228600"/>
          </a:xfrm>
          <a:prstGeom prst="rect">
            <a:avLst/>
          </a:prstGeom>
          <a:noFill/>
          <a:ln/>
        </p:spPr>
        <p:txBody>
          <a:bodyPr wrap="square" lIns="0" tIns="0" rIns="0" bIns="0" rtlCol="0" anchor="ctr">
            <a:normAutofit/>
          </a:bodyPr>
          <a:lstStyle/>
          <a:p>
            <a:pPr indent="0" marL="0">
              <a:buNone/>
            </a:pPr>
            <a:r>
              <a:rPr lang="en-US" sz="1420" b="1" dirty="0">
                <a:solidFill>
                  <a:srgbClr val="111111"/>
                </a:solidFill>
                <a:latin typeface="Arial" pitchFamily="34" charset="0"/>
                <a:ea typeface="Arial" pitchFamily="34" charset="-122"/>
                <a:cs typeface="Arial" pitchFamily="34" charset="-120"/>
              </a:rPr>
              <a:t>MQTT Broker</a:t>
            </a:r>
            <a:endParaRPr lang="en-US" sz="1420" dirty="0"/>
          </a:p>
        </p:txBody>
      </p:sp>
      <p:sp>
        <p:nvSpPr>
          <p:cNvPr id="13" name="Text 10"/>
          <p:cNvSpPr/>
          <p:nvPr/>
        </p:nvSpPr>
        <p:spPr>
          <a:xfrm>
            <a:off x="2212848" y="2496312"/>
            <a:ext cx="1106424" cy="493776"/>
          </a:xfrm>
          <a:prstGeom prst="rect">
            <a:avLst/>
          </a:prstGeom>
          <a:noFill/>
          <a:ln/>
        </p:spPr>
        <p:txBody>
          <a:bodyPr wrap="square" lIns="254" tIns="254" rIns="254" bIns="254" rtlCol="0" anchor="t">
            <a:normAutofit/>
          </a:bodyPr>
          <a:lstStyle/>
          <a:p>
            <a:pPr indent="0" marL="0">
              <a:buNone/>
            </a:pPr>
            <a:r>
              <a:rPr lang="en-US" sz="1130" dirty="0">
                <a:solidFill>
                  <a:srgbClr val="111111"/>
                </a:solidFill>
                <a:latin typeface="Arial" pitchFamily="34" charset="0"/>
                <a:ea typeface="Arial" pitchFamily="34" charset="-122"/>
                <a:cs typeface="Arial" pitchFamily="34" charset="-120"/>
              </a:rPr>
              <a:t>Topic</a:t>
            </a:r>
            <a:endParaRPr lang="en-US" sz="1130" dirty="0"/>
          </a:p>
          <a:p>
            <a:pPr indent="0" marL="0">
              <a:buNone/>
            </a:pPr>
            <a:r>
              <a:rPr lang="en-US" sz="1130" dirty="0">
                <a:solidFill>
                  <a:srgbClr val="111111"/>
                </a:solidFill>
                <a:latin typeface="Arial" pitchFamily="34" charset="0"/>
                <a:ea typeface="Arial" pitchFamily="34" charset="-122"/>
                <a:cs typeface="Arial" pitchFamily="34" charset="-120"/>
              </a:rPr>
              <a:t>electric-nose/device/...</a:t>
            </a:r>
            <a:endParaRPr lang="en-US" sz="1130" dirty="0"/>
          </a:p>
        </p:txBody>
      </p:sp>
      <p:sp>
        <p:nvSpPr>
          <p:cNvPr id="14" name="Shape 11"/>
          <p:cNvSpPr/>
          <p:nvPr/>
        </p:nvSpPr>
        <p:spPr>
          <a:xfrm>
            <a:off x="3483864" y="2560320"/>
            <a:ext cx="246888" cy="0"/>
          </a:xfrm>
          <a:prstGeom prst="line">
            <a:avLst/>
          </a:prstGeom>
          <a:noFill/>
          <a:ln w="25400">
            <a:solidFill>
              <a:srgbClr val="C8102E"/>
            </a:solidFill>
            <a:prstDash val="solid"/>
            <a:headEnd type="none"/>
            <a:tailEnd type="triangle"/>
          </a:ln>
        </p:spPr>
      </p:sp>
      <p:sp>
        <p:nvSpPr>
          <p:cNvPr id="15" name="Shape 12"/>
          <p:cNvSpPr/>
          <p:nvPr/>
        </p:nvSpPr>
        <p:spPr>
          <a:xfrm>
            <a:off x="3776472" y="2057400"/>
            <a:ext cx="1417320" cy="1024128"/>
          </a:xfrm>
          <a:prstGeom prst="roundRect">
            <a:avLst>
              <a:gd name="adj" fmla="val 4464"/>
            </a:avLst>
          </a:prstGeom>
          <a:solidFill>
            <a:srgbClr val="FFFFFF"/>
          </a:solidFill>
          <a:ln w="12700">
            <a:solidFill>
              <a:srgbClr val="BBBBBB"/>
            </a:solidFill>
            <a:prstDash val="solid"/>
          </a:ln>
        </p:spPr>
      </p:sp>
      <p:sp>
        <p:nvSpPr>
          <p:cNvPr id="16" name="Shape 13"/>
          <p:cNvSpPr/>
          <p:nvPr/>
        </p:nvSpPr>
        <p:spPr>
          <a:xfrm>
            <a:off x="3776472" y="2057400"/>
            <a:ext cx="64008" cy="1024128"/>
          </a:xfrm>
          <a:prstGeom prst="rect">
            <a:avLst/>
          </a:prstGeom>
          <a:solidFill>
            <a:srgbClr val="C8102E"/>
          </a:solidFill>
          <a:ln w="12700">
            <a:solidFill>
              <a:srgbClr val="C8102E"/>
            </a:solidFill>
            <a:prstDash val="solid"/>
          </a:ln>
        </p:spPr>
      </p:sp>
      <p:sp>
        <p:nvSpPr>
          <p:cNvPr id="17" name="Text 14"/>
          <p:cNvSpPr/>
          <p:nvPr/>
        </p:nvSpPr>
        <p:spPr>
          <a:xfrm>
            <a:off x="3941064" y="2167128"/>
            <a:ext cx="1106424" cy="228600"/>
          </a:xfrm>
          <a:prstGeom prst="rect">
            <a:avLst/>
          </a:prstGeom>
          <a:noFill/>
          <a:ln/>
        </p:spPr>
        <p:txBody>
          <a:bodyPr wrap="square" lIns="0" tIns="0" rIns="0" bIns="0" rtlCol="0" anchor="ctr">
            <a:normAutofit/>
          </a:bodyPr>
          <a:lstStyle/>
          <a:p>
            <a:pPr indent="0" marL="0">
              <a:buNone/>
            </a:pPr>
            <a:r>
              <a:rPr lang="en-US" sz="1420" b="1" dirty="0">
                <a:solidFill>
                  <a:srgbClr val="111111"/>
                </a:solidFill>
                <a:latin typeface="Arial" pitchFamily="34" charset="0"/>
                <a:ea typeface="Arial" pitchFamily="34" charset="-122"/>
                <a:cs typeface="Arial" pitchFamily="34" charset="-120"/>
              </a:rPr>
              <a:t>Node.js backend</a:t>
            </a:r>
            <a:endParaRPr lang="en-US" sz="1420" dirty="0"/>
          </a:p>
        </p:txBody>
      </p:sp>
      <p:sp>
        <p:nvSpPr>
          <p:cNvPr id="18" name="Text 15"/>
          <p:cNvSpPr/>
          <p:nvPr/>
        </p:nvSpPr>
        <p:spPr>
          <a:xfrm>
            <a:off x="3941064" y="2496312"/>
            <a:ext cx="1106424" cy="493776"/>
          </a:xfrm>
          <a:prstGeom prst="rect">
            <a:avLst/>
          </a:prstGeom>
          <a:noFill/>
          <a:ln/>
        </p:spPr>
        <p:txBody>
          <a:bodyPr wrap="square" lIns="254" tIns="254" rIns="254" bIns="254" rtlCol="0" anchor="t">
            <a:normAutofit/>
          </a:bodyPr>
          <a:lstStyle/>
          <a:p>
            <a:pPr indent="0" marL="0">
              <a:buNone/>
            </a:pPr>
            <a:r>
              <a:rPr lang="en-US" sz="1130" dirty="0">
                <a:solidFill>
                  <a:srgbClr val="111111"/>
                </a:solidFill>
                <a:latin typeface="Arial" pitchFamily="34" charset="0"/>
                <a:ea typeface="Arial" pitchFamily="34" charset="-122"/>
                <a:cs typeface="Arial" pitchFamily="34" charset="-120"/>
              </a:rPr>
              <a:t>MQTT Bridge</a:t>
            </a:r>
            <a:endParaRPr lang="en-US" sz="1130" dirty="0"/>
          </a:p>
          <a:p>
            <a:pPr indent="0" marL="0">
              <a:buNone/>
            </a:pPr>
            <a:r>
              <a:rPr lang="en-US" sz="1130" dirty="0">
                <a:solidFill>
                  <a:srgbClr val="111111"/>
                </a:solidFill>
                <a:latin typeface="Arial" pitchFamily="34" charset="0"/>
                <a:ea typeface="Arial" pitchFamily="34" charset="-122"/>
                <a:cs typeface="Arial" pitchFamily="34" charset="-120"/>
              </a:rPr>
              <a:t>REST API</a:t>
            </a:r>
            <a:endParaRPr lang="en-US" sz="1130" dirty="0"/>
          </a:p>
        </p:txBody>
      </p:sp>
      <p:sp>
        <p:nvSpPr>
          <p:cNvPr id="19" name="Shape 16"/>
          <p:cNvSpPr/>
          <p:nvPr/>
        </p:nvSpPr>
        <p:spPr>
          <a:xfrm>
            <a:off x="5212080" y="2560320"/>
            <a:ext cx="246888" cy="0"/>
          </a:xfrm>
          <a:prstGeom prst="line">
            <a:avLst/>
          </a:prstGeom>
          <a:noFill/>
          <a:ln w="25400">
            <a:solidFill>
              <a:srgbClr val="C8102E"/>
            </a:solidFill>
            <a:prstDash val="solid"/>
            <a:headEnd type="none"/>
            <a:tailEnd type="triangle"/>
          </a:ln>
        </p:spPr>
      </p:sp>
      <p:sp>
        <p:nvSpPr>
          <p:cNvPr id="20" name="Shape 17"/>
          <p:cNvSpPr/>
          <p:nvPr/>
        </p:nvSpPr>
        <p:spPr>
          <a:xfrm>
            <a:off x="5504688" y="2057400"/>
            <a:ext cx="1417320" cy="1024128"/>
          </a:xfrm>
          <a:prstGeom prst="roundRect">
            <a:avLst>
              <a:gd name="adj" fmla="val 4464"/>
            </a:avLst>
          </a:prstGeom>
          <a:solidFill>
            <a:srgbClr val="FFFFFF"/>
          </a:solidFill>
          <a:ln w="12700">
            <a:solidFill>
              <a:srgbClr val="BBBBBB"/>
            </a:solidFill>
            <a:prstDash val="solid"/>
          </a:ln>
        </p:spPr>
      </p:sp>
      <p:sp>
        <p:nvSpPr>
          <p:cNvPr id="21" name="Shape 18"/>
          <p:cNvSpPr/>
          <p:nvPr/>
        </p:nvSpPr>
        <p:spPr>
          <a:xfrm>
            <a:off x="5504688" y="2057400"/>
            <a:ext cx="64008" cy="1024128"/>
          </a:xfrm>
          <a:prstGeom prst="rect">
            <a:avLst/>
          </a:prstGeom>
          <a:solidFill>
            <a:srgbClr val="E69F00"/>
          </a:solidFill>
          <a:ln w="12700">
            <a:solidFill>
              <a:srgbClr val="E69F00"/>
            </a:solidFill>
            <a:prstDash val="solid"/>
          </a:ln>
        </p:spPr>
      </p:sp>
      <p:sp>
        <p:nvSpPr>
          <p:cNvPr id="22" name="Text 19"/>
          <p:cNvSpPr/>
          <p:nvPr/>
        </p:nvSpPr>
        <p:spPr>
          <a:xfrm>
            <a:off x="5669280" y="2167128"/>
            <a:ext cx="1106424" cy="228600"/>
          </a:xfrm>
          <a:prstGeom prst="rect">
            <a:avLst/>
          </a:prstGeom>
          <a:noFill/>
          <a:ln/>
        </p:spPr>
        <p:txBody>
          <a:bodyPr wrap="square" lIns="0" tIns="0" rIns="0" bIns="0" rtlCol="0" anchor="ctr">
            <a:normAutofit/>
          </a:bodyPr>
          <a:lstStyle/>
          <a:p>
            <a:pPr indent="0" marL="0">
              <a:buNone/>
            </a:pPr>
            <a:r>
              <a:rPr lang="en-US" sz="1420" b="1" dirty="0">
                <a:solidFill>
                  <a:srgbClr val="111111"/>
                </a:solidFill>
                <a:latin typeface="Arial" pitchFamily="34" charset="0"/>
                <a:ea typeface="Arial" pitchFamily="34" charset="-122"/>
                <a:cs typeface="Arial" pitchFamily="34" charset="-120"/>
              </a:rPr>
              <a:t>Database</a:t>
            </a:r>
            <a:endParaRPr lang="en-US" sz="1420" dirty="0"/>
          </a:p>
        </p:txBody>
      </p:sp>
      <p:sp>
        <p:nvSpPr>
          <p:cNvPr id="23" name="Text 20"/>
          <p:cNvSpPr/>
          <p:nvPr/>
        </p:nvSpPr>
        <p:spPr>
          <a:xfrm>
            <a:off x="5669280" y="2496312"/>
            <a:ext cx="1106424" cy="493776"/>
          </a:xfrm>
          <a:prstGeom prst="rect">
            <a:avLst/>
          </a:prstGeom>
          <a:noFill/>
          <a:ln/>
        </p:spPr>
        <p:txBody>
          <a:bodyPr wrap="square" lIns="254" tIns="254" rIns="254" bIns="254" rtlCol="0" anchor="t">
            <a:normAutofit/>
          </a:bodyPr>
          <a:lstStyle/>
          <a:p>
            <a:pPr indent="0" marL="0">
              <a:buNone/>
            </a:pPr>
            <a:r>
              <a:rPr lang="en-US" sz="1130" dirty="0">
                <a:solidFill>
                  <a:srgbClr val="111111"/>
                </a:solidFill>
                <a:latin typeface="Arial" pitchFamily="34" charset="0"/>
                <a:ea typeface="Arial" pitchFamily="34" charset="-122"/>
                <a:cs typeface="Arial" pitchFamily="34" charset="-120"/>
              </a:rPr>
              <a:t>MongoDB telemetry</a:t>
            </a:r>
            <a:endParaRPr lang="en-US" sz="1130" dirty="0"/>
          </a:p>
          <a:p>
            <a:pPr indent="0" marL="0">
              <a:buNone/>
            </a:pPr>
            <a:r>
              <a:rPr lang="en-US" sz="1130" dirty="0">
                <a:solidFill>
                  <a:srgbClr val="111111"/>
                </a:solidFill>
                <a:latin typeface="Arial" pitchFamily="34" charset="0"/>
                <a:ea typeface="Arial" pitchFamily="34" charset="-122"/>
                <a:cs typeface="Arial" pitchFamily="34" charset="-120"/>
              </a:rPr>
              <a:t>SQL metadata/control</a:t>
            </a:r>
            <a:endParaRPr lang="en-US" sz="1130" dirty="0"/>
          </a:p>
        </p:txBody>
      </p:sp>
      <p:sp>
        <p:nvSpPr>
          <p:cNvPr id="24" name="Shape 21"/>
          <p:cNvSpPr/>
          <p:nvPr/>
        </p:nvSpPr>
        <p:spPr>
          <a:xfrm>
            <a:off x="6940296" y="2560320"/>
            <a:ext cx="246888" cy="0"/>
          </a:xfrm>
          <a:prstGeom prst="line">
            <a:avLst/>
          </a:prstGeom>
          <a:noFill/>
          <a:ln w="25400">
            <a:solidFill>
              <a:srgbClr val="C8102E"/>
            </a:solidFill>
            <a:prstDash val="solid"/>
            <a:headEnd type="none"/>
            <a:tailEnd type="triangle"/>
          </a:ln>
        </p:spPr>
      </p:sp>
      <p:sp>
        <p:nvSpPr>
          <p:cNvPr id="25" name="Shape 22"/>
          <p:cNvSpPr/>
          <p:nvPr/>
        </p:nvSpPr>
        <p:spPr>
          <a:xfrm>
            <a:off x="7232904" y="2057400"/>
            <a:ext cx="1417320" cy="1024128"/>
          </a:xfrm>
          <a:prstGeom prst="roundRect">
            <a:avLst>
              <a:gd name="adj" fmla="val 4464"/>
            </a:avLst>
          </a:prstGeom>
          <a:solidFill>
            <a:srgbClr val="FFFFFF"/>
          </a:solidFill>
          <a:ln w="12700">
            <a:solidFill>
              <a:srgbClr val="BBBBBB"/>
            </a:solidFill>
            <a:prstDash val="solid"/>
          </a:ln>
        </p:spPr>
      </p:sp>
      <p:sp>
        <p:nvSpPr>
          <p:cNvPr id="26" name="Shape 23"/>
          <p:cNvSpPr/>
          <p:nvPr/>
        </p:nvSpPr>
        <p:spPr>
          <a:xfrm>
            <a:off x="7232904" y="2057400"/>
            <a:ext cx="64008" cy="1024128"/>
          </a:xfrm>
          <a:prstGeom prst="rect">
            <a:avLst/>
          </a:prstGeom>
          <a:solidFill>
            <a:srgbClr val="E69F00"/>
          </a:solidFill>
          <a:ln w="12700">
            <a:solidFill>
              <a:srgbClr val="E69F00"/>
            </a:solidFill>
            <a:prstDash val="solid"/>
          </a:ln>
        </p:spPr>
      </p:sp>
      <p:sp>
        <p:nvSpPr>
          <p:cNvPr id="27" name="Text 24"/>
          <p:cNvSpPr/>
          <p:nvPr/>
        </p:nvSpPr>
        <p:spPr>
          <a:xfrm>
            <a:off x="7397496" y="2167128"/>
            <a:ext cx="1106424" cy="228600"/>
          </a:xfrm>
          <a:prstGeom prst="rect">
            <a:avLst/>
          </a:prstGeom>
          <a:noFill/>
          <a:ln/>
        </p:spPr>
        <p:txBody>
          <a:bodyPr wrap="square" lIns="0" tIns="0" rIns="0" bIns="0" rtlCol="0" anchor="ctr">
            <a:normAutofit/>
          </a:bodyPr>
          <a:lstStyle/>
          <a:p>
            <a:pPr indent="0" marL="0">
              <a:buNone/>
            </a:pPr>
            <a:r>
              <a:rPr lang="en-US" sz="1420" b="1" dirty="0">
                <a:solidFill>
                  <a:srgbClr val="111111"/>
                </a:solidFill>
                <a:latin typeface="Arial" pitchFamily="34" charset="0"/>
                <a:ea typeface="Arial" pitchFamily="34" charset="-122"/>
                <a:cs typeface="Arial" pitchFamily="34" charset="-120"/>
              </a:rPr>
              <a:t>Frontend web</a:t>
            </a:r>
            <a:endParaRPr lang="en-US" sz="1420" dirty="0"/>
          </a:p>
        </p:txBody>
      </p:sp>
      <p:sp>
        <p:nvSpPr>
          <p:cNvPr id="28" name="Text 25"/>
          <p:cNvSpPr/>
          <p:nvPr/>
        </p:nvSpPr>
        <p:spPr>
          <a:xfrm>
            <a:off x="7397496" y="2496312"/>
            <a:ext cx="1106424" cy="493776"/>
          </a:xfrm>
          <a:prstGeom prst="rect">
            <a:avLst/>
          </a:prstGeom>
          <a:noFill/>
          <a:ln/>
        </p:spPr>
        <p:txBody>
          <a:bodyPr wrap="square" lIns="254" tIns="254" rIns="254" bIns="254" rtlCol="0" anchor="t">
            <a:normAutofit/>
          </a:bodyPr>
          <a:lstStyle/>
          <a:p>
            <a:pPr indent="0" marL="0">
              <a:buNone/>
            </a:pPr>
            <a:r>
              <a:rPr lang="en-US" sz="1130" dirty="0">
                <a:solidFill>
                  <a:srgbClr val="111111"/>
                </a:solidFill>
                <a:latin typeface="Arial" pitchFamily="34" charset="0"/>
                <a:ea typeface="Arial" pitchFamily="34" charset="-122"/>
                <a:cs typeface="Arial" pitchFamily="34" charset="-120"/>
              </a:rPr>
              <a:t>KPI / chart</a:t>
            </a:r>
            <a:endParaRPr lang="en-US" sz="1130" dirty="0"/>
          </a:p>
          <a:p>
            <a:pPr indent="0" marL="0">
              <a:buNone/>
            </a:pPr>
            <a:r>
              <a:rPr lang="en-US" sz="1130" dirty="0">
                <a:solidFill>
                  <a:srgbClr val="111111"/>
                </a:solidFill>
                <a:latin typeface="Arial" pitchFamily="34" charset="0"/>
                <a:ea typeface="Arial" pitchFamily="34" charset="-122"/>
                <a:cs typeface="Arial" pitchFamily="34" charset="-120"/>
              </a:rPr>
              <a:t>history / control</a:t>
            </a:r>
            <a:endParaRPr lang="en-US" sz="1130" dirty="0"/>
          </a:p>
        </p:txBody>
      </p:sp>
      <p:sp>
        <p:nvSpPr>
          <p:cNvPr id="29" name="Text 26"/>
          <p:cNvSpPr/>
          <p:nvPr/>
        </p:nvSpPr>
        <p:spPr>
          <a:xfrm>
            <a:off x="1078992" y="4160520"/>
            <a:ext cx="2011680" cy="228600"/>
          </a:xfrm>
          <a:prstGeom prst="rect">
            <a:avLst/>
          </a:prstGeom>
          <a:noFill/>
          <a:ln/>
        </p:spPr>
        <p:txBody>
          <a:bodyPr wrap="square" lIns="0" tIns="0" rIns="0" bIns="0" rtlCol="0" anchor="ctr"/>
          <a:lstStyle/>
          <a:p>
            <a:pPr indent="0" marL="0">
              <a:buNone/>
            </a:pPr>
            <a:r>
              <a:rPr lang="en-US" sz="1900" b="1" dirty="0">
                <a:solidFill>
                  <a:srgbClr val="111111"/>
                </a:solidFill>
                <a:latin typeface="Arial" pitchFamily="34" charset="0"/>
                <a:ea typeface="Arial" pitchFamily="34" charset="-122"/>
                <a:cs typeface="Arial" pitchFamily="34" charset="-120"/>
              </a:rPr>
              <a:t>Node.js backend:</a:t>
            </a:r>
            <a:endParaRPr lang="en-US" sz="1900" dirty="0"/>
          </a:p>
        </p:txBody>
      </p:sp>
      <p:sp>
        <p:nvSpPr>
          <p:cNvPr id="30" name="Text 27"/>
          <p:cNvSpPr/>
          <p:nvPr/>
        </p:nvSpPr>
        <p:spPr>
          <a:xfrm>
            <a:off x="1188720" y="4553712"/>
            <a:ext cx="164592" cy="274320"/>
          </a:xfrm>
          <a:prstGeom prst="rect">
            <a:avLst/>
          </a:prstGeom>
          <a:noFill/>
          <a:ln/>
        </p:spPr>
        <p:txBody>
          <a:bodyPr wrap="square" lIns="0" tIns="0" rIns="0" bIns="0" rtlCol="0" anchor="ctr"/>
          <a:lstStyle/>
          <a:p>
            <a:pPr indent="0" marL="0">
              <a:buNone/>
            </a:pPr>
            <a:r>
              <a:rPr lang="en-US" sz="1800" b="1" dirty="0">
                <a:solidFill>
                  <a:srgbClr val="C8102E"/>
                </a:solidFill>
                <a:latin typeface="Arial" pitchFamily="34" charset="0"/>
                <a:ea typeface="Arial" pitchFamily="34" charset="-122"/>
                <a:cs typeface="Arial" pitchFamily="34" charset="-120"/>
              </a:rPr>
              <a:t>•</a:t>
            </a:r>
            <a:endParaRPr lang="en-US" sz="1800" dirty="0"/>
          </a:p>
        </p:txBody>
      </p:sp>
      <p:sp>
        <p:nvSpPr>
          <p:cNvPr id="31" name="Text 28"/>
          <p:cNvSpPr/>
          <p:nvPr/>
        </p:nvSpPr>
        <p:spPr>
          <a:xfrm>
            <a:off x="1417320" y="4572000"/>
            <a:ext cx="2331720" cy="329184"/>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MQTT Bridge</a:t>
            </a:r>
            <a:endParaRPr lang="en-US" sz="1800" dirty="0"/>
          </a:p>
        </p:txBody>
      </p:sp>
      <p:sp>
        <p:nvSpPr>
          <p:cNvPr id="32" name="Text 29"/>
          <p:cNvSpPr/>
          <p:nvPr/>
        </p:nvSpPr>
        <p:spPr>
          <a:xfrm>
            <a:off x="1188720" y="5056632"/>
            <a:ext cx="164592" cy="274320"/>
          </a:xfrm>
          <a:prstGeom prst="rect">
            <a:avLst/>
          </a:prstGeom>
          <a:noFill/>
          <a:ln/>
        </p:spPr>
        <p:txBody>
          <a:bodyPr wrap="square" lIns="0" tIns="0" rIns="0" bIns="0" rtlCol="0" anchor="ctr"/>
          <a:lstStyle/>
          <a:p>
            <a:pPr indent="0" marL="0">
              <a:buNone/>
            </a:pPr>
            <a:r>
              <a:rPr lang="en-US" sz="1800" b="1" dirty="0">
                <a:solidFill>
                  <a:srgbClr val="C8102E"/>
                </a:solidFill>
                <a:latin typeface="Arial" pitchFamily="34" charset="0"/>
                <a:ea typeface="Arial" pitchFamily="34" charset="-122"/>
                <a:cs typeface="Arial" pitchFamily="34" charset="-120"/>
              </a:rPr>
              <a:t>•</a:t>
            </a:r>
            <a:endParaRPr lang="en-US" sz="1800" dirty="0"/>
          </a:p>
        </p:txBody>
      </p:sp>
      <p:sp>
        <p:nvSpPr>
          <p:cNvPr id="33" name="Text 30"/>
          <p:cNvSpPr/>
          <p:nvPr/>
        </p:nvSpPr>
        <p:spPr>
          <a:xfrm>
            <a:off x="1417320" y="5074920"/>
            <a:ext cx="2331720" cy="329184"/>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REST API</a:t>
            </a:r>
            <a:endParaRPr lang="en-US" sz="1800" dirty="0"/>
          </a:p>
        </p:txBody>
      </p:sp>
      <p:sp>
        <p:nvSpPr>
          <p:cNvPr id="34" name="Text 31"/>
          <p:cNvSpPr/>
          <p:nvPr/>
        </p:nvSpPr>
        <p:spPr>
          <a:xfrm>
            <a:off x="4526280" y="4553712"/>
            <a:ext cx="164592" cy="274320"/>
          </a:xfrm>
          <a:prstGeom prst="rect">
            <a:avLst/>
          </a:prstGeom>
          <a:noFill/>
          <a:ln/>
        </p:spPr>
        <p:txBody>
          <a:bodyPr wrap="square" lIns="0" tIns="0" rIns="0" bIns="0" rtlCol="0" anchor="ctr"/>
          <a:lstStyle/>
          <a:p>
            <a:pPr indent="0" marL="0">
              <a:buNone/>
            </a:pPr>
            <a:r>
              <a:rPr lang="en-US" sz="1800" b="1" dirty="0">
                <a:solidFill>
                  <a:srgbClr val="C8102E"/>
                </a:solidFill>
                <a:latin typeface="Arial" pitchFamily="34" charset="0"/>
                <a:ea typeface="Arial" pitchFamily="34" charset="-122"/>
                <a:cs typeface="Arial" pitchFamily="34" charset="-120"/>
              </a:rPr>
              <a:t>•</a:t>
            </a:r>
            <a:endParaRPr lang="en-US" sz="1800" dirty="0"/>
          </a:p>
        </p:txBody>
      </p:sp>
      <p:sp>
        <p:nvSpPr>
          <p:cNvPr id="35" name="Text 32"/>
          <p:cNvSpPr/>
          <p:nvPr/>
        </p:nvSpPr>
        <p:spPr>
          <a:xfrm>
            <a:off x="4754880" y="4572000"/>
            <a:ext cx="2971800" cy="329184"/>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MongoDB (telemetry)</a:t>
            </a:r>
            <a:endParaRPr lang="en-US" sz="1800" dirty="0"/>
          </a:p>
        </p:txBody>
      </p:sp>
      <p:sp>
        <p:nvSpPr>
          <p:cNvPr id="36" name="Text 33"/>
          <p:cNvSpPr/>
          <p:nvPr/>
        </p:nvSpPr>
        <p:spPr>
          <a:xfrm>
            <a:off x="4526280" y="5056632"/>
            <a:ext cx="164592" cy="274320"/>
          </a:xfrm>
          <a:prstGeom prst="rect">
            <a:avLst/>
          </a:prstGeom>
          <a:noFill/>
          <a:ln/>
        </p:spPr>
        <p:txBody>
          <a:bodyPr wrap="square" lIns="0" tIns="0" rIns="0" bIns="0" rtlCol="0" anchor="ctr"/>
          <a:lstStyle/>
          <a:p>
            <a:pPr indent="0" marL="0">
              <a:buNone/>
            </a:pPr>
            <a:r>
              <a:rPr lang="en-US" sz="1800" b="1" dirty="0">
                <a:solidFill>
                  <a:srgbClr val="C8102E"/>
                </a:solidFill>
                <a:latin typeface="Arial" pitchFamily="34" charset="0"/>
                <a:ea typeface="Arial" pitchFamily="34" charset="-122"/>
                <a:cs typeface="Arial" pitchFamily="34" charset="-120"/>
              </a:rPr>
              <a:t>•</a:t>
            </a:r>
            <a:endParaRPr lang="en-US" sz="1800" dirty="0"/>
          </a:p>
        </p:txBody>
      </p:sp>
      <p:sp>
        <p:nvSpPr>
          <p:cNvPr id="37" name="Text 34"/>
          <p:cNvSpPr/>
          <p:nvPr/>
        </p:nvSpPr>
        <p:spPr>
          <a:xfrm>
            <a:off x="4754880" y="5074920"/>
            <a:ext cx="3246120" cy="329184"/>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SQL (metadata/control)</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midterm_media/ppt/media/image5.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Luồng dữ liệu end-to-end</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4</a:t>
            </a:r>
            <a:endParaRPr lang="en-US" sz="1200" dirty="0"/>
          </a:p>
        </p:txBody>
      </p:sp>
      <p:sp>
        <p:nvSpPr>
          <p:cNvPr id="5" name="Text 2"/>
          <p:cNvSpPr/>
          <p:nvPr/>
        </p:nvSpPr>
        <p:spPr>
          <a:xfrm>
            <a:off x="685800" y="139903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6" name="Text 3"/>
          <p:cNvSpPr/>
          <p:nvPr/>
        </p:nvSpPr>
        <p:spPr>
          <a:xfrm>
            <a:off x="914400" y="141732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Device publish topic `electric-nose/device/...`</a:t>
            </a:r>
            <a:endParaRPr lang="en-US" sz="1900" dirty="0"/>
          </a:p>
        </p:txBody>
      </p:sp>
      <p:sp>
        <p:nvSpPr>
          <p:cNvPr id="7" name="Text 4"/>
          <p:cNvSpPr/>
          <p:nvPr/>
        </p:nvSpPr>
        <p:spPr>
          <a:xfrm>
            <a:off x="685800" y="203911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8" name="Text 5"/>
          <p:cNvSpPr/>
          <p:nvPr/>
        </p:nvSpPr>
        <p:spPr>
          <a:xfrm>
            <a:off x="914400" y="205740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Bridge subscribe + parse payload</a:t>
            </a:r>
            <a:endParaRPr lang="en-US" sz="1900" dirty="0"/>
          </a:p>
        </p:txBody>
      </p:sp>
      <p:sp>
        <p:nvSpPr>
          <p:cNvPr id="9" name="Text 6"/>
          <p:cNvSpPr/>
          <p:nvPr/>
        </p:nvSpPr>
        <p:spPr>
          <a:xfrm>
            <a:off x="685800" y="267919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0" name="Text 7"/>
          <p:cNvSpPr/>
          <p:nvPr/>
        </p:nvSpPr>
        <p:spPr>
          <a:xfrm>
            <a:off x="914400" y="269748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Ghi Mongo/SQL</a:t>
            </a:r>
            <a:endParaRPr lang="en-US" sz="1900" dirty="0"/>
          </a:p>
        </p:txBody>
      </p:sp>
      <p:sp>
        <p:nvSpPr>
          <p:cNvPr id="11" name="Text 8"/>
          <p:cNvSpPr/>
          <p:nvPr/>
        </p:nvSpPr>
        <p:spPr>
          <a:xfrm>
            <a:off x="685800" y="331927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2" name="Text 9"/>
          <p:cNvSpPr/>
          <p:nvPr/>
        </p:nvSpPr>
        <p:spPr>
          <a:xfrm>
            <a:off x="914400" y="333756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Frontend gọi `/api/enose/*`</a:t>
            </a:r>
            <a:endParaRPr lang="en-US" sz="1900" dirty="0"/>
          </a:p>
        </p:txBody>
      </p:sp>
      <p:sp>
        <p:nvSpPr>
          <p:cNvPr id="13" name="Text 10"/>
          <p:cNvSpPr/>
          <p:nvPr/>
        </p:nvSpPr>
        <p:spPr>
          <a:xfrm>
            <a:off x="685800" y="395935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4" name="Text 11"/>
          <p:cNvSpPr/>
          <p:nvPr/>
        </p:nvSpPr>
        <p:spPr>
          <a:xfrm>
            <a:off x="914400" y="397764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UI cập nhật KPI/chart/history</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midterm_media/ppt/media/image4.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Vì sao tách SQL + Mongo</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5</a:t>
            </a:r>
            <a:endParaRPr lang="en-US" sz="1200" dirty="0"/>
          </a:p>
        </p:txBody>
      </p:sp>
      <p:sp>
        <p:nvSpPr>
          <p:cNvPr id="5" name="Shape 2"/>
          <p:cNvSpPr/>
          <p:nvPr/>
        </p:nvSpPr>
        <p:spPr>
          <a:xfrm>
            <a:off x="685800" y="1645920"/>
            <a:ext cx="3703320" cy="3246120"/>
          </a:xfrm>
          <a:prstGeom prst="roundRect">
            <a:avLst>
              <a:gd name="adj" fmla="val 1408"/>
            </a:avLst>
          </a:prstGeom>
          <a:solidFill>
            <a:srgbClr val="FFFFFF"/>
          </a:solidFill>
          <a:ln w="12700">
            <a:solidFill>
              <a:srgbClr val="DDDDDD"/>
            </a:solidFill>
            <a:prstDash val="solid"/>
          </a:ln>
        </p:spPr>
      </p:sp>
      <p:sp>
        <p:nvSpPr>
          <p:cNvPr id="6" name="Shape 3"/>
          <p:cNvSpPr/>
          <p:nvPr/>
        </p:nvSpPr>
        <p:spPr>
          <a:xfrm>
            <a:off x="685800" y="1645920"/>
            <a:ext cx="64008" cy="3246120"/>
          </a:xfrm>
          <a:prstGeom prst="rect">
            <a:avLst/>
          </a:prstGeom>
          <a:solidFill>
            <a:srgbClr val="2E7D32"/>
          </a:solidFill>
          <a:ln w="12700">
            <a:solidFill>
              <a:srgbClr val="2E7D32"/>
            </a:solidFill>
            <a:prstDash val="solid"/>
          </a:ln>
        </p:spPr>
      </p:sp>
      <p:sp>
        <p:nvSpPr>
          <p:cNvPr id="7" name="Text 4"/>
          <p:cNvSpPr/>
          <p:nvPr/>
        </p:nvSpPr>
        <p:spPr>
          <a:xfrm>
            <a:off x="850392" y="1755648"/>
            <a:ext cx="3392424" cy="228600"/>
          </a:xfrm>
          <a:prstGeom prst="rect">
            <a:avLst/>
          </a:prstGeom>
          <a:noFill/>
          <a:ln/>
        </p:spPr>
        <p:txBody>
          <a:bodyPr wrap="square" lIns="0" tIns="0" rIns="0" bIns="0" rtlCol="0" anchor="ctr">
            <a:normAutofit/>
          </a:bodyPr>
          <a:lstStyle/>
          <a:p>
            <a:pPr indent="0" marL="0">
              <a:buNone/>
            </a:pPr>
            <a:r>
              <a:rPr lang="en-US" sz="2400" b="1" dirty="0">
                <a:solidFill>
                  <a:srgbClr val="111111"/>
                </a:solidFill>
                <a:latin typeface="Arial" pitchFamily="34" charset="0"/>
                <a:ea typeface="Arial" pitchFamily="34" charset="-122"/>
                <a:cs typeface="Arial" pitchFamily="34" charset="-120"/>
              </a:rPr>
              <a:t>Mongo</a:t>
            </a:r>
            <a:endParaRPr lang="en-US" sz="2400" dirty="0"/>
          </a:p>
        </p:txBody>
      </p:sp>
      <p:sp>
        <p:nvSpPr>
          <p:cNvPr id="8" name="Text 5"/>
          <p:cNvSpPr/>
          <p:nvPr/>
        </p:nvSpPr>
        <p:spPr>
          <a:xfrm>
            <a:off x="850392" y="2084832"/>
            <a:ext cx="3392424" cy="2715768"/>
          </a:xfrm>
          <a:prstGeom prst="rect">
            <a:avLst/>
          </a:prstGeom>
          <a:noFill/>
          <a:ln/>
        </p:spPr>
        <p:txBody>
          <a:bodyPr wrap="square" lIns="254" tIns="254" rIns="254" bIns="254" rtlCol="0" anchor="t">
            <a:normAutofit/>
          </a:bodyPr>
          <a:lstStyle/>
          <a:p>
            <a:pPr indent="0" marL="0">
              <a:buNone/>
            </a:pPr>
            <a:r>
              <a:rPr lang="en-US" sz="2000" dirty="0">
                <a:solidFill>
                  <a:srgbClr val="111111"/>
                </a:solidFill>
                <a:latin typeface="Arial" pitchFamily="34" charset="0"/>
                <a:ea typeface="Arial" pitchFamily="34" charset="-122"/>
                <a:cs typeface="Arial" pitchFamily="34" charset="-120"/>
              </a:rPr>
              <a:t>telemetry, time-series, ghi nhanh</a:t>
            </a:r>
            <a:endParaRPr lang="en-US" sz="2000" dirty="0"/>
          </a:p>
        </p:txBody>
      </p:sp>
      <p:sp>
        <p:nvSpPr>
          <p:cNvPr id="9" name="Shape 6"/>
          <p:cNvSpPr/>
          <p:nvPr/>
        </p:nvSpPr>
        <p:spPr>
          <a:xfrm>
            <a:off x="4709160" y="1645920"/>
            <a:ext cx="3703320" cy="3246120"/>
          </a:xfrm>
          <a:prstGeom prst="roundRect">
            <a:avLst>
              <a:gd name="adj" fmla="val 1408"/>
            </a:avLst>
          </a:prstGeom>
          <a:solidFill>
            <a:srgbClr val="FFFFFF"/>
          </a:solidFill>
          <a:ln w="12700">
            <a:solidFill>
              <a:srgbClr val="DDDDDD"/>
            </a:solidFill>
            <a:prstDash val="solid"/>
          </a:ln>
        </p:spPr>
      </p:sp>
      <p:sp>
        <p:nvSpPr>
          <p:cNvPr id="10" name="Shape 7"/>
          <p:cNvSpPr/>
          <p:nvPr/>
        </p:nvSpPr>
        <p:spPr>
          <a:xfrm>
            <a:off x="4709160" y="1645920"/>
            <a:ext cx="64008" cy="3246120"/>
          </a:xfrm>
          <a:prstGeom prst="rect">
            <a:avLst/>
          </a:prstGeom>
          <a:solidFill>
            <a:srgbClr val="C8102E"/>
          </a:solidFill>
          <a:ln w="12700">
            <a:solidFill>
              <a:srgbClr val="C8102E"/>
            </a:solidFill>
            <a:prstDash val="solid"/>
          </a:ln>
        </p:spPr>
      </p:sp>
      <p:sp>
        <p:nvSpPr>
          <p:cNvPr id="11" name="Text 8"/>
          <p:cNvSpPr/>
          <p:nvPr/>
        </p:nvSpPr>
        <p:spPr>
          <a:xfrm>
            <a:off x="4873752" y="1755648"/>
            <a:ext cx="3392424" cy="228600"/>
          </a:xfrm>
          <a:prstGeom prst="rect">
            <a:avLst/>
          </a:prstGeom>
          <a:noFill/>
          <a:ln/>
        </p:spPr>
        <p:txBody>
          <a:bodyPr wrap="square" lIns="0" tIns="0" rIns="0" bIns="0" rtlCol="0" anchor="ctr">
            <a:normAutofit/>
          </a:bodyPr>
          <a:lstStyle/>
          <a:p>
            <a:pPr indent="0" marL="0">
              <a:buNone/>
            </a:pPr>
            <a:r>
              <a:rPr lang="en-US" sz="2400" b="1" dirty="0">
                <a:solidFill>
                  <a:srgbClr val="111111"/>
                </a:solidFill>
                <a:latin typeface="Arial" pitchFamily="34" charset="0"/>
                <a:ea typeface="Arial" pitchFamily="34" charset="-122"/>
                <a:cs typeface="Arial" pitchFamily="34" charset="-120"/>
              </a:rPr>
              <a:t>SQL</a:t>
            </a:r>
            <a:endParaRPr lang="en-US" sz="2400" dirty="0"/>
          </a:p>
        </p:txBody>
      </p:sp>
      <p:sp>
        <p:nvSpPr>
          <p:cNvPr id="12" name="Text 9"/>
          <p:cNvSpPr/>
          <p:nvPr/>
        </p:nvSpPr>
        <p:spPr>
          <a:xfrm>
            <a:off x="4873752" y="2084832"/>
            <a:ext cx="3392424" cy="2715768"/>
          </a:xfrm>
          <a:prstGeom prst="rect">
            <a:avLst/>
          </a:prstGeom>
          <a:noFill/>
          <a:ln/>
        </p:spPr>
        <p:txBody>
          <a:bodyPr wrap="square" lIns="254" tIns="254" rIns="254" bIns="254" rtlCol="0" anchor="t">
            <a:normAutofit/>
          </a:bodyPr>
          <a:lstStyle/>
          <a:p>
            <a:pPr indent="0" marL="0">
              <a:buNone/>
            </a:pPr>
            <a:r>
              <a:rPr lang="en-US" sz="2000" dirty="0">
                <a:solidFill>
                  <a:srgbClr val="111111"/>
                </a:solidFill>
                <a:latin typeface="Arial" pitchFamily="34" charset="0"/>
                <a:ea typeface="Arial" pitchFamily="34" charset="-122"/>
                <a:cs typeface="Arial" pitchFamily="34" charset="-120"/>
              </a:rPr>
              <a:t>cấu hình/quản trị, ràng buộc quan hệ</a:t>
            </a:r>
            <a:endParaRPr lang="en-US" sz="2000" dirty="0"/>
          </a:p>
        </p:txBody>
      </p:sp>
      <p:sp>
        <p:nvSpPr>
          <p:cNvPr id="13" name="Text 10"/>
          <p:cNvSpPr/>
          <p:nvPr/>
        </p:nvSpPr>
        <p:spPr>
          <a:xfrm>
            <a:off x="868680" y="5422392"/>
            <a:ext cx="164592" cy="274320"/>
          </a:xfrm>
          <a:prstGeom prst="rect">
            <a:avLst/>
          </a:prstGeom>
          <a:noFill/>
          <a:ln/>
        </p:spPr>
        <p:txBody>
          <a:bodyPr wrap="square" lIns="0" tIns="0" rIns="0" bIns="0" rtlCol="0" anchor="ctr"/>
          <a:lstStyle/>
          <a:p>
            <a:pPr indent="0" marL="0">
              <a:buNone/>
            </a:pPr>
            <a:r>
              <a:rPr lang="en-US" sz="1850" b="1" dirty="0">
                <a:solidFill>
                  <a:srgbClr val="C8102E"/>
                </a:solidFill>
                <a:latin typeface="Arial" pitchFamily="34" charset="0"/>
                <a:ea typeface="Arial" pitchFamily="34" charset="-122"/>
                <a:cs typeface="Arial" pitchFamily="34" charset="-120"/>
              </a:rPr>
              <a:t>•</a:t>
            </a:r>
            <a:endParaRPr lang="en-US" sz="1850" dirty="0"/>
          </a:p>
        </p:txBody>
      </p:sp>
      <p:sp>
        <p:nvSpPr>
          <p:cNvPr id="14" name="Text 11"/>
          <p:cNvSpPr/>
          <p:nvPr/>
        </p:nvSpPr>
        <p:spPr>
          <a:xfrm>
            <a:off x="1097280" y="5440680"/>
            <a:ext cx="7498080" cy="329184"/>
          </a:xfrm>
          <a:prstGeom prst="rect">
            <a:avLst/>
          </a:prstGeom>
          <a:noFill/>
          <a:ln/>
        </p:spPr>
        <p:txBody>
          <a:bodyPr wrap="square" lIns="0" tIns="0" rIns="0" bIns="0" rtlCol="0" anchor="ctr">
            <a:normAutofit/>
          </a:bodyPr>
          <a:lstStyle/>
          <a:p>
            <a:pPr indent="0" marL="0">
              <a:buNone/>
            </a:pPr>
            <a:r>
              <a:rPr lang="en-US" sz="1850" dirty="0">
                <a:solidFill>
                  <a:srgbClr val="111111"/>
                </a:solidFill>
                <a:latin typeface="Arial" pitchFamily="34" charset="0"/>
                <a:ea typeface="Arial" pitchFamily="34" charset="-122"/>
                <a:cs typeface="Arial" pitchFamily="34" charset="-120"/>
              </a:rPr>
              <a:t>Trade-off: vận hành phức tạp hơn nhưng tối ưu theo bản chất dữ liệu</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midterm_media/ppt/media/image6.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Cấu trúc dự án</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6</a:t>
            </a:r>
            <a:endParaRPr lang="en-US" sz="1200" dirty="0"/>
          </a:p>
        </p:txBody>
      </p:sp>
      <p:sp>
        <p:nvSpPr>
          <p:cNvPr id="5" name="Shape 2"/>
          <p:cNvSpPr/>
          <p:nvPr/>
        </p:nvSpPr>
        <p:spPr>
          <a:xfrm>
            <a:off x="566928" y="1143000"/>
            <a:ext cx="3886200" cy="4800600"/>
          </a:xfrm>
          <a:prstGeom prst="roundRect">
            <a:avLst>
              <a:gd name="adj" fmla="val 706"/>
            </a:avLst>
          </a:prstGeom>
          <a:solidFill>
            <a:srgbClr val="F4F4F4"/>
          </a:solidFill>
          <a:ln w="12700">
            <a:solidFill>
              <a:srgbClr val="D9D9D9"/>
            </a:solidFill>
            <a:prstDash val="solid"/>
          </a:ln>
        </p:spPr>
      </p:sp>
      <p:sp>
        <p:nvSpPr>
          <p:cNvPr id="6" name="Text 3"/>
          <p:cNvSpPr/>
          <p:nvPr/>
        </p:nvSpPr>
        <p:spPr>
          <a:xfrm>
            <a:off x="658368" y="1234440"/>
            <a:ext cx="3703320" cy="4663440"/>
          </a:xfrm>
          <a:prstGeom prst="rect">
            <a:avLst/>
          </a:prstGeom>
          <a:noFill/>
          <a:ln/>
        </p:spPr>
        <p:txBody>
          <a:bodyPr wrap="square" lIns="0" tIns="0" rIns="0" bIns="0" rtlCol="0" anchor="ctr">
            <a:normAutofit/>
          </a:bodyPr>
          <a:lstStyle/>
          <a:p>
            <a:pPr indent="0" marL="0">
              <a:buNone/>
            </a:pPr>
            <a:r>
              <a:rPr lang="en-US" sz="1320" dirty="0">
                <a:solidFill>
                  <a:srgbClr val="111111"/>
                </a:solidFill>
                <a:latin typeface="Courier New" pitchFamily="34" charset="0"/>
                <a:ea typeface="Courier New" pitchFamily="34" charset="-122"/>
                <a:cs typeface="Courier New" pitchFamily="34" charset="-120"/>
              </a:rPr>
              <a:t>public/</a:t>
            </a:r>
            <a:endParaRPr lang="en-US" sz="1320" dirty="0"/>
          </a:p>
          <a:p>
            <a:pPr indent="0" marL="0">
              <a:buNone/>
            </a:pPr>
            <a:r>
              <a:rPr lang="en-US" sz="1320" dirty="0">
                <a:solidFill>
                  <a:srgbClr val="111111"/>
                </a:solidFill>
                <a:latin typeface="Courier New" pitchFamily="34" charset="0"/>
                <a:ea typeface="Courier New" pitchFamily="34" charset="-122"/>
                <a:cs typeface="Courier New" pitchFamily="34" charset="-120"/>
              </a:rPr>
              <a:t>  index.html, report.js, styles.css</a:t>
            </a:r>
            <a:endParaRPr lang="en-US" sz="1320" dirty="0"/>
          </a:p>
          <a:p>
            <a:pPr indent="0" marL="0">
              <a:buNone/>
            </a:pPr>
            <a:endParaRPr lang="en-US" sz="1320" dirty="0"/>
          </a:p>
          <a:p>
            <a:pPr indent="0" marL="0">
              <a:buNone/>
            </a:pPr>
            <a:r>
              <a:rPr lang="en-US" sz="1320" dirty="0">
                <a:solidFill>
                  <a:srgbClr val="111111"/>
                </a:solidFill>
                <a:latin typeface="Courier New" pitchFamily="34" charset="0"/>
                <a:ea typeface="Courier New" pitchFamily="34" charset="-122"/>
                <a:cs typeface="Courier New" pitchFamily="34" charset="-120"/>
              </a:rPr>
              <a:t>src/</a:t>
            </a:r>
            <a:endParaRPr lang="en-US" sz="1320" dirty="0"/>
          </a:p>
          <a:p>
            <a:pPr indent="0" marL="0">
              <a:buNone/>
            </a:pPr>
            <a:r>
              <a:rPr lang="en-US" sz="1320" dirty="0">
                <a:solidFill>
                  <a:srgbClr val="111111"/>
                </a:solidFill>
                <a:latin typeface="Courier New" pitchFamily="34" charset="0"/>
                <a:ea typeface="Courier New" pitchFamily="34" charset="-122"/>
                <a:cs typeface="Courier New" pitchFamily="34" charset="-120"/>
              </a:rPr>
              <a:t>  server.js, config.js, db.js</a:t>
            </a:r>
            <a:endParaRPr lang="en-US" sz="1320" dirty="0"/>
          </a:p>
          <a:p>
            <a:pPr indent="0" marL="0">
              <a:buNone/>
            </a:pPr>
            <a:r>
              <a:rPr lang="en-US" sz="1320" dirty="0">
                <a:solidFill>
                  <a:srgbClr val="111111"/>
                </a:solidFill>
                <a:latin typeface="Courier New" pitchFamily="34" charset="0"/>
                <a:ea typeface="Courier New" pitchFamily="34" charset="-122"/>
                <a:cs typeface="Courier New" pitchFamily="34" charset="-120"/>
              </a:rPr>
              <a:t>  routes/enose.js</a:t>
            </a:r>
            <a:endParaRPr lang="en-US" sz="1320" dirty="0"/>
          </a:p>
          <a:p>
            <a:pPr indent="0" marL="0">
              <a:buNone/>
            </a:pPr>
            <a:r>
              <a:rPr lang="en-US" sz="1320" dirty="0">
                <a:solidFill>
                  <a:srgbClr val="111111"/>
                </a:solidFill>
                <a:latin typeface="Courier New" pitchFamily="34" charset="0"/>
                <a:ea typeface="Courier New" pitchFamily="34" charset="-122"/>
                <a:cs typeface="Courier New" pitchFamily="34" charset="-120"/>
              </a:rPr>
              <a:t>  services/mqttBridge.js</a:t>
            </a:r>
            <a:endParaRPr lang="en-US" sz="1320" dirty="0"/>
          </a:p>
          <a:p>
            <a:pPr indent="0" marL="0">
              <a:buNone/>
            </a:pPr>
            <a:endParaRPr lang="en-US" sz="1320" dirty="0"/>
          </a:p>
          <a:p>
            <a:pPr indent="0" marL="0">
              <a:buNone/>
            </a:pPr>
            <a:r>
              <a:rPr lang="en-US" sz="1320" dirty="0">
                <a:solidFill>
                  <a:srgbClr val="111111"/>
                </a:solidFill>
                <a:latin typeface="Courier New" pitchFamily="34" charset="0"/>
                <a:ea typeface="Courier New" pitchFamily="34" charset="-122"/>
                <a:cs typeface="Courier New" pitchFamily="34" charset="-120"/>
              </a:rPr>
              <a:t>scripts/</a:t>
            </a:r>
            <a:endParaRPr lang="en-US" sz="1320" dirty="0"/>
          </a:p>
          <a:p>
            <a:pPr indent="0" marL="0">
              <a:buNone/>
            </a:pPr>
            <a:r>
              <a:rPr lang="en-US" sz="1320" dirty="0">
                <a:solidFill>
                  <a:srgbClr val="111111"/>
                </a:solidFill>
                <a:latin typeface="Courier New" pitchFamily="34" charset="0"/>
                <a:ea typeface="Courier New" pitchFamily="34" charset="-122"/>
                <a:cs typeface="Courier New" pitchFamily="34" charset="-120"/>
              </a:rPr>
              <a:t>  init schema, check data, export docx</a:t>
            </a:r>
            <a:endParaRPr lang="en-US" sz="1320" dirty="0"/>
          </a:p>
          <a:p>
            <a:pPr indent="0" marL="0">
              <a:buNone/>
            </a:pPr>
            <a:endParaRPr lang="en-US" sz="1320" dirty="0"/>
          </a:p>
          <a:p>
            <a:pPr indent="0" marL="0">
              <a:buNone/>
            </a:pPr>
            <a:r>
              <a:rPr lang="en-US" sz="1320" dirty="0">
                <a:solidFill>
                  <a:srgbClr val="111111"/>
                </a:solidFill>
                <a:latin typeface="Courier New" pitchFamily="34" charset="0"/>
                <a:ea typeface="Courier New" pitchFamily="34" charset="-122"/>
                <a:cs typeface="Courier New" pitchFamily="34" charset="-120"/>
              </a:rPr>
              <a:t>README.md, .env.example, package.json</a:t>
            </a:r>
            <a:endParaRPr lang="en-US" sz="1320" dirty="0"/>
          </a:p>
        </p:txBody>
      </p:sp>
      <p:sp>
        <p:nvSpPr>
          <p:cNvPr id="7" name="Shape 4"/>
          <p:cNvSpPr/>
          <p:nvPr/>
        </p:nvSpPr>
        <p:spPr>
          <a:xfrm>
            <a:off x="4800600" y="1234440"/>
            <a:ext cx="3794760" cy="868680"/>
          </a:xfrm>
          <a:prstGeom prst="roundRect">
            <a:avLst>
              <a:gd name="adj" fmla="val 5263"/>
            </a:avLst>
          </a:prstGeom>
          <a:solidFill>
            <a:srgbClr val="FFFFFF"/>
          </a:solidFill>
          <a:ln w="12700">
            <a:solidFill>
              <a:srgbClr val="DDDDDD"/>
            </a:solidFill>
            <a:prstDash val="solid"/>
          </a:ln>
        </p:spPr>
      </p:sp>
      <p:sp>
        <p:nvSpPr>
          <p:cNvPr id="8" name="Shape 5"/>
          <p:cNvSpPr/>
          <p:nvPr/>
        </p:nvSpPr>
        <p:spPr>
          <a:xfrm>
            <a:off x="4800600" y="1234440"/>
            <a:ext cx="64008" cy="868680"/>
          </a:xfrm>
          <a:prstGeom prst="rect">
            <a:avLst/>
          </a:prstGeom>
          <a:solidFill>
            <a:srgbClr val="C8102E"/>
          </a:solidFill>
          <a:ln w="12700">
            <a:solidFill>
              <a:srgbClr val="C8102E"/>
            </a:solidFill>
            <a:prstDash val="solid"/>
          </a:ln>
        </p:spPr>
      </p:sp>
      <p:sp>
        <p:nvSpPr>
          <p:cNvPr id="9" name="Text 6"/>
          <p:cNvSpPr/>
          <p:nvPr/>
        </p:nvSpPr>
        <p:spPr>
          <a:xfrm>
            <a:off x="4965192" y="1344168"/>
            <a:ext cx="3483864" cy="228600"/>
          </a:xfrm>
          <a:prstGeom prst="rect">
            <a:avLst/>
          </a:prstGeom>
          <a:noFill/>
          <a:ln/>
        </p:spPr>
        <p:txBody>
          <a:bodyPr wrap="square" lIns="0" tIns="0" rIns="0" bIns="0" rtlCol="0" anchor="ctr">
            <a:normAutofit/>
          </a:bodyPr>
          <a:lstStyle/>
          <a:p>
            <a:pPr indent="0" marL="0">
              <a:buNone/>
            </a:pPr>
            <a:r>
              <a:rPr lang="en-US" sz="1600" b="1" dirty="0">
                <a:solidFill>
                  <a:srgbClr val="111111"/>
                </a:solidFill>
                <a:latin typeface="Arial" pitchFamily="34" charset="0"/>
                <a:ea typeface="Arial" pitchFamily="34" charset="-122"/>
                <a:cs typeface="Arial" pitchFamily="34" charset="-120"/>
              </a:rPr>
              <a:t>public/</a:t>
            </a:r>
            <a:endParaRPr lang="en-US" sz="1600" dirty="0"/>
          </a:p>
        </p:txBody>
      </p:sp>
      <p:sp>
        <p:nvSpPr>
          <p:cNvPr id="10" name="Text 7"/>
          <p:cNvSpPr/>
          <p:nvPr/>
        </p:nvSpPr>
        <p:spPr>
          <a:xfrm>
            <a:off x="4965192" y="1673352"/>
            <a:ext cx="3483864" cy="338328"/>
          </a:xfrm>
          <a:prstGeom prst="rect">
            <a:avLst/>
          </a:prstGeom>
          <a:noFill/>
          <a:ln/>
        </p:spPr>
        <p:txBody>
          <a:bodyPr wrap="square" lIns="254" tIns="254" rIns="254" bIns="254" rtlCol="0" anchor="t">
            <a:normAutofit/>
          </a:bodyPr>
          <a:lstStyle/>
          <a:p>
            <a:pPr indent="0" marL="0">
              <a:buNone/>
            </a:pPr>
            <a:r>
              <a:rPr lang="en-US" sz="1250" dirty="0">
                <a:solidFill>
                  <a:srgbClr val="111111"/>
                </a:solidFill>
                <a:latin typeface="Arial" pitchFamily="34" charset="0"/>
                <a:ea typeface="Arial" pitchFamily="34" charset="-122"/>
                <a:cs typeface="Arial" pitchFamily="34" charset="-120"/>
              </a:rPr>
              <a:t>UI (`index.html`, `report.js`, `styles.css`)</a:t>
            </a:r>
            <a:endParaRPr lang="en-US" sz="1250" dirty="0"/>
          </a:p>
        </p:txBody>
      </p:sp>
      <p:sp>
        <p:nvSpPr>
          <p:cNvPr id="11" name="Shape 8"/>
          <p:cNvSpPr/>
          <p:nvPr/>
        </p:nvSpPr>
        <p:spPr>
          <a:xfrm>
            <a:off x="4800600" y="2350008"/>
            <a:ext cx="3794760" cy="868680"/>
          </a:xfrm>
          <a:prstGeom prst="roundRect">
            <a:avLst>
              <a:gd name="adj" fmla="val 5263"/>
            </a:avLst>
          </a:prstGeom>
          <a:solidFill>
            <a:srgbClr val="FFFFFF"/>
          </a:solidFill>
          <a:ln w="12700">
            <a:solidFill>
              <a:srgbClr val="DDDDDD"/>
            </a:solidFill>
            <a:prstDash val="solid"/>
          </a:ln>
        </p:spPr>
      </p:sp>
      <p:sp>
        <p:nvSpPr>
          <p:cNvPr id="12" name="Shape 9"/>
          <p:cNvSpPr/>
          <p:nvPr/>
        </p:nvSpPr>
        <p:spPr>
          <a:xfrm>
            <a:off x="4800600" y="2350008"/>
            <a:ext cx="64008" cy="868680"/>
          </a:xfrm>
          <a:prstGeom prst="rect">
            <a:avLst/>
          </a:prstGeom>
          <a:solidFill>
            <a:srgbClr val="C8102E"/>
          </a:solidFill>
          <a:ln w="12700">
            <a:solidFill>
              <a:srgbClr val="C8102E"/>
            </a:solidFill>
            <a:prstDash val="solid"/>
          </a:ln>
        </p:spPr>
      </p:sp>
      <p:sp>
        <p:nvSpPr>
          <p:cNvPr id="13" name="Text 10"/>
          <p:cNvSpPr/>
          <p:nvPr/>
        </p:nvSpPr>
        <p:spPr>
          <a:xfrm>
            <a:off x="4965192" y="2459736"/>
            <a:ext cx="3483864" cy="228600"/>
          </a:xfrm>
          <a:prstGeom prst="rect">
            <a:avLst/>
          </a:prstGeom>
          <a:noFill/>
          <a:ln/>
        </p:spPr>
        <p:txBody>
          <a:bodyPr wrap="square" lIns="0" tIns="0" rIns="0" bIns="0" rtlCol="0" anchor="ctr">
            <a:normAutofit/>
          </a:bodyPr>
          <a:lstStyle/>
          <a:p>
            <a:pPr indent="0" marL="0">
              <a:buNone/>
            </a:pPr>
            <a:r>
              <a:rPr lang="en-US" sz="1600" b="1" dirty="0">
                <a:solidFill>
                  <a:srgbClr val="111111"/>
                </a:solidFill>
                <a:latin typeface="Arial" pitchFamily="34" charset="0"/>
                <a:ea typeface="Arial" pitchFamily="34" charset="-122"/>
                <a:cs typeface="Arial" pitchFamily="34" charset="-120"/>
              </a:rPr>
              <a:t>src/</a:t>
            </a:r>
            <a:endParaRPr lang="en-US" sz="1600" dirty="0"/>
          </a:p>
        </p:txBody>
      </p:sp>
      <p:sp>
        <p:nvSpPr>
          <p:cNvPr id="14" name="Text 11"/>
          <p:cNvSpPr/>
          <p:nvPr/>
        </p:nvSpPr>
        <p:spPr>
          <a:xfrm>
            <a:off x="4965192" y="2788920"/>
            <a:ext cx="3483864" cy="338328"/>
          </a:xfrm>
          <a:prstGeom prst="rect">
            <a:avLst/>
          </a:prstGeom>
          <a:noFill/>
          <a:ln/>
        </p:spPr>
        <p:txBody>
          <a:bodyPr wrap="square" lIns="254" tIns="254" rIns="254" bIns="254" rtlCol="0" anchor="t">
            <a:normAutofit/>
          </a:bodyPr>
          <a:lstStyle/>
          <a:p>
            <a:pPr indent="0" marL="0">
              <a:buNone/>
            </a:pPr>
            <a:r>
              <a:rPr lang="en-US" sz="1250" dirty="0">
                <a:solidFill>
                  <a:srgbClr val="111111"/>
                </a:solidFill>
                <a:latin typeface="Arial" pitchFamily="34" charset="0"/>
                <a:ea typeface="Arial" pitchFamily="34" charset="-122"/>
                <a:cs typeface="Arial" pitchFamily="34" charset="-120"/>
              </a:rPr>
              <a:t>backend (`server.js`, `config.js`, `db.js`, `routes/enose.js`, `services/mqttBridge.js`)</a:t>
            </a:r>
            <a:endParaRPr lang="en-US" sz="1250" dirty="0"/>
          </a:p>
        </p:txBody>
      </p:sp>
      <p:sp>
        <p:nvSpPr>
          <p:cNvPr id="15" name="Shape 12"/>
          <p:cNvSpPr/>
          <p:nvPr/>
        </p:nvSpPr>
        <p:spPr>
          <a:xfrm>
            <a:off x="4800600" y="3465576"/>
            <a:ext cx="3794760" cy="868680"/>
          </a:xfrm>
          <a:prstGeom prst="roundRect">
            <a:avLst>
              <a:gd name="adj" fmla="val 5263"/>
            </a:avLst>
          </a:prstGeom>
          <a:solidFill>
            <a:srgbClr val="FFFFFF"/>
          </a:solidFill>
          <a:ln w="12700">
            <a:solidFill>
              <a:srgbClr val="DDDDDD"/>
            </a:solidFill>
            <a:prstDash val="solid"/>
          </a:ln>
        </p:spPr>
      </p:sp>
      <p:sp>
        <p:nvSpPr>
          <p:cNvPr id="16" name="Shape 13"/>
          <p:cNvSpPr/>
          <p:nvPr/>
        </p:nvSpPr>
        <p:spPr>
          <a:xfrm>
            <a:off x="4800600" y="3465576"/>
            <a:ext cx="64008" cy="868680"/>
          </a:xfrm>
          <a:prstGeom prst="rect">
            <a:avLst/>
          </a:prstGeom>
          <a:solidFill>
            <a:srgbClr val="C8102E"/>
          </a:solidFill>
          <a:ln w="12700">
            <a:solidFill>
              <a:srgbClr val="C8102E"/>
            </a:solidFill>
            <a:prstDash val="solid"/>
          </a:ln>
        </p:spPr>
      </p:sp>
      <p:sp>
        <p:nvSpPr>
          <p:cNvPr id="17" name="Text 14"/>
          <p:cNvSpPr/>
          <p:nvPr/>
        </p:nvSpPr>
        <p:spPr>
          <a:xfrm>
            <a:off x="4965192" y="3575304"/>
            <a:ext cx="3483864" cy="228600"/>
          </a:xfrm>
          <a:prstGeom prst="rect">
            <a:avLst/>
          </a:prstGeom>
          <a:noFill/>
          <a:ln/>
        </p:spPr>
        <p:txBody>
          <a:bodyPr wrap="square" lIns="0" tIns="0" rIns="0" bIns="0" rtlCol="0" anchor="ctr">
            <a:normAutofit/>
          </a:bodyPr>
          <a:lstStyle/>
          <a:p>
            <a:pPr indent="0" marL="0">
              <a:buNone/>
            </a:pPr>
            <a:r>
              <a:rPr lang="en-US" sz="1600" b="1" dirty="0">
                <a:solidFill>
                  <a:srgbClr val="111111"/>
                </a:solidFill>
                <a:latin typeface="Arial" pitchFamily="34" charset="0"/>
                <a:ea typeface="Arial" pitchFamily="34" charset="-122"/>
                <a:cs typeface="Arial" pitchFamily="34" charset="-120"/>
              </a:rPr>
              <a:t>scripts/</a:t>
            </a:r>
            <a:endParaRPr lang="en-US" sz="1600" dirty="0"/>
          </a:p>
        </p:txBody>
      </p:sp>
      <p:sp>
        <p:nvSpPr>
          <p:cNvPr id="18" name="Text 15"/>
          <p:cNvSpPr/>
          <p:nvPr/>
        </p:nvSpPr>
        <p:spPr>
          <a:xfrm>
            <a:off x="4965192" y="3904488"/>
            <a:ext cx="3483864" cy="338328"/>
          </a:xfrm>
          <a:prstGeom prst="rect">
            <a:avLst/>
          </a:prstGeom>
          <a:noFill/>
          <a:ln/>
        </p:spPr>
        <p:txBody>
          <a:bodyPr wrap="square" lIns="254" tIns="254" rIns="254" bIns="254" rtlCol="0" anchor="t">
            <a:normAutofit/>
          </a:bodyPr>
          <a:lstStyle/>
          <a:p>
            <a:pPr indent="0" marL="0">
              <a:buNone/>
            </a:pPr>
            <a:r>
              <a:rPr lang="en-US" sz="1250" dirty="0">
                <a:solidFill>
                  <a:srgbClr val="111111"/>
                </a:solidFill>
                <a:latin typeface="Arial" pitchFamily="34" charset="0"/>
                <a:ea typeface="Arial" pitchFamily="34" charset="-122"/>
                <a:cs typeface="Arial" pitchFamily="34" charset="-120"/>
              </a:rPr>
              <a:t>init schema, kiểm tra dữ liệu, export docx</a:t>
            </a:r>
            <a:endParaRPr lang="en-US" sz="1250" dirty="0"/>
          </a:p>
        </p:txBody>
      </p:sp>
      <p:sp>
        <p:nvSpPr>
          <p:cNvPr id="19" name="Shape 16"/>
          <p:cNvSpPr/>
          <p:nvPr/>
        </p:nvSpPr>
        <p:spPr>
          <a:xfrm>
            <a:off x="4800600" y="4581144"/>
            <a:ext cx="3794760" cy="868680"/>
          </a:xfrm>
          <a:prstGeom prst="roundRect">
            <a:avLst>
              <a:gd name="adj" fmla="val 5263"/>
            </a:avLst>
          </a:prstGeom>
          <a:solidFill>
            <a:srgbClr val="FFFFFF"/>
          </a:solidFill>
          <a:ln w="12700">
            <a:solidFill>
              <a:srgbClr val="DDDDDD"/>
            </a:solidFill>
            <a:prstDash val="solid"/>
          </a:ln>
        </p:spPr>
      </p:sp>
      <p:sp>
        <p:nvSpPr>
          <p:cNvPr id="20" name="Shape 17"/>
          <p:cNvSpPr/>
          <p:nvPr/>
        </p:nvSpPr>
        <p:spPr>
          <a:xfrm>
            <a:off x="4800600" y="4581144"/>
            <a:ext cx="64008" cy="868680"/>
          </a:xfrm>
          <a:prstGeom prst="rect">
            <a:avLst/>
          </a:prstGeom>
          <a:solidFill>
            <a:srgbClr val="C8102E"/>
          </a:solidFill>
          <a:ln w="12700">
            <a:solidFill>
              <a:srgbClr val="C8102E"/>
            </a:solidFill>
            <a:prstDash val="solid"/>
          </a:ln>
        </p:spPr>
      </p:sp>
      <p:sp>
        <p:nvSpPr>
          <p:cNvPr id="21" name="Text 18"/>
          <p:cNvSpPr/>
          <p:nvPr/>
        </p:nvSpPr>
        <p:spPr>
          <a:xfrm>
            <a:off x="4965192" y="4690872"/>
            <a:ext cx="3483864" cy="228600"/>
          </a:xfrm>
          <a:prstGeom prst="rect">
            <a:avLst/>
          </a:prstGeom>
          <a:noFill/>
          <a:ln/>
        </p:spPr>
        <p:txBody>
          <a:bodyPr wrap="square" lIns="0" tIns="0" rIns="0" bIns="0" rtlCol="0" anchor="ctr">
            <a:normAutofit/>
          </a:bodyPr>
          <a:lstStyle/>
          <a:p>
            <a:pPr indent="0" marL="0">
              <a:buNone/>
            </a:pPr>
            <a:r>
              <a:rPr lang="en-US" sz="1600" b="1" dirty="0">
                <a:solidFill>
                  <a:srgbClr val="111111"/>
                </a:solidFill>
                <a:latin typeface="Arial" pitchFamily="34" charset="0"/>
                <a:ea typeface="Arial" pitchFamily="34" charset="-122"/>
                <a:cs typeface="Arial" pitchFamily="34" charset="-120"/>
              </a:rPr>
              <a:t>config</a:t>
            </a:r>
            <a:endParaRPr lang="en-US" sz="1600" dirty="0"/>
          </a:p>
        </p:txBody>
      </p:sp>
      <p:sp>
        <p:nvSpPr>
          <p:cNvPr id="22" name="Text 19"/>
          <p:cNvSpPr/>
          <p:nvPr/>
        </p:nvSpPr>
        <p:spPr>
          <a:xfrm>
            <a:off x="4965192" y="5020056"/>
            <a:ext cx="3483864" cy="338328"/>
          </a:xfrm>
          <a:prstGeom prst="rect">
            <a:avLst/>
          </a:prstGeom>
          <a:noFill/>
          <a:ln/>
        </p:spPr>
        <p:txBody>
          <a:bodyPr wrap="square" lIns="254" tIns="254" rIns="254" bIns="254" rtlCol="0" anchor="t">
            <a:normAutofit/>
          </a:bodyPr>
          <a:lstStyle/>
          <a:p>
            <a:pPr indent="0" marL="0">
              <a:buNone/>
            </a:pPr>
            <a:r>
              <a:rPr lang="en-US" sz="1250" dirty="0">
                <a:solidFill>
                  <a:srgbClr val="111111"/>
                </a:solidFill>
                <a:latin typeface="Arial" pitchFamily="34" charset="0"/>
                <a:ea typeface="Arial" pitchFamily="34" charset="-122"/>
                <a:cs typeface="Arial" pitchFamily="34" charset="-120"/>
              </a:rPr>
              <a:t>`README.md`, `.env.example`, `package.json`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midterm_media/ppt/media/image4.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Backend chính: server + config + db</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7</a:t>
            </a:r>
            <a:endParaRPr lang="en-US" sz="1200" dirty="0"/>
          </a:p>
        </p:txBody>
      </p:sp>
      <p:sp>
        <p:nvSpPr>
          <p:cNvPr id="5" name="Text 2"/>
          <p:cNvSpPr/>
          <p:nvPr/>
        </p:nvSpPr>
        <p:spPr>
          <a:xfrm>
            <a:off x="685800" y="139903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6" name="Text 3"/>
          <p:cNvSpPr/>
          <p:nvPr/>
        </p:nvSpPr>
        <p:spPr>
          <a:xfrm>
            <a:off x="914400" y="141732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`server.js`: khởi tạo Express, static, mount API</a:t>
            </a:r>
            <a:endParaRPr lang="en-US" sz="1900" dirty="0"/>
          </a:p>
        </p:txBody>
      </p:sp>
      <p:sp>
        <p:nvSpPr>
          <p:cNvPr id="7" name="Text 4"/>
          <p:cNvSpPr/>
          <p:nvPr/>
        </p:nvSpPr>
        <p:spPr>
          <a:xfrm>
            <a:off x="685800" y="2057400"/>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8" name="Text 5"/>
          <p:cNvSpPr/>
          <p:nvPr/>
        </p:nvSpPr>
        <p:spPr>
          <a:xfrm>
            <a:off x="914400" y="2075688"/>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`/config.json`: cấu hình công khai cho frontend</a:t>
            </a:r>
            <a:endParaRPr lang="en-US" sz="1900" dirty="0"/>
          </a:p>
        </p:txBody>
      </p:sp>
      <p:sp>
        <p:nvSpPr>
          <p:cNvPr id="9" name="Text 6"/>
          <p:cNvSpPr/>
          <p:nvPr/>
        </p:nvSpPr>
        <p:spPr>
          <a:xfrm>
            <a:off x="685800" y="2715768"/>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0" name="Text 7"/>
          <p:cNvSpPr/>
          <p:nvPr/>
        </p:nvSpPr>
        <p:spPr>
          <a:xfrm>
            <a:off x="914400" y="2734056"/>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`config.js`: đọc `.env`</a:t>
            </a:r>
            <a:endParaRPr lang="en-US" sz="1900" dirty="0"/>
          </a:p>
        </p:txBody>
      </p:sp>
      <p:sp>
        <p:nvSpPr>
          <p:cNvPr id="11" name="Text 8"/>
          <p:cNvSpPr/>
          <p:nvPr/>
        </p:nvSpPr>
        <p:spPr>
          <a:xfrm>
            <a:off x="685800" y="3374136"/>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2" name="Text 9"/>
          <p:cNvSpPr/>
          <p:nvPr/>
        </p:nvSpPr>
        <p:spPr>
          <a:xfrm>
            <a:off x="914400" y="3392424"/>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`db.js`: tạo kết nối SQL/Mongo + models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midterm_media/ppt/media/image5.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MQTT Bridge (trọng tâm kỹ thuật)</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8</a:t>
            </a:r>
            <a:endParaRPr lang="en-US" sz="1200" dirty="0"/>
          </a:p>
        </p:txBody>
      </p:sp>
      <p:sp>
        <p:nvSpPr>
          <p:cNvPr id="5" name="Text 2"/>
          <p:cNvSpPr/>
          <p:nvPr/>
        </p:nvSpPr>
        <p:spPr>
          <a:xfrm>
            <a:off x="685800" y="1335024"/>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6" name="Text 3"/>
          <p:cNvSpPr/>
          <p:nvPr/>
        </p:nvSpPr>
        <p:spPr>
          <a:xfrm>
            <a:off x="914400" y="1353312"/>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Subscribe `status/sensor/measurement`</a:t>
            </a:r>
            <a:endParaRPr lang="en-US" sz="1900" dirty="0"/>
          </a:p>
        </p:txBody>
      </p:sp>
      <p:sp>
        <p:nvSpPr>
          <p:cNvPr id="7" name="Text 4"/>
          <p:cNvSpPr/>
          <p:nvPr/>
        </p:nvSpPr>
        <p:spPr>
          <a:xfrm>
            <a:off x="685800" y="1929384"/>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8" name="Text 5"/>
          <p:cNvSpPr/>
          <p:nvPr/>
        </p:nvSpPr>
        <p:spPr>
          <a:xfrm>
            <a:off x="914400" y="1947672"/>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Chuẩn hóa topic/payload đa định dạng</a:t>
            </a:r>
            <a:endParaRPr lang="en-US" sz="1900" dirty="0"/>
          </a:p>
        </p:txBody>
      </p:sp>
      <p:sp>
        <p:nvSpPr>
          <p:cNvPr id="9" name="Text 6"/>
          <p:cNvSpPr/>
          <p:nvPr/>
        </p:nvSpPr>
        <p:spPr>
          <a:xfrm>
            <a:off x="685800" y="2523744"/>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0" name="Text 7"/>
          <p:cNvSpPr/>
          <p:nvPr/>
        </p:nvSpPr>
        <p:spPr>
          <a:xfrm>
            <a:off x="914400" y="2542032"/>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Map ADC -&gt; EtOH1..6, VOC1..2</a:t>
            </a:r>
            <a:endParaRPr lang="en-US" sz="1900" dirty="0"/>
          </a:p>
        </p:txBody>
      </p:sp>
      <p:sp>
        <p:nvSpPr>
          <p:cNvPr id="11" name="Text 8"/>
          <p:cNvSpPr/>
          <p:nvPr/>
        </p:nvSpPr>
        <p:spPr>
          <a:xfrm>
            <a:off x="685800" y="3118104"/>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2" name="Text 9"/>
          <p:cNvSpPr/>
          <p:nvPr/>
        </p:nvSpPr>
        <p:spPr>
          <a:xfrm>
            <a:off x="914400" y="3136392"/>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Upsert thiết bị + lưu telemetry</a:t>
            </a:r>
            <a:endParaRPr lang="en-US" sz="1900" dirty="0"/>
          </a:p>
        </p:txBody>
      </p:sp>
      <p:sp>
        <p:nvSpPr>
          <p:cNvPr id="13" name="Text 10"/>
          <p:cNvSpPr/>
          <p:nvPr/>
        </p:nvSpPr>
        <p:spPr>
          <a:xfrm>
            <a:off x="685800" y="3712464"/>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4" name="Text 11"/>
          <p:cNvSpPr/>
          <p:nvPr/>
        </p:nvSpPr>
        <p:spPr>
          <a:xfrm>
            <a:off x="914400" y="3730752"/>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Reconnect tự động</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midterm_media/ppt/media/image4.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REST API nghiệp vụ</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9</a:t>
            </a:r>
            <a:endParaRPr lang="en-US" sz="1200" dirty="0"/>
          </a:p>
        </p:txBody>
      </p:sp>
      <p:sp>
        <p:nvSpPr>
          <p:cNvPr id="5" name="Shape 2"/>
          <p:cNvSpPr/>
          <p:nvPr/>
        </p:nvSpPr>
        <p:spPr>
          <a:xfrm>
            <a:off x="594360" y="1600200"/>
            <a:ext cx="2542032" cy="3017520"/>
          </a:xfrm>
          <a:prstGeom prst="roundRect">
            <a:avLst>
              <a:gd name="adj" fmla="val 1799"/>
            </a:avLst>
          </a:prstGeom>
          <a:solidFill>
            <a:srgbClr val="FFFFFF"/>
          </a:solidFill>
          <a:ln w="12700">
            <a:solidFill>
              <a:srgbClr val="DDDDDD"/>
            </a:solidFill>
            <a:prstDash val="solid"/>
          </a:ln>
        </p:spPr>
      </p:sp>
      <p:sp>
        <p:nvSpPr>
          <p:cNvPr id="6" name="Shape 3"/>
          <p:cNvSpPr/>
          <p:nvPr/>
        </p:nvSpPr>
        <p:spPr>
          <a:xfrm>
            <a:off x="594360" y="1600200"/>
            <a:ext cx="64008" cy="3017520"/>
          </a:xfrm>
          <a:prstGeom prst="rect">
            <a:avLst/>
          </a:prstGeom>
          <a:solidFill>
            <a:srgbClr val="1F4E79"/>
          </a:solidFill>
          <a:ln w="12700">
            <a:solidFill>
              <a:srgbClr val="1F4E79"/>
            </a:solidFill>
            <a:prstDash val="solid"/>
          </a:ln>
        </p:spPr>
      </p:sp>
      <p:sp>
        <p:nvSpPr>
          <p:cNvPr id="7" name="Text 4"/>
          <p:cNvSpPr/>
          <p:nvPr/>
        </p:nvSpPr>
        <p:spPr>
          <a:xfrm>
            <a:off x="758952" y="1709928"/>
            <a:ext cx="2231136" cy="228600"/>
          </a:xfrm>
          <a:prstGeom prst="rect">
            <a:avLst/>
          </a:prstGeom>
          <a:noFill/>
          <a:ln/>
        </p:spPr>
        <p:txBody>
          <a:bodyPr wrap="square" lIns="0" tIns="0" rIns="0" bIns="0" rtlCol="0" anchor="ctr">
            <a:normAutofit/>
          </a:bodyPr>
          <a:lstStyle/>
          <a:p>
            <a:pPr indent="0" marL="0">
              <a:buNone/>
            </a:pPr>
            <a:r>
              <a:rPr lang="en-US" sz="2000" b="1" dirty="0">
                <a:solidFill>
                  <a:srgbClr val="111111"/>
                </a:solidFill>
                <a:latin typeface="Arial" pitchFamily="34" charset="0"/>
                <a:ea typeface="Arial" pitchFamily="34" charset="-122"/>
                <a:cs typeface="Arial" pitchFamily="34" charset="-120"/>
              </a:rPr>
              <a:t>Data API</a:t>
            </a:r>
            <a:endParaRPr lang="en-US" sz="2000" dirty="0"/>
          </a:p>
        </p:txBody>
      </p:sp>
      <p:sp>
        <p:nvSpPr>
          <p:cNvPr id="8" name="Text 5"/>
          <p:cNvSpPr/>
          <p:nvPr/>
        </p:nvSpPr>
        <p:spPr>
          <a:xfrm>
            <a:off x="758952" y="2039112"/>
            <a:ext cx="2231136" cy="2487168"/>
          </a:xfrm>
          <a:prstGeom prst="rect">
            <a:avLst/>
          </a:prstGeom>
          <a:noFill/>
          <a:ln/>
        </p:spPr>
        <p:txBody>
          <a:bodyPr wrap="square" lIns="254" tIns="254" rIns="254" bIns="254" rtlCol="0" anchor="t">
            <a:normAutofit/>
          </a:bodyPr>
          <a:lstStyle/>
          <a:p>
            <a:pPr indent="0" marL="0">
              <a:buNone/>
            </a:pPr>
            <a:r>
              <a:rPr lang="en-US" sz="1700" dirty="0">
                <a:solidFill>
                  <a:srgbClr val="111111"/>
                </a:solidFill>
                <a:latin typeface="Arial" pitchFamily="34" charset="0"/>
                <a:ea typeface="Arial" pitchFamily="34" charset="-122"/>
                <a:cs typeface="Arial" pitchFamily="34" charset="-120"/>
              </a:rPr>
              <a:t>devices</a:t>
            </a:r>
            <a:endParaRPr lang="en-US" sz="1700" dirty="0"/>
          </a:p>
          <a:p>
            <a:pPr indent="0" marL="0">
              <a:buNone/>
            </a:pPr>
            <a:r>
              <a:rPr lang="en-US" sz="1700" dirty="0">
                <a:solidFill>
                  <a:srgbClr val="111111"/>
                </a:solidFill>
                <a:latin typeface="Arial" pitchFamily="34" charset="0"/>
                <a:ea typeface="Arial" pitchFamily="34" charset="-122"/>
                <a:cs typeface="Arial" pitchFamily="34" charset="-120"/>
              </a:rPr>
              <a:t>latest</a:t>
            </a:r>
            <a:endParaRPr lang="en-US" sz="1700" dirty="0"/>
          </a:p>
          <a:p>
            <a:pPr indent="0" marL="0">
              <a:buNone/>
            </a:pPr>
            <a:r>
              <a:rPr lang="en-US" sz="1700" dirty="0">
                <a:solidFill>
                  <a:srgbClr val="111111"/>
                </a:solidFill>
                <a:latin typeface="Arial" pitchFamily="34" charset="0"/>
                <a:ea typeface="Arial" pitchFamily="34" charset="-122"/>
                <a:cs typeface="Arial" pitchFamily="34" charset="-120"/>
              </a:rPr>
              <a:t>status</a:t>
            </a:r>
            <a:endParaRPr lang="en-US" sz="1700" dirty="0"/>
          </a:p>
          <a:p>
            <a:pPr indent="0" marL="0">
              <a:buNone/>
            </a:pPr>
            <a:r>
              <a:rPr lang="en-US" sz="1700" dirty="0">
                <a:solidFill>
                  <a:srgbClr val="111111"/>
                </a:solidFill>
                <a:latin typeface="Arial" pitchFamily="34" charset="0"/>
                <a:ea typeface="Arial" pitchFamily="34" charset="-122"/>
                <a:cs typeface="Arial" pitchFamily="34" charset="-120"/>
              </a:rPr>
              <a:t>history</a:t>
            </a:r>
            <a:endParaRPr lang="en-US" sz="1700" dirty="0"/>
          </a:p>
          <a:p>
            <a:pPr indent="0" marL="0">
              <a:buNone/>
            </a:pPr>
            <a:r>
              <a:rPr lang="en-US" sz="1700" dirty="0">
                <a:solidFill>
                  <a:srgbClr val="111111"/>
                </a:solidFill>
                <a:latin typeface="Arial" pitchFamily="34" charset="0"/>
                <a:ea typeface="Arial" pitchFamily="34" charset="-122"/>
                <a:cs typeface="Arial" pitchFamily="34" charset="-120"/>
              </a:rPr>
              <a:t>measurements</a:t>
            </a:r>
            <a:endParaRPr lang="en-US" sz="1700" dirty="0"/>
          </a:p>
        </p:txBody>
      </p:sp>
      <p:sp>
        <p:nvSpPr>
          <p:cNvPr id="9" name="Shape 6"/>
          <p:cNvSpPr/>
          <p:nvPr/>
        </p:nvSpPr>
        <p:spPr>
          <a:xfrm>
            <a:off x="3310128" y="1600200"/>
            <a:ext cx="2542032" cy="3017520"/>
          </a:xfrm>
          <a:prstGeom prst="roundRect">
            <a:avLst>
              <a:gd name="adj" fmla="val 1799"/>
            </a:avLst>
          </a:prstGeom>
          <a:solidFill>
            <a:srgbClr val="FFFFFF"/>
          </a:solidFill>
          <a:ln w="12700">
            <a:solidFill>
              <a:srgbClr val="DDDDDD"/>
            </a:solidFill>
            <a:prstDash val="solid"/>
          </a:ln>
        </p:spPr>
      </p:sp>
      <p:sp>
        <p:nvSpPr>
          <p:cNvPr id="10" name="Shape 7"/>
          <p:cNvSpPr/>
          <p:nvPr/>
        </p:nvSpPr>
        <p:spPr>
          <a:xfrm>
            <a:off x="3310128" y="1600200"/>
            <a:ext cx="64008" cy="3017520"/>
          </a:xfrm>
          <a:prstGeom prst="rect">
            <a:avLst/>
          </a:prstGeom>
          <a:solidFill>
            <a:srgbClr val="C8102E"/>
          </a:solidFill>
          <a:ln w="12700">
            <a:solidFill>
              <a:srgbClr val="C8102E"/>
            </a:solidFill>
            <a:prstDash val="solid"/>
          </a:ln>
        </p:spPr>
      </p:sp>
      <p:sp>
        <p:nvSpPr>
          <p:cNvPr id="11" name="Text 8"/>
          <p:cNvSpPr/>
          <p:nvPr/>
        </p:nvSpPr>
        <p:spPr>
          <a:xfrm>
            <a:off x="3474720" y="1709928"/>
            <a:ext cx="2231136" cy="228600"/>
          </a:xfrm>
          <a:prstGeom prst="rect">
            <a:avLst/>
          </a:prstGeom>
          <a:noFill/>
          <a:ln/>
        </p:spPr>
        <p:txBody>
          <a:bodyPr wrap="square" lIns="0" tIns="0" rIns="0" bIns="0" rtlCol="0" anchor="ctr">
            <a:normAutofit/>
          </a:bodyPr>
          <a:lstStyle/>
          <a:p>
            <a:pPr indent="0" marL="0">
              <a:buNone/>
            </a:pPr>
            <a:r>
              <a:rPr lang="en-US" sz="2000" b="1" dirty="0">
                <a:solidFill>
                  <a:srgbClr val="111111"/>
                </a:solidFill>
                <a:latin typeface="Arial" pitchFamily="34" charset="0"/>
                <a:ea typeface="Arial" pitchFamily="34" charset="-122"/>
                <a:cs typeface="Arial" pitchFamily="34" charset="-120"/>
              </a:rPr>
              <a:t>Control API</a:t>
            </a:r>
            <a:endParaRPr lang="en-US" sz="2000" dirty="0"/>
          </a:p>
        </p:txBody>
      </p:sp>
      <p:sp>
        <p:nvSpPr>
          <p:cNvPr id="12" name="Text 9"/>
          <p:cNvSpPr/>
          <p:nvPr/>
        </p:nvSpPr>
        <p:spPr>
          <a:xfrm>
            <a:off x="3474720" y="2039112"/>
            <a:ext cx="2231136" cy="2487168"/>
          </a:xfrm>
          <a:prstGeom prst="rect">
            <a:avLst/>
          </a:prstGeom>
          <a:noFill/>
          <a:ln/>
        </p:spPr>
        <p:txBody>
          <a:bodyPr wrap="square" lIns="254" tIns="254" rIns="254" bIns="254" rtlCol="0" anchor="t">
            <a:normAutofit/>
          </a:bodyPr>
          <a:lstStyle/>
          <a:p>
            <a:pPr indent="0" marL="0">
              <a:buNone/>
            </a:pPr>
            <a:r>
              <a:rPr lang="en-US" sz="1700" dirty="0">
                <a:solidFill>
                  <a:srgbClr val="111111"/>
                </a:solidFill>
                <a:latin typeface="Arial" pitchFamily="34" charset="0"/>
                <a:ea typeface="Arial" pitchFamily="34" charset="-122"/>
                <a:cs typeface="Arial" pitchFamily="34" charset="-120"/>
              </a:rPr>
              <a:t>start</a:t>
            </a:r>
            <a:endParaRPr lang="en-US" sz="1700" dirty="0"/>
          </a:p>
          <a:p>
            <a:pPr indent="0" marL="0">
              <a:buNone/>
            </a:pPr>
            <a:r>
              <a:rPr lang="en-US" sz="1700" dirty="0">
                <a:solidFill>
                  <a:srgbClr val="111111"/>
                </a:solidFill>
                <a:latin typeface="Arial" pitchFamily="34" charset="0"/>
                <a:ea typeface="Arial" pitchFamily="34" charset="-122"/>
                <a:cs typeface="Arial" pitchFamily="34" charset="-120"/>
              </a:rPr>
              <a:t>stop</a:t>
            </a:r>
            <a:endParaRPr lang="en-US" sz="1700" dirty="0"/>
          </a:p>
          <a:p>
            <a:pPr indent="0" marL="0">
              <a:buNone/>
            </a:pPr>
            <a:r>
              <a:rPr lang="en-US" sz="1700" dirty="0">
                <a:solidFill>
                  <a:srgbClr val="111111"/>
                </a:solidFill>
                <a:latin typeface="Arial" pitchFamily="34" charset="0"/>
                <a:ea typeface="Arial" pitchFamily="34" charset="-122"/>
                <a:cs typeface="Arial" pitchFamily="34" charset="-120"/>
              </a:rPr>
              <a:t>heating</a:t>
            </a:r>
            <a:endParaRPr lang="en-US" sz="1700" dirty="0"/>
          </a:p>
          <a:p>
            <a:pPr indent="0" marL="0">
              <a:buNone/>
            </a:pPr>
            <a:r>
              <a:rPr lang="en-US" sz="1700" dirty="0">
                <a:solidFill>
                  <a:srgbClr val="111111"/>
                </a:solidFill>
                <a:latin typeface="Arial" pitchFamily="34" charset="0"/>
                <a:ea typeface="Arial" pitchFamily="34" charset="-122"/>
                <a:cs typeface="Arial" pitchFamily="34" charset="-120"/>
              </a:rPr>
              <a:t>air-pump</a:t>
            </a:r>
            <a:endParaRPr lang="en-US" sz="1700" dirty="0"/>
          </a:p>
        </p:txBody>
      </p:sp>
      <p:sp>
        <p:nvSpPr>
          <p:cNvPr id="13" name="Shape 10"/>
          <p:cNvSpPr/>
          <p:nvPr/>
        </p:nvSpPr>
        <p:spPr>
          <a:xfrm>
            <a:off x="6025896" y="1600200"/>
            <a:ext cx="2542032" cy="3017520"/>
          </a:xfrm>
          <a:prstGeom prst="roundRect">
            <a:avLst>
              <a:gd name="adj" fmla="val 1799"/>
            </a:avLst>
          </a:prstGeom>
          <a:solidFill>
            <a:srgbClr val="FFFFFF"/>
          </a:solidFill>
          <a:ln w="12700">
            <a:solidFill>
              <a:srgbClr val="DDDDDD"/>
            </a:solidFill>
            <a:prstDash val="solid"/>
          </a:ln>
        </p:spPr>
      </p:sp>
      <p:sp>
        <p:nvSpPr>
          <p:cNvPr id="14" name="Shape 11"/>
          <p:cNvSpPr/>
          <p:nvPr/>
        </p:nvSpPr>
        <p:spPr>
          <a:xfrm>
            <a:off x="6025896" y="1600200"/>
            <a:ext cx="64008" cy="3017520"/>
          </a:xfrm>
          <a:prstGeom prst="rect">
            <a:avLst/>
          </a:prstGeom>
          <a:solidFill>
            <a:srgbClr val="2E7D32"/>
          </a:solidFill>
          <a:ln w="12700">
            <a:solidFill>
              <a:srgbClr val="2E7D32"/>
            </a:solidFill>
            <a:prstDash val="solid"/>
          </a:ln>
        </p:spPr>
      </p:sp>
      <p:sp>
        <p:nvSpPr>
          <p:cNvPr id="15" name="Text 12"/>
          <p:cNvSpPr/>
          <p:nvPr/>
        </p:nvSpPr>
        <p:spPr>
          <a:xfrm>
            <a:off x="6190488" y="1709928"/>
            <a:ext cx="2231136" cy="228600"/>
          </a:xfrm>
          <a:prstGeom prst="rect">
            <a:avLst/>
          </a:prstGeom>
          <a:noFill/>
          <a:ln/>
        </p:spPr>
        <p:txBody>
          <a:bodyPr wrap="square" lIns="0" tIns="0" rIns="0" bIns="0" rtlCol="0" anchor="ctr">
            <a:normAutofit/>
          </a:bodyPr>
          <a:lstStyle/>
          <a:p>
            <a:pPr indent="0" marL="0">
              <a:buNone/>
            </a:pPr>
            <a:r>
              <a:rPr lang="en-US" sz="2000" b="1" dirty="0">
                <a:solidFill>
                  <a:srgbClr val="111111"/>
                </a:solidFill>
                <a:latin typeface="Arial" pitchFamily="34" charset="0"/>
                <a:ea typeface="Arial" pitchFamily="34" charset="-122"/>
                <a:cs typeface="Arial" pitchFamily="34" charset="-120"/>
              </a:rPr>
              <a:t>CRUD API</a:t>
            </a:r>
            <a:endParaRPr lang="en-US" sz="2000" dirty="0"/>
          </a:p>
        </p:txBody>
      </p:sp>
      <p:sp>
        <p:nvSpPr>
          <p:cNvPr id="16" name="Text 13"/>
          <p:cNvSpPr/>
          <p:nvPr/>
        </p:nvSpPr>
        <p:spPr>
          <a:xfrm>
            <a:off x="6190488" y="2039112"/>
            <a:ext cx="2231136" cy="2487168"/>
          </a:xfrm>
          <a:prstGeom prst="rect">
            <a:avLst/>
          </a:prstGeom>
          <a:noFill/>
          <a:ln/>
        </p:spPr>
        <p:txBody>
          <a:bodyPr wrap="square" lIns="254" tIns="254" rIns="254" bIns="254" rtlCol="0" anchor="t">
            <a:normAutofit/>
          </a:bodyPr>
          <a:lstStyle/>
          <a:p>
            <a:pPr indent="0" marL="0">
              <a:buNone/>
            </a:pPr>
            <a:r>
              <a:rPr lang="en-US" sz="1700" dirty="0">
                <a:solidFill>
                  <a:srgbClr val="111111"/>
                </a:solidFill>
                <a:latin typeface="Arial" pitchFamily="34" charset="0"/>
                <a:ea typeface="Arial" pitchFamily="34" charset="-122"/>
                <a:cs typeface="Arial" pitchFamily="34" charset="-120"/>
              </a:rPr>
              <a:t>sensor channels</a:t>
            </a:r>
            <a:endParaRPr lang="en-US" sz="1700" dirty="0"/>
          </a:p>
          <a:p>
            <a:pPr indent="0" marL="0">
              <a:buNone/>
            </a:pPr>
            <a:r>
              <a:rPr lang="en-US" sz="1700" dirty="0">
                <a:solidFill>
                  <a:srgbClr val="111111"/>
                </a:solidFill>
                <a:latin typeface="Arial" pitchFamily="34" charset="0"/>
                <a:ea typeface="Arial" pitchFamily="34" charset="-122"/>
                <a:cs typeface="Arial" pitchFamily="34" charset="-120"/>
              </a:rPr>
              <a:t>create/update</a:t>
            </a:r>
            <a:endParaRPr lang="en-US" sz="1700" dirty="0"/>
          </a:p>
          <a:p>
            <a:pPr indent="0" marL="0">
              <a:buNone/>
            </a:pPr>
            <a:r>
              <a:rPr lang="en-US" sz="1700" dirty="0">
                <a:solidFill>
                  <a:srgbClr val="111111"/>
                </a:solidFill>
                <a:latin typeface="Arial" pitchFamily="34" charset="0"/>
                <a:ea typeface="Arial" pitchFamily="34" charset="-122"/>
                <a:cs typeface="Arial" pitchFamily="34" charset="-120"/>
              </a:rPr>
              <a:t>soft-delete</a:t>
            </a:r>
            <a:endParaRPr lang="en-US" sz="1700" dirty="0"/>
          </a:p>
        </p:txBody>
      </p:sp>
      <p:sp>
        <p:nvSpPr>
          <p:cNvPr id="17" name="Text 14"/>
          <p:cNvSpPr/>
          <p:nvPr/>
        </p:nvSpPr>
        <p:spPr>
          <a:xfrm>
            <a:off x="841248" y="5340096"/>
            <a:ext cx="164592" cy="274320"/>
          </a:xfrm>
          <a:prstGeom prst="rect">
            <a:avLst/>
          </a:prstGeom>
          <a:noFill/>
          <a:ln/>
        </p:spPr>
        <p:txBody>
          <a:bodyPr wrap="square" lIns="0" tIns="0" rIns="0" bIns="0" rtlCol="0" anchor="ctr"/>
          <a:lstStyle/>
          <a:p>
            <a:pPr indent="0" marL="0">
              <a:buNone/>
            </a:pPr>
            <a:r>
              <a:rPr lang="en-US" sz="1800" b="1" dirty="0">
                <a:solidFill>
                  <a:srgbClr val="C8102E"/>
                </a:solidFill>
                <a:latin typeface="Arial" pitchFamily="34" charset="0"/>
                <a:ea typeface="Arial" pitchFamily="34" charset="-122"/>
                <a:cs typeface="Arial" pitchFamily="34" charset="-120"/>
              </a:rPr>
              <a:t>•</a:t>
            </a:r>
            <a:endParaRPr lang="en-US" sz="1800" dirty="0"/>
          </a:p>
        </p:txBody>
      </p:sp>
      <p:sp>
        <p:nvSpPr>
          <p:cNvPr id="18" name="Text 15"/>
          <p:cNvSpPr/>
          <p:nvPr/>
        </p:nvSpPr>
        <p:spPr>
          <a:xfrm>
            <a:off x="1069848" y="5358384"/>
            <a:ext cx="7178040" cy="329184"/>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API được tách theo nhóm đọc dữ liệu, điều khiển và cấu hình.</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midterm_media/ppt/media/image4.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Frontend và trải nghiệm người dùng</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10</a:t>
            </a:r>
            <a:endParaRPr lang="en-US" sz="1200" dirty="0"/>
          </a:p>
        </p:txBody>
      </p:sp>
      <p:sp>
        <p:nvSpPr>
          <p:cNvPr id="5" name="Text 2"/>
          <p:cNvSpPr/>
          <p:nvPr/>
        </p:nvSpPr>
        <p:spPr>
          <a:xfrm>
            <a:off x="685800" y="135331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6" name="Text 3"/>
          <p:cNvSpPr/>
          <p:nvPr/>
        </p:nvSpPr>
        <p:spPr>
          <a:xfrm>
            <a:off x="914400" y="137160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JS thuần + Chart.js</a:t>
            </a:r>
            <a:endParaRPr lang="en-US" sz="1900" dirty="0"/>
          </a:p>
        </p:txBody>
      </p:sp>
      <p:sp>
        <p:nvSpPr>
          <p:cNvPr id="7" name="Text 4"/>
          <p:cNvSpPr/>
          <p:nvPr/>
        </p:nvSpPr>
        <p:spPr>
          <a:xfrm>
            <a:off x="685800" y="194767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8" name="Text 5"/>
          <p:cNvSpPr/>
          <p:nvPr/>
        </p:nvSpPr>
        <p:spPr>
          <a:xfrm>
            <a:off x="914400" y="196596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Dashboard KPI + sparkline</a:t>
            </a:r>
            <a:endParaRPr lang="en-US" sz="1900" dirty="0"/>
          </a:p>
        </p:txBody>
      </p:sp>
      <p:sp>
        <p:nvSpPr>
          <p:cNvPr id="9" name="Text 6"/>
          <p:cNvSpPr/>
          <p:nvPr/>
        </p:nvSpPr>
        <p:spPr>
          <a:xfrm>
            <a:off x="685800" y="254203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0" name="Text 7"/>
          <p:cNvSpPr/>
          <p:nvPr/>
        </p:nvSpPr>
        <p:spPr>
          <a:xfrm>
            <a:off x="914400" y="256032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Biểu đồ temp/hum + 8 kênh ADC</a:t>
            </a:r>
            <a:endParaRPr lang="en-US" sz="1900" dirty="0"/>
          </a:p>
        </p:txBody>
      </p:sp>
      <p:sp>
        <p:nvSpPr>
          <p:cNvPr id="11" name="Text 8"/>
          <p:cNvSpPr/>
          <p:nvPr/>
        </p:nvSpPr>
        <p:spPr>
          <a:xfrm>
            <a:off x="685800" y="313639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2" name="Text 9"/>
          <p:cNvSpPr/>
          <p:nvPr/>
        </p:nvSpPr>
        <p:spPr>
          <a:xfrm>
            <a:off x="914400" y="315468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History table 24h</a:t>
            </a:r>
            <a:endParaRPr lang="en-US" sz="1900" dirty="0"/>
          </a:p>
        </p:txBody>
      </p:sp>
      <p:sp>
        <p:nvSpPr>
          <p:cNvPr id="13" name="Text 10"/>
          <p:cNvSpPr/>
          <p:nvPr/>
        </p:nvSpPr>
        <p:spPr>
          <a:xfrm>
            <a:off x="685800" y="373075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4" name="Text 11"/>
          <p:cNvSpPr/>
          <p:nvPr/>
        </p:nvSpPr>
        <p:spPr>
          <a:xfrm>
            <a:off x="914400" y="374904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Banner lỗi + empty state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mnt/data/midterm_media/ppt/media/image5.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Database schema</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11</a:t>
            </a:r>
            <a:endParaRPr lang="en-US" sz="1200" dirty="0"/>
          </a:p>
        </p:txBody>
      </p:sp>
      <p:sp>
        <p:nvSpPr>
          <p:cNvPr id="5" name="Shape 2"/>
          <p:cNvSpPr/>
          <p:nvPr/>
        </p:nvSpPr>
        <p:spPr>
          <a:xfrm>
            <a:off x="594360" y="1325880"/>
            <a:ext cx="3886200" cy="4069080"/>
          </a:xfrm>
          <a:prstGeom prst="roundRect">
            <a:avLst>
              <a:gd name="adj" fmla="val 1176"/>
            </a:avLst>
          </a:prstGeom>
          <a:solidFill>
            <a:srgbClr val="FFFFFF"/>
          </a:solidFill>
          <a:ln w="12700">
            <a:solidFill>
              <a:srgbClr val="DDDDDD"/>
            </a:solidFill>
            <a:prstDash val="solid"/>
          </a:ln>
        </p:spPr>
      </p:sp>
      <p:sp>
        <p:nvSpPr>
          <p:cNvPr id="6" name="Shape 3"/>
          <p:cNvSpPr/>
          <p:nvPr/>
        </p:nvSpPr>
        <p:spPr>
          <a:xfrm>
            <a:off x="594360" y="1325880"/>
            <a:ext cx="64008" cy="4069080"/>
          </a:xfrm>
          <a:prstGeom prst="rect">
            <a:avLst/>
          </a:prstGeom>
          <a:solidFill>
            <a:srgbClr val="C8102E"/>
          </a:solidFill>
          <a:ln w="12700">
            <a:solidFill>
              <a:srgbClr val="C8102E"/>
            </a:solidFill>
            <a:prstDash val="solid"/>
          </a:ln>
        </p:spPr>
      </p:sp>
      <p:sp>
        <p:nvSpPr>
          <p:cNvPr id="7" name="Text 4"/>
          <p:cNvSpPr/>
          <p:nvPr/>
        </p:nvSpPr>
        <p:spPr>
          <a:xfrm>
            <a:off x="758952" y="1435608"/>
            <a:ext cx="3575304" cy="228600"/>
          </a:xfrm>
          <a:prstGeom prst="rect">
            <a:avLst/>
          </a:prstGeom>
          <a:noFill/>
          <a:ln/>
        </p:spPr>
        <p:txBody>
          <a:bodyPr wrap="square" lIns="0" tIns="0" rIns="0" bIns="0" rtlCol="0" anchor="ctr">
            <a:normAutofit/>
          </a:bodyPr>
          <a:lstStyle/>
          <a:p>
            <a:pPr indent="0" marL="0">
              <a:buNone/>
            </a:pPr>
            <a:r>
              <a:rPr lang="en-US" sz="2200" b="1" dirty="0">
                <a:solidFill>
                  <a:srgbClr val="111111"/>
                </a:solidFill>
                <a:latin typeface="Arial" pitchFamily="34" charset="0"/>
                <a:ea typeface="Arial" pitchFamily="34" charset="-122"/>
                <a:cs typeface="Arial" pitchFamily="34" charset="-120"/>
              </a:rPr>
              <a:t>SQL</a:t>
            </a:r>
            <a:endParaRPr lang="en-US" sz="2200" dirty="0"/>
          </a:p>
        </p:txBody>
      </p:sp>
      <p:sp>
        <p:nvSpPr>
          <p:cNvPr id="8" name="Text 5"/>
          <p:cNvSpPr/>
          <p:nvPr/>
        </p:nvSpPr>
        <p:spPr>
          <a:xfrm>
            <a:off x="758952" y="1764792"/>
            <a:ext cx="3575304" cy="3538728"/>
          </a:xfrm>
          <a:prstGeom prst="rect">
            <a:avLst/>
          </a:prstGeom>
          <a:noFill/>
          <a:ln/>
        </p:spPr>
        <p:txBody>
          <a:bodyPr wrap="square" lIns="254" tIns="254" rIns="254" bIns="254" rtlCol="0" anchor="t">
            <a:normAutofit/>
          </a:bodyPr>
          <a:lstStyle/>
          <a:p>
            <a:pPr indent="0" marL="0">
              <a:buNone/>
            </a:pPr>
            <a:r>
              <a:rPr lang="en-US" sz="1800" dirty="0">
                <a:solidFill>
                  <a:srgbClr val="111111"/>
                </a:solidFill>
                <a:latin typeface="Arial" pitchFamily="34" charset="0"/>
                <a:ea typeface="Arial" pitchFamily="34" charset="-122"/>
                <a:cs typeface="Arial" pitchFamily="34" charset="-120"/>
              </a:rPr>
              <a:t>enose_devices</a:t>
            </a: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enose_control_history</a:t>
            </a: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enose_sensor_channels</a:t>
            </a:r>
            <a:endParaRPr lang="en-US" sz="1800" dirty="0"/>
          </a:p>
        </p:txBody>
      </p:sp>
      <p:sp>
        <p:nvSpPr>
          <p:cNvPr id="9" name="Shape 6"/>
          <p:cNvSpPr/>
          <p:nvPr/>
        </p:nvSpPr>
        <p:spPr>
          <a:xfrm>
            <a:off x="4663440" y="1325880"/>
            <a:ext cx="3886200" cy="4069080"/>
          </a:xfrm>
          <a:prstGeom prst="roundRect">
            <a:avLst>
              <a:gd name="adj" fmla="val 1176"/>
            </a:avLst>
          </a:prstGeom>
          <a:solidFill>
            <a:srgbClr val="FFFFFF"/>
          </a:solidFill>
          <a:ln w="12700">
            <a:solidFill>
              <a:srgbClr val="DDDDDD"/>
            </a:solidFill>
            <a:prstDash val="solid"/>
          </a:ln>
        </p:spPr>
      </p:sp>
      <p:sp>
        <p:nvSpPr>
          <p:cNvPr id="10" name="Shape 7"/>
          <p:cNvSpPr/>
          <p:nvPr/>
        </p:nvSpPr>
        <p:spPr>
          <a:xfrm>
            <a:off x="4663440" y="1325880"/>
            <a:ext cx="64008" cy="4069080"/>
          </a:xfrm>
          <a:prstGeom prst="rect">
            <a:avLst/>
          </a:prstGeom>
          <a:solidFill>
            <a:srgbClr val="2E7D32"/>
          </a:solidFill>
          <a:ln w="12700">
            <a:solidFill>
              <a:srgbClr val="2E7D32"/>
            </a:solidFill>
            <a:prstDash val="solid"/>
          </a:ln>
        </p:spPr>
      </p:sp>
      <p:sp>
        <p:nvSpPr>
          <p:cNvPr id="11" name="Text 8"/>
          <p:cNvSpPr/>
          <p:nvPr/>
        </p:nvSpPr>
        <p:spPr>
          <a:xfrm>
            <a:off x="4828032" y="1435608"/>
            <a:ext cx="3575304" cy="228600"/>
          </a:xfrm>
          <a:prstGeom prst="rect">
            <a:avLst/>
          </a:prstGeom>
          <a:noFill/>
          <a:ln/>
        </p:spPr>
        <p:txBody>
          <a:bodyPr wrap="square" lIns="0" tIns="0" rIns="0" bIns="0" rtlCol="0" anchor="ctr">
            <a:normAutofit/>
          </a:bodyPr>
          <a:lstStyle/>
          <a:p>
            <a:pPr indent="0" marL="0">
              <a:buNone/>
            </a:pPr>
            <a:r>
              <a:rPr lang="en-US" sz="2200" b="1" dirty="0">
                <a:solidFill>
                  <a:srgbClr val="111111"/>
                </a:solidFill>
                <a:latin typeface="Arial" pitchFamily="34" charset="0"/>
                <a:ea typeface="Arial" pitchFamily="34" charset="-122"/>
                <a:cs typeface="Arial" pitchFamily="34" charset="-120"/>
              </a:rPr>
              <a:t>Mongo</a:t>
            </a:r>
            <a:endParaRPr lang="en-US" sz="2200" dirty="0"/>
          </a:p>
        </p:txBody>
      </p:sp>
      <p:sp>
        <p:nvSpPr>
          <p:cNvPr id="12" name="Text 9"/>
          <p:cNvSpPr/>
          <p:nvPr/>
        </p:nvSpPr>
        <p:spPr>
          <a:xfrm>
            <a:off x="4828032" y="1764792"/>
            <a:ext cx="3575304" cy="3538728"/>
          </a:xfrm>
          <a:prstGeom prst="rect">
            <a:avLst/>
          </a:prstGeom>
          <a:noFill/>
          <a:ln/>
        </p:spPr>
        <p:txBody>
          <a:bodyPr wrap="square" lIns="254" tIns="254" rIns="254" bIns="254" rtlCol="0" anchor="t">
            <a:normAutofit/>
          </a:bodyPr>
          <a:lstStyle/>
          <a:p>
            <a:pPr indent="0" marL="0">
              <a:buNone/>
            </a:pPr>
            <a:r>
              <a:rPr lang="en-US" sz="1800" dirty="0">
                <a:solidFill>
                  <a:srgbClr val="111111"/>
                </a:solidFill>
                <a:latin typeface="Arial" pitchFamily="34" charset="0"/>
                <a:ea typeface="Arial" pitchFamily="34" charset="-122"/>
                <a:cs typeface="Arial" pitchFamily="34" charset="-120"/>
              </a:rPr>
              <a:t>sensor</a:t>
            </a: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device_status</a:t>
            </a: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measurement_data</a:t>
            </a:r>
            <a:endParaRPr lang="en-US" sz="1800" dirty="0"/>
          </a:p>
        </p:txBody>
      </p:sp>
      <p:sp>
        <p:nvSpPr>
          <p:cNvPr id="13" name="Text 10"/>
          <p:cNvSpPr/>
          <p:nvPr/>
        </p:nvSpPr>
        <p:spPr>
          <a:xfrm>
            <a:off x="804672" y="5715000"/>
            <a:ext cx="164592" cy="274320"/>
          </a:xfrm>
          <a:prstGeom prst="rect">
            <a:avLst/>
          </a:prstGeom>
          <a:noFill/>
          <a:ln/>
        </p:spPr>
        <p:txBody>
          <a:bodyPr wrap="square" lIns="0" tIns="0" rIns="0" bIns="0" rtlCol="0" anchor="ctr"/>
          <a:lstStyle/>
          <a:p>
            <a:pPr indent="0" marL="0">
              <a:buNone/>
            </a:pPr>
            <a:r>
              <a:rPr lang="en-US" sz="1800" b="1" dirty="0">
                <a:solidFill>
                  <a:srgbClr val="C8102E"/>
                </a:solidFill>
                <a:latin typeface="Arial" pitchFamily="34" charset="0"/>
                <a:ea typeface="Arial" pitchFamily="34" charset="-122"/>
                <a:cs typeface="Arial" pitchFamily="34" charset="-120"/>
              </a:rPr>
              <a:t>•</a:t>
            </a:r>
            <a:endParaRPr lang="en-US" sz="1800" dirty="0"/>
          </a:p>
        </p:txBody>
      </p:sp>
      <p:sp>
        <p:nvSpPr>
          <p:cNvPr id="14" name="Text 11"/>
          <p:cNvSpPr/>
          <p:nvPr/>
        </p:nvSpPr>
        <p:spPr>
          <a:xfrm>
            <a:off x="1033272" y="5733288"/>
            <a:ext cx="6903720" cy="329184"/>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Soft-delete + seed mặc định</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mnt/data/midterm_media/ppt/media/image4.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Kịch bản demo</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12</a:t>
            </a:r>
            <a:endParaRPr lang="en-US" sz="1200" dirty="0"/>
          </a:p>
        </p:txBody>
      </p:sp>
      <p:sp>
        <p:nvSpPr>
          <p:cNvPr id="5" name="Shape 2"/>
          <p:cNvSpPr/>
          <p:nvPr/>
        </p:nvSpPr>
        <p:spPr>
          <a:xfrm>
            <a:off x="685800" y="1293876"/>
            <a:ext cx="338328" cy="338328"/>
          </a:xfrm>
          <a:prstGeom prst="ellipse">
            <a:avLst/>
          </a:prstGeom>
          <a:solidFill>
            <a:srgbClr val="C8102E"/>
          </a:solidFill>
          <a:ln w="12700">
            <a:solidFill>
              <a:srgbClr val="C8102E"/>
            </a:solidFill>
            <a:prstDash val="solid"/>
          </a:ln>
        </p:spPr>
      </p:sp>
      <p:sp>
        <p:nvSpPr>
          <p:cNvPr id="6" name="Text 3"/>
          <p:cNvSpPr/>
          <p:nvPr/>
        </p:nvSpPr>
        <p:spPr>
          <a:xfrm>
            <a:off x="685800" y="1376172"/>
            <a:ext cx="338328" cy="1371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7" name="Text 4"/>
          <p:cNvSpPr/>
          <p:nvPr/>
        </p:nvSpPr>
        <p:spPr>
          <a:xfrm>
            <a:off x="1124712" y="1321308"/>
            <a:ext cx="3264408" cy="384048"/>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Chọn thiết bị</a:t>
            </a:r>
            <a:endParaRPr lang="en-US" sz="1800" dirty="0"/>
          </a:p>
        </p:txBody>
      </p:sp>
      <p:sp>
        <p:nvSpPr>
          <p:cNvPr id="8" name="Shape 5"/>
          <p:cNvSpPr/>
          <p:nvPr/>
        </p:nvSpPr>
        <p:spPr>
          <a:xfrm>
            <a:off x="4663440" y="1293876"/>
            <a:ext cx="338328" cy="338328"/>
          </a:xfrm>
          <a:prstGeom prst="ellipse">
            <a:avLst/>
          </a:prstGeom>
          <a:solidFill>
            <a:srgbClr val="C8102E"/>
          </a:solidFill>
          <a:ln w="12700">
            <a:solidFill>
              <a:srgbClr val="C8102E"/>
            </a:solidFill>
            <a:prstDash val="solid"/>
          </a:ln>
        </p:spPr>
      </p:sp>
      <p:sp>
        <p:nvSpPr>
          <p:cNvPr id="9" name="Text 6"/>
          <p:cNvSpPr/>
          <p:nvPr/>
        </p:nvSpPr>
        <p:spPr>
          <a:xfrm>
            <a:off x="4663440" y="1376172"/>
            <a:ext cx="338328" cy="1371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0" name="Text 7"/>
          <p:cNvSpPr/>
          <p:nvPr/>
        </p:nvSpPr>
        <p:spPr>
          <a:xfrm>
            <a:off x="5102352" y="1321308"/>
            <a:ext cx="3264408" cy="384048"/>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Quan sát KPI</a:t>
            </a:r>
            <a:endParaRPr lang="en-US" sz="1800" dirty="0"/>
          </a:p>
        </p:txBody>
      </p:sp>
      <p:sp>
        <p:nvSpPr>
          <p:cNvPr id="11" name="Shape 8"/>
          <p:cNvSpPr/>
          <p:nvPr/>
        </p:nvSpPr>
        <p:spPr>
          <a:xfrm>
            <a:off x="685800" y="2025396"/>
            <a:ext cx="338328" cy="338328"/>
          </a:xfrm>
          <a:prstGeom prst="ellipse">
            <a:avLst/>
          </a:prstGeom>
          <a:solidFill>
            <a:srgbClr val="C8102E"/>
          </a:solidFill>
          <a:ln w="12700">
            <a:solidFill>
              <a:srgbClr val="C8102E"/>
            </a:solidFill>
            <a:prstDash val="solid"/>
          </a:ln>
        </p:spPr>
      </p:sp>
      <p:sp>
        <p:nvSpPr>
          <p:cNvPr id="12" name="Text 9"/>
          <p:cNvSpPr/>
          <p:nvPr/>
        </p:nvSpPr>
        <p:spPr>
          <a:xfrm>
            <a:off x="685800" y="2107692"/>
            <a:ext cx="338328" cy="1371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Text 10"/>
          <p:cNvSpPr/>
          <p:nvPr/>
        </p:nvSpPr>
        <p:spPr>
          <a:xfrm>
            <a:off x="1124712" y="2052828"/>
            <a:ext cx="3264408" cy="384048"/>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Start measurement</a:t>
            </a:r>
            <a:endParaRPr lang="en-US" sz="1800" dirty="0"/>
          </a:p>
        </p:txBody>
      </p:sp>
      <p:sp>
        <p:nvSpPr>
          <p:cNvPr id="14" name="Shape 11"/>
          <p:cNvSpPr/>
          <p:nvPr/>
        </p:nvSpPr>
        <p:spPr>
          <a:xfrm>
            <a:off x="4663440" y="2025396"/>
            <a:ext cx="338328" cy="338328"/>
          </a:xfrm>
          <a:prstGeom prst="ellipse">
            <a:avLst/>
          </a:prstGeom>
          <a:solidFill>
            <a:srgbClr val="1F4E79"/>
          </a:solidFill>
          <a:ln w="12700">
            <a:solidFill>
              <a:srgbClr val="1F4E79"/>
            </a:solidFill>
            <a:prstDash val="solid"/>
          </a:ln>
        </p:spPr>
      </p:sp>
      <p:sp>
        <p:nvSpPr>
          <p:cNvPr id="15" name="Text 12"/>
          <p:cNvSpPr/>
          <p:nvPr/>
        </p:nvSpPr>
        <p:spPr>
          <a:xfrm>
            <a:off x="4663440" y="2107692"/>
            <a:ext cx="338328" cy="1371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6" name="Text 13"/>
          <p:cNvSpPr/>
          <p:nvPr/>
        </p:nvSpPr>
        <p:spPr>
          <a:xfrm>
            <a:off x="5102352" y="2052828"/>
            <a:ext cx="3264408" cy="384048"/>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Quan sát chart/history cập nhật</a:t>
            </a:r>
            <a:endParaRPr lang="en-US" sz="1800" dirty="0"/>
          </a:p>
        </p:txBody>
      </p:sp>
      <p:sp>
        <p:nvSpPr>
          <p:cNvPr id="17" name="Shape 14"/>
          <p:cNvSpPr/>
          <p:nvPr/>
        </p:nvSpPr>
        <p:spPr>
          <a:xfrm>
            <a:off x="685800" y="2756916"/>
            <a:ext cx="338328" cy="338328"/>
          </a:xfrm>
          <a:prstGeom prst="ellipse">
            <a:avLst/>
          </a:prstGeom>
          <a:solidFill>
            <a:srgbClr val="1F4E79"/>
          </a:solidFill>
          <a:ln w="12700">
            <a:solidFill>
              <a:srgbClr val="1F4E79"/>
            </a:solidFill>
            <a:prstDash val="solid"/>
          </a:ln>
        </p:spPr>
      </p:sp>
      <p:sp>
        <p:nvSpPr>
          <p:cNvPr id="18" name="Text 15"/>
          <p:cNvSpPr/>
          <p:nvPr/>
        </p:nvSpPr>
        <p:spPr>
          <a:xfrm>
            <a:off x="685800" y="2839212"/>
            <a:ext cx="338328" cy="1371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Text 16"/>
          <p:cNvSpPr/>
          <p:nvPr/>
        </p:nvSpPr>
        <p:spPr>
          <a:xfrm>
            <a:off x="1124712" y="2784348"/>
            <a:ext cx="3264408" cy="384048"/>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Stop measurement</a:t>
            </a:r>
            <a:endParaRPr lang="en-US" sz="1800" dirty="0"/>
          </a:p>
        </p:txBody>
      </p:sp>
      <p:sp>
        <p:nvSpPr>
          <p:cNvPr id="20" name="Shape 17"/>
          <p:cNvSpPr/>
          <p:nvPr/>
        </p:nvSpPr>
        <p:spPr>
          <a:xfrm>
            <a:off x="4663440" y="2756916"/>
            <a:ext cx="338328" cy="338328"/>
          </a:xfrm>
          <a:prstGeom prst="ellipse">
            <a:avLst/>
          </a:prstGeom>
          <a:solidFill>
            <a:srgbClr val="2E7D32"/>
          </a:solidFill>
          <a:ln w="12700">
            <a:solidFill>
              <a:srgbClr val="2E7D32"/>
            </a:solidFill>
            <a:prstDash val="solid"/>
          </a:ln>
        </p:spPr>
      </p:sp>
      <p:sp>
        <p:nvSpPr>
          <p:cNvPr id="21" name="Text 18"/>
          <p:cNvSpPr/>
          <p:nvPr/>
        </p:nvSpPr>
        <p:spPr>
          <a:xfrm>
            <a:off x="4663440" y="2839212"/>
            <a:ext cx="338328" cy="1371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2" name="Text 19"/>
          <p:cNvSpPr/>
          <p:nvPr/>
        </p:nvSpPr>
        <p:spPr>
          <a:xfrm>
            <a:off x="5102352" y="2784348"/>
            <a:ext cx="3264408" cy="384048"/>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CRUD channel</a:t>
            </a:r>
            <a:endParaRPr lang="en-US" sz="1800" dirty="0"/>
          </a:p>
        </p:txBody>
      </p:sp>
      <p:sp>
        <p:nvSpPr>
          <p:cNvPr id="23" name="Shape 20"/>
          <p:cNvSpPr/>
          <p:nvPr/>
        </p:nvSpPr>
        <p:spPr>
          <a:xfrm>
            <a:off x="2606040" y="3854196"/>
            <a:ext cx="338328" cy="338328"/>
          </a:xfrm>
          <a:prstGeom prst="ellipse">
            <a:avLst/>
          </a:prstGeom>
          <a:solidFill>
            <a:srgbClr val="2E7D32"/>
          </a:solidFill>
          <a:ln w="12700">
            <a:solidFill>
              <a:srgbClr val="2E7D32"/>
            </a:solidFill>
            <a:prstDash val="solid"/>
          </a:ln>
        </p:spPr>
      </p:sp>
      <p:sp>
        <p:nvSpPr>
          <p:cNvPr id="24" name="Text 21"/>
          <p:cNvSpPr/>
          <p:nvPr/>
        </p:nvSpPr>
        <p:spPr>
          <a:xfrm>
            <a:off x="2606040" y="3936492"/>
            <a:ext cx="338328" cy="1371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5" name="Text 22"/>
          <p:cNvSpPr/>
          <p:nvPr/>
        </p:nvSpPr>
        <p:spPr>
          <a:xfrm>
            <a:off x="3044952" y="3881628"/>
            <a:ext cx="3264408" cy="384048"/>
          </a:xfrm>
          <a:prstGeom prst="rect">
            <a:avLst/>
          </a:prstGeom>
          <a:noFill/>
          <a:ln/>
        </p:spPr>
        <p:txBody>
          <a:bodyPr wrap="square" lIns="0" tIns="0" rIns="0" bIns="0" rtlCol="0" anchor="ctr">
            <a:normAutofit/>
          </a:bodyPr>
          <a:lstStyle/>
          <a:p>
            <a:pPr indent="0" marL="0">
              <a:buNone/>
            </a:pPr>
            <a:r>
              <a:rPr lang="en-US" sz="1800" dirty="0">
                <a:solidFill>
                  <a:srgbClr val="111111"/>
                </a:solidFill>
                <a:latin typeface="Arial" pitchFamily="34" charset="0"/>
                <a:ea typeface="Arial" pitchFamily="34" charset="-122"/>
                <a:cs typeface="Arial" pitchFamily="34" charset="-120"/>
              </a:rPr>
              <a:t>Tải CSV</a:t>
            </a:r>
            <a:endParaRPr lang="en-US" sz="1800" dirty="0"/>
          </a:p>
        </p:txBody>
      </p:sp>
      <p:sp>
        <p:nvSpPr>
          <p:cNvPr id="26" name="Text 23"/>
          <p:cNvSpPr/>
          <p:nvPr/>
        </p:nvSpPr>
        <p:spPr>
          <a:xfrm>
            <a:off x="868680" y="5166360"/>
            <a:ext cx="7406640" cy="502920"/>
          </a:xfrm>
          <a:prstGeom prst="rect">
            <a:avLst/>
          </a:prstGeom>
          <a:noFill/>
          <a:ln/>
        </p:spPr>
        <p:txBody>
          <a:bodyPr wrap="square" lIns="0" tIns="0" rIns="0" bIns="0" rtlCol="0" anchor="ctr">
            <a:normAutofit/>
          </a:bodyPr>
          <a:lstStyle/>
          <a:p>
            <a:pPr algn="ctr" indent="0" marL="0">
              <a:buNone/>
            </a:pPr>
            <a:r>
              <a:rPr lang="en-US" sz="1800" b="1" dirty="0">
                <a:solidFill>
                  <a:srgbClr val="111111"/>
                </a:solidFill>
                <a:latin typeface="Arial" pitchFamily="34" charset="0"/>
                <a:ea typeface="Arial" pitchFamily="34" charset="-122"/>
                <a:cs typeface="Arial" pitchFamily="34" charset="-120"/>
              </a:rPr>
              <a:t>Demo theo hành trình: giám sát → điều khiển → xác nhận dữ liệu → cấu hình → xuất dữ liệu</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mnt/data/midterm_media/ppt/media/image5.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Kết quả đạt được</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13</a:t>
            </a:r>
            <a:endParaRPr lang="en-US" sz="1200" dirty="0"/>
          </a:p>
        </p:txBody>
      </p:sp>
      <p:sp>
        <p:nvSpPr>
          <p:cNvPr id="5" name="Text 2"/>
          <p:cNvSpPr/>
          <p:nvPr/>
        </p:nvSpPr>
        <p:spPr>
          <a:xfrm>
            <a:off x="685800" y="135331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6" name="Text 3"/>
          <p:cNvSpPr/>
          <p:nvPr/>
        </p:nvSpPr>
        <p:spPr>
          <a:xfrm>
            <a:off x="914400" y="137160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Pipeline IoT chạy end-to-end</a:t>
            </a:r>
            <a:endParaRPr lang="en-US" sz="1900" dirty="0"/>
          </a:p>
        </p:txBody>
      </p:sp>
      <p:sp>
        <p:nvSpPr>
          <p:cNvPr id="7" name="Text 4"/>
          <p:cNvSpPr/>
          <p:nvPr/>
        </p:nvSpPr>
        <p:spPr>
          <a:xfrm>
            <a:off x="685800" y="194767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8" name="Text 5"/>
          <p:cNvSpPr/>
          <p:nvPr/>
        </p:nvSpPr>
        <p:spPr>
          <a:xfrm>
            <a:off x="914400" y="196596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Hiển thị realtime ổn định</a:t>
            </a:r>
            <a:endParaRPr lang="en-US" sz="1900" dirty="0"/>
          </a:p>
        </p:txBody>
      </p:sp>
      <p:sp>
        <p:nvSpPr>
          <p:cNvPr id="9" name="Text 6"/>
          <p:cNvSpPr/>
          <p:nvPr/>
        </p:nvSpPr>
        <p:spPr>
          <a:xfrm>
            <a:off x="685800" y="254203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0" name="Text 7"/>
          <p:cNvSpPr/>
          <p:nvPr/>
        </p:nvSpPr>
        <p:spPr>
          <a:xfrm>
            <a:off x="914400" y="256032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Điều khiển thiết bị từ web</a:t>
            </a:r>
            <a:endParaRPr lang="en-US" sz="1900" dirty="0"/>
          </a:p>
        </p:txBody>
      </p:sp>
      <p:sp>
        <p:nvSpPr>
          <p:cNvPr id="11" name="Text 8"/>
          <p:cNvSpPr/>
          <p:nvPr/>
        </p:nvSpPr>
        <p:spPr>
          <a:xfrm>
            <a:off x="685800" y="313639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2" name="Text 9"/>
          <p:cNvSpPr/>
          <p:nvPr/>
        </p:nvSpPr>
        <p:spPr>
          <a:xfrm>
            <a:off x="914400" y="315468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Quản lý kênh cảm biến linh hoạt</a:t>
            </a:r>
            <a:endParaRPr lang="en-US" sz="1900" dirty="0"/>
          </a:p>
        </p:txBody>
      </p:sp>
      <p:sp>
        <p:nvSpPr>
          <p:cNvPr id="13" name="Text 10"/>
          <p:cNvSpPr/>
          <p:nvPr/>
        </p:nvSpPr>
        <p:spPr>
          <a:xfrm>
            <a:off x="685800" y="3730752"/>
            <a:ext cx="164592" cy="274320"/>
          </a:xfrm>
          <a:prstGeom prst="rect">
            <a:avLst/>
          </a:prstGeom>
          <a:noFill/>
          <a:ln/>
        </p:spPr>
        <p:txBody>
          <a:bodyPr wrap="square" lIns="0" tIns="0" rIns="0" bIns="0" rtlCol="0" anchor="ctr"/>
          <a:lstStyle/>
          <a:p>
            <a:pPr indent="0" marL="0">
              <a:buNone/>
            </a:pPr>
            <a:r>
              <a:rPr lang="en-US" sz="1900" b="1" dirty="0">
                <a:solidFill>
                  <a:srgbClr val="C8102E"/>
                </a:solidFill>
                <a:latin typeface="Arial" pitchFamily="34" charset="0"/>
                <a:ea typeface="Arial" pitchFamily="34" charset="-122"/>
                <a:cs typeface="Arial" pitchFamily="34" charset="-120"/>
              </a:rPr>
              <a:t>•</a:t>
            </a:r>
            <a:endParaRPr lang="en-US" sz="1900" dirty="0"/>
          </a:p>
        </p:txBody>
      </p:sp>
      <p:sp>
        <p:nvSpPr>
          <p:cNvPr id="14" name="Text 11"/>
          <p:cNvSpPr/>
          <p:nvPr/>
        </p:nvSpPr>
        <p:spPr>
          <a:xfrm>
            <a:off x="914400" y="3749040"/>
            <a:ext cx="7680960" cy="438912"/>
          </a:xfrm>
          <a:prstGeom prst="rect">
            <a:avLst/>
          </a:prstGeom>
          <a:noFill/>
          <a:ln/>
        </p:spPr>
        <p:txBody>
          <a:bodyPr wrap="square" lIns="0" tIns="0" rIns="0" bIns="0" rtlCol="0" anchor="ctr">
            <a:normAutofit/>
          </a:bodyPr>
          <a:lstStyle/>
          <a:p>
            <a:pPr indent="0" marL="0">
              <a:buNone/>
            </a:pPr>
            <a:r>
              <a:rPr lang="en-US" sz="1900" dirty="0">
                <a:solidFill>
                  <a:srgbClr val="111111"/>
                </a:solidFill>
                <a:latin typeface="Arial" pitchFamily="34" charset="0"/>
                <a:ea typeface="Arial" pitchFamily="34" charset="-122"/>
                <a:cs typeface="Arial" pitchFamily="34" charset="-120"/>
              </a:rPr>
              <a:t>Có công cụ init/check/export</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mnt/data/midterm_media/ppt/media/image5.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237744" y="82296"/>
            <a:ext cx="8549640" cy="45720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Hạn chế &amp; hướng phát triển</a:t>
            </a:r>
            <a:endParaRPr lang="en-US" sz="2500" dirty="0"/>
          </a:p>
        </p:txBody>
      </p:sp>
      <p:sp>
        <p:nvSpPr>
          <p:cNvPr id="4" name="Text 1"/>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14</a:t>
            </a:r>
            <a:endParaRPr lang="en-US" sz="1200" dirty="0"/>
          </a:p>
        </p:txBody>
      </p:sp>
      <p:sp>
        <p:nvSpPr>
          <p:cNvPr id="5" name="Shape 2"/>
          <p:cNvSpPr/>
          <p:nvPr/>
        </p:nvSpPr>
        <p:spPr>
          <a:xfrm>
            <a:off x="777240" y="1325880"/>
            <a:ext cx="3611880" cy="4343400"/>
          </a:xfrm>
          <a:prstGeom prst="roundRect">
            <a:avLst>
              <a:gd name="adj" fmla="val 1266"/>
            </a:avLst>
          </a:prstGeom>
          <a:solidFill>
            <a:srgbClr val="FFFFFF"/>
          </a:solidFill>
          <a:ln w="12700">
            <a:solidFill>
              <a:srgbClr val="DDDDDD"/>
            </a:solidFill>
            <a:prstDash val="solid"/>
          </a:ln>
        </p:spPr>
      </p:sp>
      <p:sp>
        <p:nvSpPr>
          <p:cNvPr id="6" name="Shape 3"/>
          <p:cNvSpPr/>
          <p:nvPr/>
        </p:nvSpPr>
        <p:spPr>
          <a:xfrm>
            <a:off x="777240" y="1325880"/>
            <a:ext cx="64008" cy="4343400"/>
          </a:xfrm>
          <a:prstGeom prst="rect">
            <a:avLst/>
          </a:prstGeom>
          <a:solidFill>
            <a:srgbClr val="C8102E"/>
          </a:solidFill>
          <a:ln w="12700">
            <a:solidFill>
              <a:srgbClr val="C8102E"/>
            </a:solidFill>
            <a:prstDash val="solid"/>
          </a:ln>
        </p:spPr>
      </p:sp>
      <p:sp>
        <p:nvSpPr>
          <p:cNvPr id="7" name="Text 4"/>
          <p:cNvSpPr/>
          <p:nvPr/>
        </p:nvSpPr>
        <p:spPr>
          <a:xfrm>
            <a:off x="941832" y="1435608"/>
            <a:ext cx="3300984" cy="228600"/>
          </a:xfrm>
          <a:prstGeom prst="rect">
            <a:avLst/>
          </a:prstGeom>
          <a:noFill/>
          <a:ln/>
        </p:spPr>
        <p:txBody>
          <a:bodyPr wrap="square" lIns="0" tIns="0" rIns="0" bIns="0" rtlCol="0" anchor="ctr">
            <a:normAutofit/>
          </a:bodyPr>
          <a:lstStyle/>
          <a:p>
            <a:pPr indent="0" marL="0">
              <a:buNone/>
            </a:pPr>
            <a:r>
              <a:rPr lang="en-US" sz="2200" b="1" dirty="0">
                <a:solidFill>
                  <a:srgbClr val="111111"/>
                </a:solidFill>
                <a:latin typeface="Arial" pitchFamily="34" charset="0"/>
                <a:ea typeface="Arial" pitchFamily="34" charset="-122"/>
                <a:cs typeface="Arial" pitchFamily="34" charset="-120"/>
              </a:rPr>
              <a:t>Hạn chế</a:t>
            </a:r>
            <a:endParaRPr lang="en-US" sz="2200" dirty="0"/>
          </a:p>
        </p:txBody>
      </p:sp>
      <p:sp>
        <p:nvSpPr>
          <p:cNvPr id="8" name="Text 5"/>
          <p:cNvSpPr/>
          <p:nvPr/>
        </p:nvSpPr>
        <p:spPr>
          <a:xfrm>
            <a:off x="941832" y="1764792"/>
            <a:ext cx="3300984" cy="3813048"/>
          </a:xfrm>
          <a:prstGeom prst="rect">
            <a:avLst/>
          </a:prstGeom>
          <a:noFill/>
          <a:ln/>
        </p:spPr>
        <p:txBody>
          <a:bodyPr wrap="square" lIns="254" tIns="254" rIns="254" bIns="254" rtlCol="0" anchor="t">
            <a:normAutofit/>
          </a:bodyPr>
          <a:lstStyle/>
          <a:p>
            <a:pPr indent="0" marL="0">
              <a:buNone/>
            </a:pPr>
            <a:r>
              <a:rPr lang="en-US" sz="1800" dirty="0">
                <a:solidFill>
                  <a:srgbClr val="111111"/>
                </a:solidFill>
                <a:latin typeface="Arial" pitchFamily="34" charset="0"/>
                <a:ea typeface="Arial" pitchFamily="34" charset="-122"/>
                <a:cs typeface="Arial" pitchFamily="34" charset="-120"/>
              </a:rPr>
              <a:t>Chưa auth/role đầy đủ</a:t>
            </a:r>
            <a:endParaRPr lang="en-US" sz="1800" dirty="0"/>
          </a:p>
          <a:p>
            <a:pPr indent="0" marL="0">
              <a:buNone/>
            </a:pP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Chưa ACK command chuẩn</a:t>
            </a:r>
            <a:endParaRPr lang="en-US" sz="1800" dirty="0"/>
          </a:p>
          <a:p>
            <a:pPr indent="0" marL="0">
              <a:buNone/>
            </a:pP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Polling thay vì websocket</a:t>
            </a:r>
            <a:endParaRPr lang="en-US" sz="1800" dirty="0"/>
          </a:p>
        </p:txBody>
      </p:sp>
      <p:sp>
        <p:nvSpPr>
          <p:cNvPr id="9" name="Shape 6"/>
          <p:cNvSpPr/>
          <p:nvPr/>
        </p:nvSpPr>
        <p:spPr>
          <a:xfrm>
            <a:off x="4709160" y="1325880"/>
            <a:ext cx="3611880" cy="4343400"/>
          </a:xfrm>
          <a:prstGeom prst="roundRect">
            <a:avLst>
              <a:gd name="adj" fmla="val 1266"/>
            </a:avLst>
          </a:prstGeom>
          <a:solidFill>
            <a:srgbClr val="FFFFFF"/>
          </a:solidFill>
          <a:ln w="12700">
            <a:solidFill>
              <a:srgbClr val="DDDDDD"/>
            </a:solidFill>
            <a:prstDash val="solid"/>
          </a:ln>
        </p:spPr>
      </p:sp>
      <p:sp>
        <p:nvSpPr>
          <p:cNvPr id="10" name="Shape 7"/>
          <p:cNvSpPr/>
          <p:nvPr/>
        </p:nvSpPr>
        <p:spPr>
          <a:xfrm>
            <a:off x="4709160" y="1325880"/>
            <a:ext cx="64008" cy="4343400"/>
          </a:xfrm>
          <a:prstGeom prst="rect">
            <a:avLst/>
          </a:prstGeom>
          <a:solidFill>
            <a:srgbClr val="2E7D32"/>
          </a:solidFill>
          <a:ln w="12700">
            <a:solidFill>
              <a:srgbClr val="2E7D32"/>
            </a:solidFill>
            <a:prstDash val="solid"/>
          </a:ln>
        </p:spPr>
      </p:sp>
      <p:sp>
        <p:nvSpPr>
          <p:cNvPr id="11" name="Text 8"/>
          <p:cNvSpPr/>
          <p:nvPr/>
        </p:nvSpPr>
        <p:spPr>
          <a:xfrm>
            <a:off x="4873752" y="1435608"/>
            <a:ext cx="3300984" cy="228600"/>
          </a:xfrm>
          <a:prstGeom prst="rect">
            <a:avLst/>
          </a:prstGeom>
          <a:noFill/>
          <a:ln/>
        </p:spPr>
        <p:txBody>
          <a:bodyPr wrap="square" lIns="0" tIns="0" rIns="0" bIns="0" rtlCol="0" anchor="ctr">
            <a:normAutofit/>
          </a:bodyPr>
          <a:lstStyle/>
          <a:p>
            <a:pPr indent="0" marL="0">
              <a:buNone/>
            </a:pPr>
            <a:r>
              <a:rPr lang="en-US" sz="2200" b="1" dirty="0">
                <a:solidFill>
                  <a:srgbClr val="111111"/>
                </a:solidFill>
                <a:latin typeface="Arial" pitchFamily="34" charset="0"/>
                <a:ea typeface="Arial" pitchFamily="34" charset="-122"/>
                <a:cs typeface="Arial" pitchFamily="34" charset="-120"/>
              </a:rPr>
              <a:t>Hướng phát triển</a:t>
            </a:r>
            <a:endParaRPr lang="en-US" sz="2200" dirty="0"/>
          </a:p>
        </p:txBody>
      </p:sp>
      <p:sp>
        <p:nvSpPr>
          <p:cNvPr id="12" name="Text 9"/>
          <p:cNvSpPr/>
          <p:nvPr/>
        </p:nvSpPr>
        <p:spPr>
          <a:xfrm>
            <a:off x="4873752" y="1764792"/>
            <a:ext cx="3300984" cy="3813048"/>
          </a:xfrm>
          <a:prstGeom prst="rect">
            <a:avLst/>
          </a:prstGeom>
          <a:noFill/>
          <a:ln/>
        </p:spPr>
        <p:txBody>
          <a:bodyPr wrap="square" lIns="254" tIns="254" rIns="254" bIns="254" rtlCol="0" anchor="t">
            <a:normAutofit/>
          </a:bodyPr>
          <a:lstStyle/>
          <a:p>
            <a:pPr indent="0" marL="0">
              <a:buNone/>
            </a:pPr>
            <a:r>
              <a:rPr lang="en-US" sz="1800" dirty="0">
                <a:solidFill>
                  <a:srgbClr val="111111"/>
                </a:solidFill>
                <a:latin typeface="Arial" pitchFamily="34" charset="0"/>
                <a:ea typeface="Arial" pitchFamily="34" charset="-122"/>
                <a:cs typeface="Arial" pitchFamily="34" charset="-120"/>
              </a:rPr>
              <a:t>Auth + RBAC</a:t>
            </a:r>
            <a:endParaRPr lang="en-US" sz="1800" dirty="0"/>
          </a:p>
          <a:p>
            <a:pPr indent="0" marL="0">
              <a:buNone/>
            </a:pP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ACK + retry</a:t>
            </a:r>
            <a:endParaRPr lang="en-US" sz="1800" dirty="0"/>
          </a:p>
          <a:p>
            <a:pPr indent="0" marL="0">
              <a:buNone/>
            </a:pP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Tối ưu index Mongo</a:t>
            </a:r>
            <a:endParaRPr lang="en-US" sz="1800" dirty="0"/>
          </a:p>
          <a:p>
            <a:pPr indent="0" marL="0">
              <a:buNone/>
            </a:pP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Realtime push</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mnt/data/midterm_media/ppt/media/image3.png">    </p:cNvPr>
          <p:cNvPicPr>
            <a:picLocks noChangeAspect="1"/>
          </p:cNvPicPr>
          <p:nvPr/>
        </p:nvPicPr>
        <p:blipFill>
          <a:blip r:embed="rId1"/>
          <a:stretch>
            <a:fillRect/>
          </a:stretch>
        </p:blipFill>
        <p:spPr>
          <a:xfrm>
            <a:off x="0" y="0"/>
            <a:ext cx="9144000" cy="6858000"/>
          </a:xfrm>
          <a:prstGeom prst="rect">
            <a:avLst/>
          </a:prstGeom>
        </p:spPr>
      </p:pic>
      <p:sp>
        <p:nvSpPr>
          <p:cNvPr id="3" name="Text 0"/>
          <p:cNvSpPr/>
          <p:nvPr/>
        </p:nvSpPr>
        <p:spPr>
          <a:xfrm>
            <a:off x="6858000" y="6473952"/>
            <a:ext cx="2057400" cy="274320"/>
          </a:xfrm>
          <a:prstGeom prst="rect">
            <a:avLst/>
          </a:prstGeom>
          <a:noFill/>
          <a:ln/>
        </p:spPr>
        <p:txBody>
          <a:bodyPr wrap="square" lIns="0" tIns="0" rIns="0" bIns="0" rtlCol="0" anchor="ctr"/>
          <a:lstStyle/>
          <a:p>
            <a:pPr algn="r" indent="0" marL="0">
              <a:buNone/>
            </a:pPr>
            <a:r>
              <a:rPr lang="en-US" sz="1200" dirty="0">
                <a:solidFill>
                  <a:srgbClr val="111111"/>
                </a:solidFill>
                <a:latin typeface="Arial" pitchFamily="34" charset="0"/>
                <a:ea typeface="Arial" pitchFamily="34" charset="-122"/>
                <a:cs typeface="Arial" pitchFamily="34" charset="-120"/>
              </a:rPr>
              <a:t>15</a:t>
            </a:r>
            <a:endParaRPr lang="en-US" sz="1200" dirty="0"/>
          </a:p>
        </p:txBody>
      </p:sp>
      <p:sp>
        <p:nvSpPr>
          <p:cNvPr id="4" name="Text 1"/>
          <p:cNvSpPr/>
          <p:nvPr/>
        </p:nvSpPr>
        <p:spPr>
          <a:xfrm>
            <a:off x="594360" y="1261872"/>
            <a:ext cx="8046720" cy="640080"/>
          </a:xfrm>
          <a:prstGeom prst="rect">
            <a:avLst/>
          </a:prstGeom>
          <a:noFill/>
          <a:ln/>
        </p:spPr>
        <p:txBody>
          <a:bodyPr wrap="square" lIns="0" tIns="0" rIns="0" bIns="0" rtlCol="0" anchor="ctr">
            <a:normAutofit/>
          </a:bodyPr>
          <a:lstStyle/>
          <a:p>
            <a:pPr algn="ctr" indent="0" marL="0">
              <a:buNone/>
            </a:pPr>
            <a:r>
              <a:rPr lang="en-US" sz="4400" b="1" dirty="0">
                <a:solidFill>
                  <a:srgbClr val="C8102E"/>
                </a:solidFill>
                <a:latin typeface="Arial" pitchFamily="34" charset="0"/>
                <a:ea typeface="Arial" pitchFamily="34" charset="-122"/>
                <a:cs typeface="Arial" pitchFamily="34" charset="-120"/>
              </a:rPr>
              <a:t>Kết luận &amp; Q&amp;A</a:t>
            </a:r>
            <a:endParaRPr lang="en-US" sz="4400" dirty="0"/>
          </a:p>
        </p:txBody>
      </p:sp>
      <p:sp>
        <p:nvSpPr>
          <p:cNvPr id="5" name="Text 2"/>
          <p:cNvSpPr/>
          <p:nvPr/>
        </p:nvSpPr>
        <p:spPr>
          <a:xfrm>
            <a:off x="2057400" y="2542032"/>
            <a:ext cx="164592" cy="274320"/>
          </a:xfrm>
          <a:prstGeom prst="rect">
            <a:avLst/>
          </a:prstGeom>
          <a:noFill/>
          <a:ln/>
        </p:spPr>
        <p:txBody>
          <a:bodyPr wrap="square" lIns="0" tIns="0" rIns="0" bIns="0" rtlCol="0" anchor="ctr"/>
          <a:lstStyle/>
          <a:p>
            <a:pPr indent="0" marL="0">
              <a:buNone/>
            </a:pPr>
            <a:r>
              <a:rPr lang="en-US" sz="2400" b="1" dirty="0">
                <a:solidFill>
                  <a:srgbClr val="C8102E"/>
                </a:solidFill>
                <a:latin typeface="Arial" pitchFamily="34" charset="0"/>
                <a:ea typeface="Arial" pitchFamily="34" charset="-122"/>
                <a:cs typeface="Arial" pitchFamily="34" charset="-120"/>
              </a:rPr>
              <a:t>•</a:t>
            </a:r>
            <a:endParaRPr lang="en-US" sz="2400" dirty="0"/>
          </a:p>
        </p:txBody>
      </p:sp>
      <p:sp>
        <p:nvSpPr>
          <p:cNvPr id="6" name="Text 3"/>
          <p:cNvSpPr/>
          <p:nvPr/>
        </p:nvSpPr>
        <p:spPr>
          <a:xfrm>
            <a:off x="2286000" y="2560320"/>
            <a:ext cx="4983480" cy="502920"/>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Arial" pitchFamily="34" charset="0"/>
                <a:ea typeface="Arial" pitchFamily="34" charset="-122"/>
                <a:cs typeface="Arial" pitchFamily="34" charset="-120"/>
              </a:rPr>
              <a:t>Đã đạt mục tiêu đề tài</a:t>
            </a:r>
            <a:endParaRPr lang="en-US" sz="2400" dirty="0"/>
          </a:p>
        </p:txBody>
      </p:sp>
      <p:sp>
        <p:nvSpPr>
          <p:cNvPr id="7" name="Text 4"/>
          <p:cNvSpPr/>
          <p:nvPr/>
        </p:nvSpPr>
        <p:spPr>
          <a:xfrm>
            <a:off x="2057400" y="3182112"/>
            <a:ext cx="164592" cy="274320"/>
          </a:xfrm>
          <a:prstGeom prst="rect">
            <a:avLst/>
          </a:prstGeom>
          <a:noFill/>
          <a:ln/>
        </p:spPr>
        <p:txBody>
          <a:bodyPr wrap="square" lIns="0" tIns="0" rIns="0" bIns="0" rtlCol="0" anchor="ctr"/>
          <a:lstStyle/>
          <a:p>
            <a:pPr indent="0" marL="0">
              <a:buNone/>
            </a:pPr>
            <a:r>
              <a:rPr lang="en-US" sz="2400" b="1" dirty="0">
                <a:solidFill>
                  <a:srgbClr val="C8102E"/>
                </a:solidFill>
                <a:latin typeface="Arial" pitchFamily="34" charset="0"/>
                <a:ea typeface="Arial" pitchFamily="34" charset="-122"/>
                <a:cs typeface="Arial" pitchFamily="34" charset="-120"/>
              </a:rPr>
              <a:t>•</a:t>
            </a:r>
            <a:endParaRPr lang="en-US" sz="2400" dirty="0"/>
          </a:p>
        </p:txBody>
      </p:sp>
      <p:sp>
        <p:nvSpPr>
          <p:cNvPr id="8" name="Text 5"/>
          <p:cNvSpPr/>
          <p:nvPr/>
        </p:nvSpPr>
        <p:spPr>
          <a:xfrm>
            <a:off x="2286000" y="3200400"/>
            <a:ext cx="4983480" cy="502920"/>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Arial" pitchFamily="34" charset="0"/>
                <a:ea typeface="Arial" pitchFamily="34" charset="-122"/>
                <a:cs typeface="Arial" pitchFamily="34" charset="-120"/>
              </a:rPr>
              <a:t>Kiến trúc rõ, dễ mở rộng</a:t>
            </a:r>
            <a:endParaRPr lang="en-US" sz="2400" dirty="0"/>
          </a:p>
        </p:txBody>
      </p:sp>
      <p:sp>
        <p:nvSpPr>
          <p:cNvPr id="9" name="Text 6"/>
          <p:cNvSpPr/>
          <p:nvPr/>
        </p:nvSpPr>
        <p:spPr>
          <a:xfrm>
            <a:off x="2057400" y="3822192"/>
            <a:ext cx="164592" cy="274320"/>
          </a:xfrm>
          <a:prstGeom prst="rect">
            <a:avLst/>
          </a:prstGeom>
          <a:noFill/>
          <a:ln/>
        </p:spPr>
        <p:txBody>
          <a:bodyPr wrap="square" lIns="0" tIns="0" rIns="0" bIns="0" rtlCol="0" anchor="ctr"/>
          <a:lstStyle/>
          <a:p>
            <a:pPr indent="0" marL="0">
              <a:buNone/>
            </a:pPr>
            <a:r>
              <a:rPr lang="en-US" sz="2400" b="1" dirty="0">
                <a:solidFill>
                  <a:srgbClr val="C8102E"/>
                </a:solidFill>
                <a:latin typeface="Arial" pitchFamily="34" charset="0"/>
                <a:ea typeface="Arial" pitchFamily="34" charset="-122"/>
                <a:cs typeface="Arial" pitchFamily="34" charset="-120"/>
              </a:rPr>
              <a:t>•</a:t>
            </a:r>
            <a:endParaRPr lang="en-US" sz="2400" dirty="0"/>
          </a:p>
        </p:txBody>
      </p:sp>
      <p:sp>
        <p:nvSpPr>
          <p:cNvPr id="10" name="Text 7"/>
          <p:cNvSpPr/>
          <p:nvPr/>
        </p:nvSpPr>
        <p:spPr>
          <a:xfrm>
            <a:off x="2286000" y="3840480"/>
            <a:ext cx="4983480" cy="502920"/>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Arial" pitchFamily="34" charset="0"/>
                <a:ea typeface="Arial" pitchFamily="34" charset="-122"/>
                <a:cs typeface="Arial" pitchFamily="34" charset="-120"/>
              </a:rPr>
              <a:t>Mời phản biện</a:t>
            </a:r>
            <a:endParaRPr lang="en-US" sz="2400" dirty="0"/>
          </a:p>
        </p:txBody>
      </p:sp>
      <p:sp>
        <p:nvSpPr>
          <p:cNvPr id="11" name="Text 8"/>
          <p:cNvSpPr/>
          <p:nvPr/>
        </p:nvSpPr>
        <p:spPr>
          <a:xfrm>
            <a:off x="2148840" y="5166360"/>
            <a:ext cx="4846320" cy="640080"/>
          </a:xfrm>
          <a:prstGeom prst="rect">
            <a:avLst/>
          </a:prstGeom>
          <a:noFill/>
          <a:ln/>
        </p:spPr>
        <p:txBody>
          <a:bodyPr wrap="square" lIns="0" tIns="0" rIns="0" bIns="0" rtlCol="0" anchor="ctr"/>
          <a:lstStyle/>
          <a:p>
            <a:pPr algn="ctr" indent="0" marL="0">
              <a:buNone/>
            </a:pPr>
            <a:r>
              <a:rPr lang="en-US" sz="3400" b="1" dirty="0">
                <a:solidFill>
                  <a:srgbClr val="C8102E"/>
                </a:solidFill>
                <a:latin typeface="Arial" pitchFamily="34" charset="0"/>
                <a:ea typeface="Arial" pitchFamily="34" charset="-122"/>
                <a:cs typeface="Arial" pitchFamily="34" charset="-120"/>
              </a:rPr>
              <a:t>THANK YOU !</a:t>
            </a:r>
            <a:endParaRPr lang="en-US" sz="3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AirSENSE Report Demo</dc:title>
  <dc:subject>AirSENSE Report Demo restyled in midterm report layout</dc:subject>
  <dc:creator>OpenAI - ChatGPT</dc:creator>
  <cp:lastModifiedBy>OpenAI - ChatGPT</cp:lastModifiedBy>
  <cp:revision>1</cp:revision>
  <dcterms:created xsi:type="dcterms:W3CDTF">2026-05-06T00:09:36Z</dcterms:created>
  <dcterms:modified xsi:type="dcterms:W3CDTF">2026-05-06T00:09:36Z</dcterms:modified>
</cp:coreProperties>
</file>